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CDBEED9-8963-39DC-1D21-7CFDBE88B9FE}">
          <p14:sldIdLst>
            <p14:sldId id="256"/>
            <p14:sldId id="257"/>
          </p14:sldIdLst>
        </p14:section>
        <p14:section name="Presentation" id="{F5E00BFF-950A-8404-BAC6-39EC89D22EA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losing" id="{D6D610A3-25F2-72A9-6033-9B164588D0D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Ensemble vs. weaker backbone — patient-level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(proposed)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4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PR-AUC</c:v>
                </c:pt>
                <c:pt idx="2">
                  <c:v>Accuracy</c:v>
                </c:pt>
                <c:pt idx="3">
                  <c:v>Specificity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89.1</c:v>
                </c:pt>
                <c:pt idx="1">
                  <c:v>83.0</c:v>
                </c:pt>
                <c:pt idx="2">
                  <c:v>81.2</c:v>
                </c:pt>
                <c:pt idx="3">
                  <c:v>92.6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F1-4479-BCCC-B3F7228B83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ConvNeXtV2-Tiny alone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4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PR-AUC</c:v>
                </c:pt>
                <c:pt idx="2">
                  <c:v>Accuracy</c:v>
                </c:pt>
                <c:pt idx="3">
                  <c:v>Specificity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85.7</c:v>
                </c:pt>
                <c:pt idx="1">
                  <c:v>78.2</c:v>
                </c:pt>
                <c:pt idx="2">
                  <c:v>77.8</c:v>
                </c:pt>
                <c:pt idx="3">
                  <c:v>91.2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F1-4479-BCCC-B3F7228B83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C9D3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A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53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morning. I'm Sheikh Noor Abdullah, presenting on behalf of our team from BAUET. Our paper asks a simple question: how good is breast-cancer classification on Mini-DDSM when we evaluate it honestly, patient by patient?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Here's how the talk is organised: Introduction, Research Objectives, Methodology, Results, Conclusion and Future Work, then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Breast cancer is the most diagnosed cancer in women — 2.43 million new cases in GLOBOCAN 2024. But several prior papers report 0.87 to 0.99 accuracy on Mini-DDSM without disclosing whether they grouped by patient — so those numbers may not mean what they seem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three objectives: build a leakage-free, patient-grouped protocol; train and ensemble two complementary backbones under identical, untuned conditions; and report calibrated, honestly-uncertain results rather than one best-case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Methodology in four steps: audited patient identifiers resolve 9,684 images into 2,417 groups; Otsu-crop and 4-view TTA preprocessing; a fixed 50/50 ensemble of EfficientNet-B4 and ConvNeXtV2-Tiny; and patient-grouped evaluation repeated over 3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Across three seeds, the ensemble reaches ROC-AUC 0.891 plus-minus 0.008, beating both backbones and the fold-selected single-best. Zero patient groups leak across any of the nine outer splits. At the default threshold sensitivity is only 0.62; the Youden threshold raises it to 0.79.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 conclude: a patient-grouped, audited protocol is the right way to evaluate Mini-DDSM classifiers, and honest evaluation costs little accuracy while changing which claims can be trusted. Future work: extend to CBIS-DDSM and INbreast, add radiologist-reviewed annotations, and move to validated Grad-CAM localisation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core references behind the dataset, the two backbones, the explainability method, and the prior Mini-DDSM reports we compare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 — I'm happy to take questions on the patient-grouping protocol, the ensemble, the thresholds, or what we'd do differently on a second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2286000" y="502920"/>
            <a:ext cx="9235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11th IEEE Asia-Pacific Conference on Computer Science and Data Engineering (IEEE CSDE 2026)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Paper ID: XXXX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40080" y="2880360"/>
            <a:ext cx="108813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Paper Title Goes Here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Author Name(s)</a:t>
            </a:r>
            <a:endParaRPr lang="en-US" sz="22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Department, Institution, Country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Slide 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_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</a:rPr>
              <a:t>Questions &amp; Discussion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author@email.com  |  Paper ID: XXXX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erence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502920"/>
            <a:ext cx="1371600" cy="1371600"/>
          </a:xfrm>
          <a:prstGeom prst="rect">
            <a:avLst/>
          </a:prstGeom>
        </p:spPr>
      </p:pic>
      <p:sp>
        <p:nvSpPr>
          <p:cNvPr id="3" name="Paper ID chip"/>
          <p:cNvSpPr/>
          <p:nvPr/>
        </p:nvSpPr>
        <p:spPr>
          <a:xfrm>
            <a:off x="640080" y="2240280"/>
            <a:ext cx="2926080" cy="4572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Date icon" descr="Calend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61888"/>
            <a:ext cx="292608" cy="292608"/>
          </a:xfrm>
          <a:prstGeom prst="rect">
            <a:avLst/>
          </a:prstGeom>
        </p:spPr>
      </p:pic>
      <p:sp>
        <p:nvSpPr>
          <p:cNvPr id="5" name="Conference date"/>
          <p:cNvSpPr txBox="1"/>
          <p:nvPr/>
        </p:nvSpPr>
        <p:spPr>
          <a:xfrm>
            <a:off x="1051560" y="5897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1–3 November 2026</a:t>
            </a:r>
            <a:endParaRPr lang="en-US" sz="1800" dirty="0"/>
          </a:p>
        </p:txBody>
      </p:sp>
      <p:pic>
        <p:nvPicPr>
          <p:cNvPr id="6" name="Venue icon" descr="Loca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961888"/>
            <a:ext cx="292608" cy="292608"/>
          </a:xfrm>
          <a:prstGeom prst="rect">
            <a:avLst/>
          </a:prstGeom>
        </p:spPr>
      </p:pic>
      <p:sp>
        <p:nvSpPr>
          <p:cNvPr id="7" name="Conference venue"/>
          <p:cNvSpPr txBox="1"/>
          <p:nvPr/>
        </p:nvSpPr>
        <p:spPr>
          <a:xfrm>
            <a:off x="4983480" y="58978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Cox’s Bazar, Bangladesh</a:t>
            </a:r>
            <a:endParaRPr lang="en-US" sz="18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2286000" y="502920"/>
            <a:ext cx="9235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11th IEEE Asia-Pacific Conference on Computer Science and Data Engineering (IEEE CSDE 2026)</a:t>
            </a:r>
            <a:endParaRPr lang="en-US" sz="2200" dirty="0"/>
          </a:p>
        </p:txBody>
      </p:sp>
      <p:sp>
        <p:nvSpPr>
          <p:cNvPr id="9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Paper ID: 3958</a:t>
            </a:r>
            <a:endParaRPr lang="en-US" sz="1600" dirty="0"/>
          </a:p>
        </p:txBody>
      </p:sp>
      <p:sp>
        <p:nvSpPr>
          <p:cNvPr id="10" name="Text 0"/>
          <p:cNvSpPr>
            <a:spLocks noGrp="1"/>
          </p:cNvSpPr>
          <p:nvPr>
            <p:ph type="title" idx="102" hasCustomPrompt="1"/>
          </p:nvPr>
        </p:nvSpPr>
        <p:spPr>
          <a:xfrm>
            <a:off x="640080" y="2880360"/>
            <a:ext cx="1088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Multi-Backbone Ensemble Learning for Robust Breast Cancer Classification on the Mini-DDSM Mammography Dataset</a:t>
            </a:r>
            <a:endParaRPr lang="en-US" sz="34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Sheikh Noor Abdullah, Nafis Shahriar, Mehejabin Tabassum Lamia, Mysha Ibnat Mourin, Farah Ulfat Urmi, A.B.M. Kabir Hossain</a:t>
            </a:r>
            <a:endParaRPr lang="en-US" sz="22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Dept. of Information and Communication Engineering, Bangladesh Army University of Engineering &amp; Technology (BAUET), Bangladesh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Agenda / Outline</a:t>
            </a:r>
            <a:endParaRPr lang="en-US" sz="3600" dirty="0"/>
          </a:p>
        </p:txBody>
      </p:sp>
      <p:sp>
        <p:nvSpPr>
          <p:cNvPr id="5" name="Agenda card 1"/>
          <p:cNvSpPr/>
          <p:nvPr/>
        </p:nvSpPr>
        <p:spPr>
          <a:xfrm>
            <a:off x="640080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Number 01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label 01"/>
          <p:cNvSpPr txBox="1"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Agenda item 1"/>
          <p:cNvSpPr txBox="1"/>
          <p:nvPr/>
        </p:nvSpPr>
        <p:spPr>
          <a:xfrm>
            <a:off x="91440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9" name="Agenda card 2"/>
          <p:cNvSpPr/>
          <p:nvPr/>
        </p:nvSpPr>
        <p:spPr>
          <a:xfrm>
            <a:off x="4389120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Number 02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ber label 02"/>
          <p:cNvSpPr txBox="1"/>
          <p:nvPr/>
        </p:nvSpPr>
        <p:spPr>
          <a:xfrm>
            <a:off x="4663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Agenda item 2"/>
          <p:cNvSpPr txBox="1"/>
          <p:nvPr/>
        </p:nvSpPr>
        <p:spPr>
          <a:xfrm>
            <a:off x="466344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Research Objectives</a:t>
            </a:r>
            <a:endParaRPr lang="en-US" sz="2000" dirty="0"/>
          </a:p>
        </p:txBody>
      </p:sp>
      <p:sp>
        <p:nvSpPr>
          <p:cNvPr id="13" name="Agenda card 3"/>
          <p:cNvSpPr/>
          <p:nvPr/>
        </p:nvSpPr>
        <p:spPr>
          <a:xfrm>
            <a:off x="8138160" y="16459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Number 03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label 03"/>
          <p:cNvSpPr txBox="1"/>
          <p:nvPr/>
        </p:nvSpPr>
        <p:spPr>
          <a:xfrm>
            <a:off x="84124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Agenda item 3"/>
          <p:cNvSpPr txBox="1"/>
          <p:nvPr/>
        </p:nvSpPr>
        <p:spPr>
          <a:xfrm>
            <a:off x="8412480" y="2651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Methodology</a:t>
            </a:r>
            <a:endParaRPr lang="en-US" sz="2000" dirty="0"/>
          </a:p>
        </p:txBody>
      </p:sp>
      <p:sp>
        <p:nvSpPr>
          <p:cNvPr id="17" name="Agenda card 4"/>
          <p:cNvSpPr/>
          <p:nvPr/>
        </p:nvSpPr>
        <p:spPr>
          <a:xfrm>
            <a:off x="640080" y="374904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8" name="Number 04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umber label 04"/>
          <p:cNvSpPr txBox="1"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Agenda item 4"/>
          <p:cNvSpPr txBox="1"/>
          <p:nvPr/>
        </p:nvSpPr>
        <p:spPr>
          <a:xfrm>
            <a:off x="914400" y="4754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Results Analysis and Discussion</a:t>
            </a:r>
            <a:endParaRPr lang="en-US" sz="2000" dirty="0"/>
          </a:p>
        </p:txBody>
      </p:sp>
      <p:sp>
        <p:nvSpPr>
          <p:cNvPr id="21" name="Agenda card 5"/>
          <p:cNvSpPr/>
          <p:nvPr/>
        </p:nvSpPr>
        <p:spPr>
          <a:xfrm>
            <a:off x="4389120" y="374904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2" name="Number 05"/>
          <p:cNvSpPr/>
          <p:nvPr/>
        </p:nvSpPr>
        <p:spPr>
          <a:xfrm>
            <a:off x="466344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umber label 05"/>
          <p:cNvSpPr txBox="1"/>
          <p:nvPr/>
        </p:nvSpPr>
        <p:spPr>
          <a:xfrm>
            <a:off x="46634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Agenda item 5"/>
          <p:cNvSpPr txBox="1"/>
          <p:nvPr/>
        </p:nvSpPr>
        <p:spPr>
          <a:xfrm>
            <a:off x="4663440" y="4754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 and Future Work</a:t>
            </a:r>
            <a:endParaRPr lang="en-US" sz="2000" dirty="0"/>
          </a:p>
        </p:txBody>
      </p:sp>
      <p:sp>
        <p:nvSpPr>
          <p:cNvPr id="25" name="Agenda card 6"/>
          <p:cNvSpPr/>
          <p:nvPr/>
        </p:nvSpPr>
        <p:spPr>
          <a:xfrm>
            <a:off x="8138160" y="374904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6" name="Number 06"/>
          <p:cNvSpPr/>
          <p:nvPr/>
        </p:nvSpPr>
        <p:spPr>
          <a:xfrm>
            <a:off x="841248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Number label 06"/>
          <p:cNvSpPr txBox="1"/>
          <p:nvPr/>
        </p:nvSpPr>
        <p:spPr>
          <a:xfrm>
            <a:off x="841248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Agenda item 6"/>
          <p:cNvSpPr txBox="1"/>
          <p:nvPr/>
        </p:nvSpPr>
        <p:spPr>
          <a:xfrm>
            <a:off x="8412480" y="4754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References</a:t>
            </a:r>
            <a:endParaRPr lang="en-US" sz="2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2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5" name="Background circle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863090"/>
            <a:ext cx="342900" cy="342900"/>
          </a:xfrm>
          <a:prstGeom prst="rect">
            <a:avLst/>
          </a:prstGeom>
        </p:spPr>
      </p:pic>
      <p:sp>
        <p:nvSpPr>
          <p:cNvPr id="7" name="Background heading"/>
          <p:cNvSpPr txBox="1"/>
          <p:nvPr/>
        </p:nvSpPr>
        <p:spPr>
          <a:xfrm>
            <a:off x="1600200" y="16002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Background</a:t>
            </a:r>
            <a:endParaRPr lang="en-US" sz="2000" dirty="0"/>
          </a:p>
        </p:txBody>
      </p:sp>
      <p:sp>
        <p:nvSpPr>
          <p:cNvPr id="8" name="Background text"/>
          <p:cNvSpPr txBox="1"/>
          <p:nvPr/>
        </p:nvSpPr>
        <p:spPr>
          <a:xfrm>
            <a:off x="1600200" y="2057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Mammography screening drives early breast-cancer detection, and deep learning can support readers who face heavy caseloads and visually similar benign/malignant findings.</a:t>
            </a:r>
            <a:endParaRPr lang="en-US" sz="1600" dirty="0"/>
          </a:p>
        </p:txBody>
      </p:sp>
      <p:sp>
        <p:nvSpPr>
          <p:cNvPr id="9" name="Problem Statement circle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oblem State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234690"/>
            <a:ext cx="342900" cy="342900"/>
          </a:xfrm>
          <a:prstGeom prst="rect">
            <a:avLst/>
          </a:prstGeom>
        </p:spPr>
      </p:pic>
      <p:sp>
        <p:nvSpPr>
          <p:cNvPr id="11" name="Problem Statement heading"/>
          <p:cNvSpPr txBox="1"/>
          <p:nvPr/>
        </p:nvSpPr>
        <p:spPr>
          <a:xfrm>
            <a:off x="1600200" y="2971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12" name="Problem Statement text"/>
          <p:cNvSpPr txBox="1"/>
          <p:nvPr/>
        </p:nvSpPr>
        <p:spPr>
          <a:xfrm>
            <a:off x="1600200" y="3429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Published Mini-DDSM accuracies range 0.87–0.99, but none disclose whether a patient's images were kept on one side of the split — so headline numbers may reflect leakage, not model skill.</a:t>
            </a:r>
            <a:endParaRPr lang="en-US" sz="1600" dirty="0"/>
          </a:p>
        </p:txBody>
      </p:sp>
      <p:sp>
        <p:nvSpPr>
          <p:cNvPr id="13" name="Motivation and Contribution circle"/>
          <p:cNvSpPr/>
          <p:nvPr/>
        </p:nvSpPr>
        <p:spPr>
          <a:xfrm>
            <a:off x="640080" y="4434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Motivation and Contribu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606290"/>
            <a:ext cx="342900" cy="342900"/>
          </a:xfrm>
          <a:prstGeom prst="rect">
            <a:avLst/>
          </a:prstGeom>
        </p:spPr>
      </p:pic>
      <p:sp>
        <p:nvSpPr>
          <p:cNvPr id="15" name="Motivation and Contribution heading"/>
          <p:cNvSpPr txBox="1"/>
          <p:nvPr/>
        </p:nvSpPr>
        <p:spPr>
          <a:xfrm>
            <a:off x="1600200" y="4343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Motivation and Contribution</a:t>
            </a:r>
            <a:endParaRPr lang="en-US" sz="2000" dirty="0"/>
          </a:p>
        </p:txBody>
      </p:sp>
      <p:sp>
        <p:nvSpPr>
          <p:cNvPr id="16" name="Motivation and Contribution text"/>
          <p:cNvSpPr txBox="1"/>
          <p:nvPr/>
        </p:nvSpPr>
        <p:spPr>
          <a:xfrm>
            <a:off x="1600200" y="4800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We audit every patient identifier, enforce a patient-grouped split, and show a simple, untuned two-backbone ensemble still reaches strong, honestly-measured performance.</a:t>
            </a:r>
            <a:endParaRPr lang="en-US" sz="1600" dirty="0"/>
          </a:p>
        </p:txBody>
      </p:sp>
      <p:sp>
        <p:nvSpPr>
          <p:cNvPr id="17" name="Key statistic card"/>
          <p:cNvSpPr/>
          <p:nvPr/>
        </p:nvSpPr>
        <p:spPr>
          <a:xfrm>
            <a:off x="7863840" y="1600200"/>
            <a:ext cx="3657600" cy="402336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</p:spPr>
      </p:sp>
      <p:sp>
        <p:nvSpPr>
          <p:cNvPr id="18" name="Key statistic value"/>
          <p:cNvSpPr txBox="1"/>
          <p:nvPr/>
        </p:nvSpPr>
        <p:spPr>
          <a:xfrm>
            <a:off x="8183880" y="1828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2.43M</a:t>
            </a:r>
            <a:endParaRPr lang="en-US" sz="6600" dirty="0"/>
          </a:p>
        </p:txBody>
      </p:sp>
      <p:sp>
        <p:nvSpPr>
          <p:cNvPr id="19" name="Key statistic label"/>
          <p:cNvSpPr txBox="1"/>
          <p:nvPr/>
        </p:nvSpPr>
        <p:spPr>
          <a:xfrm>
            <a:off x="8183880" y="3200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women were newly diagnosed with breast cancer in 2024 — the scale that makes trustworthy screening AI worth getting right.</a:t>
            </a:r>
            <a:endParaRPr lang="en-US" sz="1800" dirty="0"/>
          </a:p>
        </p:txBody>
      </p:sp>
      <p:sp>
        <p:nvSpPr>
          <p:cNvPr id="20" name="Key statistic source"/>
          <p:cNvSpPr txBox="1"/>
          <p:nvPr/>
        </p:nvSpPr>
        <p:spPr>
          <a:xfrm>
            <a:off x="818388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Source: GLOBOCAN 2024 [1]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23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Objectives</a:t>
            </a:r>
            <a:endParaRPr lang="en-US" sz="3600" dirty="0"/>
          </a:p>
        </p:txBody>
      </p:sp>
      <p:sp>
        <p:nvSpPr>
          <p:cNvPr id="5" name="Objective 1 card"/>
          <p:cNvSpPr/>
          <p:nvPr/>
        </p:nvSpPr>
        <p:spPr>
          <a:xfrm>
            <a:off x="640080" y="16002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Objective 1 number"/>
          <p:cNvSpPr txBox="1"/>
          <p:nvPr/>
        </p:nvSpPr>
        <p:spPr>
          <a:xfrm>
            <a:off x="91440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01</a:t>
            </a:r>
            <a:endParaRPr lang="en-US" sz="4400" dirty="0"/>
          </a:p>
        </p:txBody>
      </p:sp>
      <p:sp>
        <p:nvSpPr>
          <p:cNvPr id="7" name="Objective 1 heading"/>
          <p:cNvSpPr txBox="1"/>
          <p:nvPr/>
        </p:nvSpPr>
        <p:spPr>
          <a:xfrm>
            <a:off x="91440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1</a:t>
            </a:r>
            <a:endParaRPr lang="en-US" sz="2000" dirty="0"/>
          </a:p>
        </p:txBody>
      </p:sp>
      <p:sp>
        <p:nvSpPr>
          <p:cNvPr id="8" name="Objective 1 text"/>
          <p:cNvSpPr txBox="1"/>
          <p:nvPr/>
        </p:nvSpPr>
        <p:spPr>
          <a:xfrm>
            <a:off x="914400" y="3108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Audit Mini-DDSM's patient identifiers and build a leakage-free, patient-grouped evaluation protocol.</a:t>
            </a:r>
            <a:endParaRPr lang="en-US" sz="1600" dirty="0"/>
          </a:p>
        </p:txBody>
      </p:sp>
      <p:sp>
        <p:nvSpPr>
          <p:cNvPr id="9" name="Objective 2 card"/>
          <p:cNvSpPr/>
          <p:nvPr/>
        </p:nvSpPr>
        <p:spPr>
          <a:xfrm>
            <a:off x="4389120" y="16002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Objective 2 number"/>
          <p:cNvSpPr txBox="1"/>
          <p:nvPr/>
        </p:nvSpPr>
        <p:spPr>
          <a:xfrm>
            <a:off x="466344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02</a:t>
            </a:r>
            <a:endParaRPr lang="en-US" sz="4400" dirty="0"/>
          </a:p>
        </p:txBody>
      </p:sp>
      <p:sp>
        <p:nvSpPr>
          <p:cNvPr id="11" name="Objective 2 heading"/>
          <p:cNvSpPr txBox="1"/>
          <p:nvPr/>
        </p:nvSpPr>
        <p:spPr>
          <a:xfrm>
            <a:off x="466344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2</a:t>
            </a:r>
            <a:endParaRPr lang="en-US" sz="2000" dirty="0"/>
          </a:p>
        </p:txBody>
      </p:sp>
      <p:sp>
        <p:nvSpPr>
          <p:cNvPr id="12" name="Objective 2 text"/>
          <p:cNvSpPr txBox="1"/>
          <p:nvPr/>
        </p:nvSpPr>
        <p:spPr>
          <a:xfrm>
            <a:off x="4663440" y="3108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Train and ensemble two complementary, ImageNet-pretrained backbones — EfficientNet-B4 and ConvNeXtV2-Tiny.</a:t>
            </a:r>
            <a:endParaRPr lang="en-US" sz="1600" dirty="0"/>
          </a:p>
        </p:txBody>
      </p:sp>
      <p:sp>
        <p:nvSpPr>
          <p:cNvPr id="13" name="Objective 3 card"/>
          <p:cNvSpPr/>
          <p:nvPr/>
        </p:nvSpPr>
        <p:spPr>
          <a:xfrm>
            <a:off x="8138160" y="16002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Objective 3 number"/>
          <p:cNvSpPr txBox="1"/>
          <p:nvPr/>
        </p:nvSpPr>
        <p:spPr>
          <a:xfrm>
            <a:off x="84124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03</a:t>
            </a:r>
            <a:endParaRPr lang="en-US" sz="4400" dirty="0"/>
          </a:p>
        </p:txBody>
      </p:sp>
      <p:sp>
        <p:nvSpPr>
          <p:cNvPr id="15" name="Objective 3 heading"/>
          <p:cNvSpPr txBox="1"/>
          <p:nvPr/>
        </p:nvSpPr>
        <p:spPr>
          <a:xfrm>
            <a:off x="841248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3</a:t>
            </a:r>
            <a:endParaRPr lang="en-US" sz="2000" dirty="0"/>
          </a:p>
        </p:txBody>
      </p:sp>
      <p:sp>
        <p:nvSpPr>
          <p:cNvPr id="16" name="Objective 3 text"/>
          <p:cNvSpPr txBox="1"/>
          <p:nvPr/>
        </p:nvSpPr>
        <p:spPr>
          <a:xfrm>
            <a:off x="8412480" y="3108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Report calibrated, honestly-uncertain results — repeated seeds and bootstrap confidence intervals — instead of one best-case split.</a:t>
            </a:r>
            <a:endParaRPr lang="en-US" sz="1600" dirty="0"/>
          </a:p>
        </p:txBody>
      </p:sp>
      <p:sp>
        <p:nvSpPr>
          <p:cNvPr id="17" name="Research question band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8" name="Research question label"/>
          <p:cNvSpPr txBox="1"/>
          <p:nvPr/>
        </p:nvSpPr>
        <p:spPr>
          <a:xfrm>
            <a:off x="10058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RESEARCH QUESTION</a:t>
            </a:r>
            <a:endParaRPr lang="en-US" sz="1400" dirty="0"/>
          </a:p>
        </p:txBody>
      </p:sp>
      <p:sp>
        <p:nvSpPr>
          <p:cNvPr id="19" name="Research question text"/>
          <p:cNvSpPr txBox="1"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Under an audited, patient-grouped protocol, how much of Mini-DDSM's reported accuracy survives — and does a simple fixed ensemble still outperform either backbone alone?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22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5" name="Data Collection card"/>
          <p:cNvSpPr/>
          <p:nvPr/>
        </p:nvSpPr>
        <p:spPr>
          <a:xfrm>
            <a:off x="64008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label 1"/>
          <p:cNvSpPr txBox="1"/>
          <p:nvPr/>
        </p:nvSpPr>
        <p:spPr>
          <a:xfrm>
            <a:off x="9144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Data Collection heading"/>
          <p:cNvSpPr txBox="1"/>
          <p:nvPr/>
        </p:nvSpPr>
        <p:spPr>
          <a:xfrm>
            <a:off x="9144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Collection</a:t>
            </a:r>
            <a:endParaRPr lang="en-US" sz="1800" dirty="0"/>
          </a:p>
        </p:txBody>
      </p:sp>
      <p:sp>
        <p:nvSpPr>
          <p:cNvPr id="9" name="Data Collection text"/>
          <p:cNvSpPr txBox="1"/>
          <p:nvPr/>
        </p:nvSpPr>
        <p:spPr>
          <a:xfrm>
            <a:off x="91440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9,684 Mini-DDSM mammograms (2,728 Normal · 3,360 Benign · 3,596 Cancer), resolved into 2,417 audited patient groups.</a:t>
            </a:r>
            <a:endParaRPr lang="en-US" sz="1400" dirty="0"/>
          </a:p>
        </p:txBody>
      </p:sp>
      <p:sp>
        <p:nvSpPr>
          <p:cNvPr id="10" name="Arrow 1"/>
          <p:cNvSpPr/>
          <p:nvPr/>
        </p:nvSpPr>
        <p:spPr>
          <a:xfrm>
            <a:off x="3090672" y="2743200"/>
            <a:ext cx="31089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Preprocessing card"/>
          <p:cNvSpPr/>
          <p:nvPr/>
        </p:nvSpPr>
        <p:spPr>
          <a:xfrm>
            <a:off x="347472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Number 2"/>
          <p:cNvSpPr/>
          <p:nvPr/>
        </p:nvSpPr>
        <p:spPr>
          <a:xfrm>
            <a:off x="374904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ber label 2"/>
          <p:cNvSpPr txBox="1"/>
          <p:nvPr/>
        </p:nvSpPr>
        <p:spPr>
          <a:xfrm>
            <a:off x="37490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Preprocessing heading"/>
          <p:cNvSpPr txBox="1"/>
          <p:nvPr/>
        </p:nvSpPr>
        <p:spPr>
          <a:xfrm>
            <a:off x="37490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Preprocessing</a:t>
            </a:r>
            <a:endParaRPr lang="en-US" sz="1800" dirty="0"/>
          </a:p>
        </p:txBody>
      </p:sp>
      <p:sp>
        <p:nvSpPr>
          <p:cNvPr id="15" name="Preprocessing text"/>
          <p:cNvSpPr txBox="1"/>
          <p:nvPr/>
        </p:nvSpPr>
        <p:spPr>
          <a:xfrm>
            <a:off x="374904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Otsu tissue mask, largest-contour crop, resize to 512×512, 4-view test-time augmentation (original, H-flip, V-flip, 180°).</a:t>
            </a:r>
            <a:endParaRPr lang="en-US" sz="1400" dirty="0"/>
          </a:p>
        </p:txBody>
      </p:sp>
      <p:sp>
        <p:nvSpPr>
          <p:cNvPr id="16" name="Arrow 2"/>
          <p:cNvSpPr/>
          <p:nvPr/>
        </p:nvSpPr>
        <p:spPr>
          <a:xfrm>
            <a:off x="5925312" y="2743200"/>
            <a:ext cx="31089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Proposed Approach card"/>
          <p:cNvSpPr/>
          <p:nvPr/>
        </p:nvSpPr>
        <p:spPr>
          <a:xfrm>
            <a:off x="630936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8" name="Number 3"/>
          <p:cNvSpPr/>
          <p:nvPr/>
        </p:nvSpPr>
        <p:spPr>
          <a:xfrm>
            <a:off x="658368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umber label 3"/>
          <p:cNvSpPr txBox="1"/>
          <p:nvPr/>
        </p:nvSpPr>
        <p:spPr>
          <a:xfrm>
            <a:off x="65836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Proposed Approach heading"/>
          <p:cNvSpPr txBox="1"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Proposed Approach</a:t>
            </a:r>
            <a:endParaRPr lang="en-US" sz="1800" dirty="0"/>
          </a:p>
        </p:txBody>
      </p:sp>
      <p:sp>
        <p:nvSpPr>
          <p:cNvPr id="21" name="Proposed Approach text"/>
          <p:cNvSpPr txBox="1"/>
          <p:nvPr/>
        </p:nvSpPr>
        <p:spPr>
          <a:xfrm>
            <a:off x="658368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EfficientNet-B4 + ConvNeXtV2-Tiny, ImageNet-pretrained, combined with a fixed, untuned 50/50 probability average.</a:t>
            </a:r>
            <a:endParaRPr lang="en-US" sz="1400" dirty="0"/>
          </a:p>
        </p:txBody>
      </p:sp>
      <p:sp>
        <p:nvSpPr>
          <p:cNvPr id="22" name="Arrow 3"/>
          <p:cNvSpPr/>
          <p:nvPr/>
        </p:nvSpPr>
        <p:spPr>
          <a:xfrm>
            <a:off x="8759952" y="2743200"/>
            <a:ext cx="310896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Evaluation card"/>
          <p:cNvSpPr/>
          <p:nvPr/>
        </p:nvSpPr>
        <p:spPr>
          <a:xfrm>
            <a:off x="9144000" y="160020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4" name="Number 4"/>
          <p:cNvSpPr/>
          <p:nvPr/>
        </p:nvSpPr>
        <p:spPr>
          <a:xfrm>
            <a:off x="941832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Number label 4"/>
          <p:cNvSpPr txBox="1"/>
          <p:nvPr/>
        </p:nvSpPr>
        <p:spPr>
          <a:xfrm>
            <a:off x="941832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Evaluation heading"/>
          <p:cNvSpPr txBox="1"/>
          <p:nvPr/>
        </p:nvSpPr>
        <p:spPr>
          <a:xfrm>
            <a:off x="94183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Evaluation</a:t>
            </a:r>
            <a:endParaRPr lang="en-US" sz="1800" dirty="0"/>
          </a:p>
        </p:txBody>
      </p:sp>
      <p:sp>
        <p:nvSpPr>
          <p:cNvPr id="27" name="Evaluation text"/>
          <p:cNvSpPr txBox="1"/>
          <p:nvPr/>
        </p:nvSpPr>
        <p:spPr>
          <a:xfrm>
            <a:off x="941832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Patient-grouped StratifiedGroupKFold × 3 folds, repeated over 3 seeds (42, 123, 2026); outer test untouched until the end.</a:t>
            </a:r>
            <a:endParaRPr lang="en-US" sz="1400" dirty="0"/>
          </a:p>
        </p:txBody>
      </p:sp>
      <p:sp>
        <p:nvSpPr>
          <p:cNvPr id="28" name="Setup band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Dataset and tools"/>
          <p:cNvSpPr txBox="1"/>
          <p:nvPr/>
        </p:nvSpPr>
        <p:spPr>
          <a:xfrm>
            <a:off x="100584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Dataset and Tools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Mini-DDSM · PyTorch + timm + AdamW · trained on an RTX 5070.</a:t>
            </a:r>
            <a:endParaRPr lang="en-US" sz="1600" dirty="0"/>
          </a:p>
        </p:txBody>
      </p:sp>
      <p:sp>
        <p:nvSpPr>
          <p:cNvPr id="30" name="Evaluation metrics"/>
          <p:cNvSpPr txBox="1"/>
          <p:nvPr/>
        </p:nvSpPr>
        <p:spPr>
          <a:xfrm>
            <a:off x="640080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Evaluation Metrics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ROC-AUC, PR-AUC, sensitivity/specificity, Brier score, ECE · 2,000-sample patient bootstrap CIs.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33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 Analysis and Discussion</a:t>
            </a:r>
            <a:endParaRPr lang="en-US" sz="3600" dirty="0"/>
          </a:p>
        </p:txBody>
      </p:sp>
      <p:sp>
        <p:nvSpPr>
          <p:cNvPr id="5" name="Chart card"/>
          <p:cNvSpPr/>
          <p:nvPr/>
        </p:nvSpPr>
        <p:spPr>
          <a:xfrm>
            <a:off x="640080" y="1554480"/>
            <a:ext cx="667512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822960" y="164592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Key findings heading"/>
          <p:cNvSpPr txBox="1"/>
          <p:nvPr/>
        </p:nvSpPr>
        <p:spPr>
          <a:xfrm>
            <a:off x="768096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Key Findings</a:t>
            </a:r>
            <a:endParaRPr lang="en-US" sz="2000" dirty="0"/>
          </a:p>
        </p:txBody>
      </p:sp>
      <p:sp>
        <p:nvSpPr>
          <p:cNvPr id="8" name="Key findings text"/>
          <p:cNvSpPr txBox="1"/>
          <p:nvPr/>
        </p:nvSpPr>
        <p:spPr>
          <a:xfrm>
            <a:off x="7680960" y="201168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Ensemble ROC-AUC 0.891 ± 0.008, PR-AUC 0.830 ± 0.012 across 3 seeds.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Beats both single backbones and the fold-selected single-best (0.882 / 0.857 / 0.878).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0 patient groups leak across any of the 9 outer seed–fold splits.</a:t>
            </a:r>
            <a:endParaRPr lang="en-US" sz="1600" dirty="0"/>
          </a:p>
        </p:txBody>
      </p:sp>
      <p:sp>
        <p:nvSpPr>
          <p:cNvPr id="9" name="Discussion heading"/>
          <p:cNvSpPr txBox="1"/>
          <p:nvPr/>
        </p:nvSpPr>
        <p:spPr>
          <a:xfrm>
            <a:off x="768096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Discussion</a:t>
            </a:r>
            <a:endParaRPr lang="en-US" sz="2000" dirty="0"/>
          </a:p>
        </p:txBody>
      </p:sp>
      <p:sp>
        <p:nvSpPr>
          <p:cNvPr id="10" name="Discussion text"/>
          <p:cNvSpPr txBox="1"/>
          <p:nvPr/>
        </p:nvSpPr>
        <p:spPr>
          <a:xfrm>
            <a:off x="7680960" y="4480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fixed, untuned 50/50 ensemble is enough — architecture search was not the bottleneck here.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threshold 0.5 sensitivity is only 0.619; the train-side Youden threshold lifts it to 0.788, cutting missed cancers from ~343 to ~191 per seed.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13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Conclusion and Future Work</a:t>
            </a:r>
            <a:endParaRPr lang="en-US" sz="3600" dirty="0"/>
          </a:p>
        </p:txBody>
      </p:sp>
      <p:sp>
        <p:nvSpPr>
          <p:cNvPr id="5" name="Conclusion card"/>
          <p:cNvSpPr/>
          <p:nvPr/>
        </p:nvSpPr>
        <p:spPr>
          <a:xfrm>
            <a:off x="640080" y="1600200"/>
            <a:ext cx="525780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6" name="Conclusion circle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Conclu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03120"/>
            <a:ext cx="365760" cy="365760"/>
          </a:xfrm>
          <a:prstGeom prst="rect">
            <a:avLst/>
          </a:prstGeom>
        </p:spPr>
      </p:pic>
      <p:sp>
        <p:nvSpPr>
          <p:cNvPr id="8" name="Conclusion heading"/>
          <p:cNvSpPr txBox="1"/>
          <p:nvPr/>
        </p:nvSpPr>
        <p:spPr>
          <a:xfrm>
            <a:off x="192024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9" name="Conclusion text"/>
          <p:cNvSpPr txBox="1"/>
          <p:nvPr/>
        </p:nvSpPr>
        <p:spPr>
          <a:xfrm>
            <a:off x="1005840" y="29260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patient-grouped, leakage-audited protocol is the right way to evaluate Mini-DDSM classifiers.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fixed ensemble reaches ROC-AUC 0.891 ± 0.008 — competitive, and fully reproducible from public code.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Honest evaluation costs little accuracy, but it changes which published claims can be trusted.</a:t>
            </a:r>
            <a:endParaRPr lang="en-US" sz="1800" dirty="0"/>
          </a:p>
        </p:txBody>
      </p:sp>
      <p:sp>
        <p:nvSpPr>
          <p:cNvPr id="10" name="Future work card"/>
          <p:cNvSpPr/>
          <p:nvPr/>
        </p:nvSpPr>
        <p:spPr>
          <a:xfrm>
            <a:off x="6263640" y="1600200"/>
            <a:ext cx="525780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1" name="Future work circle"/>
          <p:cNvSpPr/>
          <p:nvPr/>
        </p:nvSpPr>
        <p:spPr>
          <a:xfrm>
            <a:off x="66294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Future 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103120"/>
            <a:ext cx="365760" cy="365760"/>
          </a:xfrm>
          <a:prstGeom prst="rect">
            <a:avLst/>
          </a:prstGeom>
        </p:spPr>
      </p:pic>
      <p:sp>
        <p:nvSpPr>
          <p:cNvPr id="13" name="Future work heading"/>
          <p:cNvSpPr txBox="1"/>
          <p:nvPr/>
        </p:nvSpPr>
        <p:spPr>
          <a:xfrm>
            <a:off x="754380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Future Work</a:t>
            </a:r>
            <a:endParaRPr lang="en-US" sz="2600" dirty="0"/>
          </a:p>
        </p:txBody>
      </p:sp>
      <p:sp>
        <p:nvSpPr>
          <p:cNvPr id="14" name="Future work text"/>
          <p:cNvSpPr txBox="1"/>
          <p:nvPr/>
        </p:nvSpPr>
        <p:spPr>
          <a:xfrm>
            <a:off x="6629400" y="29260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Extend the same audited protocol to CBIS-DDSM and INbreast.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 richer metadata and radiologist-reviewed lesion annotations.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Move from qualitative Grad-CAM to a validated localisation metric.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17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text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IEEE CSDE 2026  |  1–3 November 2026  |  Cox’s Bazar, Bangladesh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5" name="References card"/>
          <p:cNvSpPr/>
          <p:nvPr/>
        </p:nvSpPr>
        <p:spPr>
          <a:xfrm>
            <a:off x="640080" y="1600200"/>
            <a:ext cx="1088136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6" name="Reference list"/>
          <p:cNvSpPr txBox="1"/>
          <p:nvPr/>
        </p:nvSpPr>
        <p:spPr>
          <a:xfrm>
            <a:off x="1005840" y="1874520"/>
            <a:ext cx="10149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[1] H. Sung et al., “Global cancer statistics 2024,” CA Cancer J. Clin., 2026.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[2] C. D. Lekamlage et al., “Mini-DDSM: Mammography age estimation,” Proc. DMIP, 2020.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[3] M. Tan and Q. V. Le, “EfficientNet: Rethinking model scaling for CNNs,” Proc. ICML, 2019.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[4] S. Woo et al., “ConvNeXt V2: Co-designing and scaling ConvNets with MAE,” Proc. CVPR, 2023.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[5] R. R. Selvaraju et al., “Grad-CAM: Visual explanations via gradient localization,” Proc. ICCV, 2017.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[6] M. Heenaye-Mamode Khan et al., “Multi-class classification of breast abnormalities,” PLOS ONE, 2021.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[7] A. Sahu, P. K. Das, and S. Meher, “High accuracy hybrid CNN classifiers for breast cancer,” Biomed. Signal Process. Control, 2023.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[8] Y. Khourdifi et al., “Early breast cancer detection based on deep learning,” BioMedInformatics, 2024.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[9] I. Loshchilov and F. Hutter, “Decoupled weight decay regularization,” Proc. ICLR, 2019.</a:t>
            </a:r>
            <a:endParaRPr lang="en-US" sz="1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[10] N. Otsu, “A threshold selection method from gray-level histograms,” IEEE Trans. SMC, 1979.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35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578518" y="114300"/>
            <a:ext cx="1508760" cy="502920"/>
            <a:chOff x="10578518" y="114300"/>
            <a:chExt cx="1508760" cy="502920"/>
          </a:xfrm>
        </p:grpSpPr>
        <p:sp>
          <p:nvSpPr>
            <p:cNvPr id="9" name="Header conference tag"/>
            <p:cNvSpPr/>
            <p:nvPr/>
          </p:nvSpPr>
          <p:spPr>
            <a:xfrm>
              <a:off x="10578518" y="114300"/>
              <a:ext cx="1508760" cy="502920"/>
            </a:xfrm>
            <a:prstGeom prst="roundRect">
              <a:avLst>
                <a:gd name="adj" fmla="val 45455"/>
              </a:avLst>
            </a:prstGeom>
            <a:solidFill>
              <a:schemeClr val="tx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chemeClr val="bg1"/>
                  </a:solidFill>
                </a:rPr>
                <a:t>                CSDE </a:t>
              </a:r>
              <a:r>
                <a:rPr lang="en-US" sz="1300" b="1" dirty="0">
                  <a:solidFill>
                    <a:schemeClr val="bg1"/>
                  </a:solidFill>
                </a:rPr>
                <a:t>2026</a:t>
              </a:r>
              <a:endParaRPr lang="en-US" sz="13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0714908" y="137160"/>
              <a:ext cx="457200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erence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502920"/>
            <a:ext cx="1371600" cy="1371600"/>
          </a:xfrm>
          <a:prstGeom prst="rect">
            <a:avLst/>
          </a:prstGeom>
        </p:spPr>
      </p:pic>
      <p:pic>
        <p:nvPicPr>
          <p:cNvPr id="3" name="Date icon" descr="Calend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61888"/>
            <a:ext cx="292608" cy="292608"/>
          </a:xfrm>
          <a:prstGeom prst="rect">
            <a:avLst/>
          </a:prstGeom>
        </p:spPr>
      </p:pic>
      <p:sp>
        <p:nvSpPr>
          <p:cNvPr id="4" name="Conference date"/>
          <p:cNvSpPr txBox="1"/>
          <p:nvPr/>
        </p:nvSpPr>
        <p:spPr>
          <a:xfrm>
            <a:off x="1051560" y="5897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1–3 November 2026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Venue icon" descr="Loca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961888"/>
            <a:ext cx="292608" cy="292608"/>
          </a:xfrm>
          <a:prstGeom prst="rect">
            <a:avLst/>
          </a:prstGeom>
        </p:spPr>
      </p:pic>
      <p:sp>
        <p:nvSpPr>
          <p:cNvPr id="6" name="Conference venue"/>
          <p:cNvSpPr txBox="1"/>
          <p:nvPr/>
        </p:nvSpPr>
        <p:spPr>
          <a:xfrm>
            <a:off x="4983480" y="58978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Cox’s Bazar, Bangladesh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Thank You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8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/>
                </a:solidFill>
              </a:rPr>
              <a:t>Questions &amp; Discussion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9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sheikhnoorabdullah02@gmail.com  ·  Paper ID: 3958  ·  github.com/NoorAbdullah02/MINI_DDSM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DE 2026">
  <a:themeElements>
    <a:clrScheme name="CSDE 2026">
      <a:dk1>
        <a:srgbClr val="1A2433"/>
      </a:dk1>
      <a:lt1>
        <a:srgbClr val="FFFFFF"/>
      </a:lt1>
      <a:dk2>
        <a:srgbClr val="0B2545"/>
      </a:dk2>
      <a:lt2>
        <a:srgbClr val="EAF0F7"/>
      </a:lt2>
      <a:accent1>
        <a:srgbClr val="F2A900"/>
      </a:accent1>
      <a:accent2>
        <a:srgbClr val="1C7293"/>
      </a:accent2>
      <a:accent3>
        <a:srgbClr val="3E7CB1"/>
      </a:accent3>
      <a:accent4>
        <a:srgbClr val="8DA9C4"/>
      </a:accent4>
      <a:accent5>
        <a:srgbClr val="D1495B"/>
      </a:accent5>
      <a:accent6>
        <a:srgbClr val="5C6B7A"/>
      </a:accent6>
      <a:hlink>
        <a:srgbClr val="1C7293"/>
      </a:hlink>
      <a:folHlink>
        <a:srgbClr val="5C6B7A"/>
      </a:folHlink>
    </a:clrScheme>
    <a:fontScheme name="CSDE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587</Words>
  <Application>Microsoft Office PowerPoint</Application>
  <PresentationFormat>Widescreen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CSDE 2026</vt:lpstr>
      <vt:lpstr>Paper Title Goes Here</vt:lpstr>
      <vt:lpstr>Agenda / Outline</vt:lpstr>
      <vt:lpstr>Introduction</vt:lpstr>
      <vt:lpstr>Research Objectives</vt:lpstr>
      <vt:lpstr>Methodology</vt:lpstr>
      <vt:lpstr>Results Analysis and Discussion</vt:lpstr>
      <vt:lpstr>Conclusion and Future Work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CSDE 2026 Presentation Template</dc:title>
  <dc:subject>PptxGenJS Presentation</dc:subject>
  <dc:creator>PptxGenJS</dc:creator>
  <cp:lastModifiedBy>Jahid Tanvir</cp:lastModifiedBy>
  <cp:revision>2</cp:revision>
  <dcterms:created xsi:type="dcterms:W3CDTF">2026-10-12T06:22:03Z</dcterms:created>
  <dcterms:modified xsi:type="dcterms:W3CDTF">2026-10-12T06:26:33Z</dcterms:modified>
</cp:coreProperties>
</file>