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New cases (millions)</c:v>
                </c:pt>
              </c:strCache>
            </c:strRef>
          </c:tx>
          <c:spPr>
            <a:solidFill>
              <a:srgbClr val="0B2545"/>
            </a:solidFill>
            <a:effectLst/>
          </c:spPr>
          <c:invertIfNegative val="0"/>
          <c:dLbls>
            <c:numFmt formatCode="0.00" sourceLinked="0"/>
            <c:txPr>
              <a:bodyPr/>
              <a:lstStyle/>
              <a:p>
                <a:pPr>
                  <a:defRPr b="0" i="0" strike="noStrike" sz="1100" u="none">
                    <a:solidFill>
                      <a:srgbClr val="1A2433"/>
                    </a:solidFill>
                    <a:latin typeface="Arial"/>
                  </a:defRPr>
                </a:pPr>
              </a:p>
            </c:txPr>
            <c:showLegendKey val="0"/>
            <c:showVal val="1"/>
            <c:showCatName val="0"/>
            <c:showSerName val="0"/>
            <c:showPercent val="0"/>
            <c:showBubbleSize val="0"/>
            <c:showLeaderLines val="0"/>
          </c:dLbls>
          <c:dPt>
            <c:idx val="0"/>
            <c:invertIfNegative val="0"/>
            <c:bubble3D val="0"/>
            <c:spPr>
              <a:solidFill>
                <a:srgbClr val="0B2545"/>
              </a:solidFill>
              <a:effectLst/>
            </c:spPr>
          </c:dPt>
          <c:dPt>
            <c:idx val="1"/>
            <c:invertIfNegative val="0"/>
            <c:bubble3D val="0"/>
            <c:spPr>
              <a:solidFill>
                <a:srgbClr val="0B2545"/>
              </a:solidFill>
              <a:effectLst/>
            </c:spPr>
          </c:dPt>
          <c:dPt>
            <c:idx val="2"/>
            <c:invertIfNegative val="0"/>
            <c:bubble3D val="0"/>
            <c:spPr>
              <a:solidFill>
                <a:srgbClr val="D1495B"/>
              </a:solidFill>
              <a:effectLst/>
            </c:spPr>
          </c:dPt>
          <c:cat>
            <c:multiLvlStrRef>
              <c:f>Sheet1!$A$2:$A$4</c:f>
              <c:multiLvlStrCache>
                <c:ptCount val="3"/>
                <c:lvl>
                  <c:pt idx="0">
                    <c:v>GLOBOCAN 2020</c:v>
                  </c:pt>
                  <c:pt idx="1">
                    <c:v>GLOBOCAN 2022</c:v>
                  </c:pt>
                  <c:pt idx="2">
                    <c:v>GLOBOCAN 2024</c:v>
                  </c:pt>
                </c:lvl>
              </c:multiLvlStrCache>
            </c:multiLvlStrRef>
          </c:cat>
          <c:val>
            <c:numRef>
              <c:f>Sheet1!$B$2:$B$4</c:f>
              <c:numCache>
                <c:formatCode>General</c:formatCode>
                <c:ptCount val="3"/>
                <c:pt idx="0">
                  <c:v>2.3</c:v>
                </c:pt>
                <c:pt idx="1">
                  <c:v>2.3</c:v>
                </c:pt>
                <c:pt idx="2">
                  <c:v>2.43</c:v>
                </c:pt>
              </c:numCache>
            </c:numRef>
          </c:val>
        </c:ser>
        <c:dLbls>
          <c:numFmt formatCode="0.00" sourceLinked="0"/>
          <c:txPr>
            <a:bodyPr/>
            <a:lstStyle/>
            <a:p>
              <a:pPr>
                <a:defRPr b="0" i="0" strike="noStrike" sz="1100" u="none">
                  <a:solidFill>
                    <a:srgbClr val="1A24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7A"/>
                </a:solidFill>
                <a:latin typeface="Arial"/>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Equal-average ensemble</c:v>
                </c:pt>
              </c:strCache>
            </c:strRef>
          </c:tx>
          <c:spPr>
            <a:solidFill>
              <a:srgbClr val="D1495B"/>
            </a:solidFill>
            <a:ln w="31750" cap="flat">
              <a:solidFill>
                <a:srgbClr val="D149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1495B"/>
              </a:solidFill>
              <a:ln w="9525" cap="flat">
                <a:solidFill>
                  <a:srgbClr val="D1495B"/>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Sheet1!$B$2:$B$14</c:f>
              <c:numCache>
                <c:formatCode>General</c:formatCode>
                <c:ptCount val="13"/>
                <c:pt idx="0">
                  <c:v>0</c:v>
                </c:pt>
                <c:pt idx="1">
                  <c:v>0.6355</c:v>
                </c:pt>
                <c:pt idx="2">
                  <c:v>0.7746</c:v>
                </c:pt>
                <c:pt idx="3">
                  <c:v>0.8647</c:v>
                </c:pt>
                <c:pt idx="4">
                  <c:v>0.9069</c:v>
                </c:pt>
                <c:pt idx="5">
                  <c:v>0.9422</c:v>
                </c:pt>
                <c:pt idx="6">
                  <c:v>0.9588</c:v>
                </c:pt>
                <c:pt idx="7">
                  <c:v>0.9763</c:v>
                </c:pt>
                <c:pt idx="8">
                  <c:v>0.9852</c:v>
                </c:pt>
                <c:pt idx="9">
                  <c:v>0.9952</c:v>
                </c:pt>
                <c:pt idx="10">
                  <c:v>0.9978</c:v>
                </c:pt>
                <c:pt idx="11">
                  <c:v>0.9993</c:v>
                </c:pt>
                <c:pt idx="12">
                  <c:v>1</c:v>
                </c:pt>
              </c:numCache>
            </c:numRef>
          </c:val>
          <c:smooth val="0"/>
        </c:ser>
        <c:ser>
          <c:idx val="1"/>
          <c:order val="1"/>
          <c:tx>
            <c:strRef>
              <c:f>Sheet1!$C$1</c:f>
              <c:strCache>
                <c:ptCount val="1"/>
                <c:pt idx="0">
                  <c:v>EfficientNet-B4</c:v>
                </c:pt>
              </c:strCache>
            </c:strRef>
          </c:tx>
          <c:spPr>
            <a:solidFill>
              <a:srgbClr val="F2A900"/>
            </a:solidFill>
            <a:ln w="31750" cap="flat">
              <a:solidFill>
                <a:srgbClr val="F2A9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A900"/>
              </a:solidFill>
              <a:ln w="9525" cap="flat">
                <a:solidFill>
                  <a:srgbClr val="F2A900"/>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Sheet1!$C$2:$C$14</c:f>
              <c:numCache>
                <c:formatCode>General</c:formatCode>
                <c:ptCount val="13"/>
                <c:pt idx="0">
                  <c:v>0</c:v>
                </c:pt>
                <c:pt idx="1">
                  <c:v>0.607</c:v>
                </c:pt>
                <c:pt idx="2">
                  <c:v>0.7557</c:v>
                </c:pt>
                <c:pt idx="3">
                  <c:v>0.8476</c:v>
                </c:pt>
                <c:pt idx="4">
                  <c:v>0.8943</c:v>
                </c:pt>
                <c:pt idx="5">
                  <c:v>0.9296</c:v>
                </c:pt>
                <c:pt idx="6">
                  <c:v>0.9514</c:v>
                </c:pt>
                <c:pt idx="7">
                  <c:v>0.9707</c:v>
                </c:pt>
                <c:pt idx="8">
                  <c:v>0.9841</c:v>
                </c:pt>
                <c:pt idx="9">
                  <c:v>0.9926</c:v>
                </c:pt>
                <c:pt idx="10">
                  <c:v>0.9952</c:v>
                </c:pt>
                <c:pt idx="11">
                  <c:v>0.9981</c:v>
                </c:pt>
                <c:pt idx="12">
                  <c:v>1</c:v>
                </c:pt>
              </c:numCache>
            </c:numRef>
          </c:val>
          <c:smooth val="0"/>
        </c:ser>
        <c:ser>
          <c:idx val="2"/>
          <c:order val="2"/>
          <c:tx>
            <c:strRef>
              <c:f>Sheet1!$D$1</c:f>
              <c:strCache>
                <c:ptCount val="1"/>
                <c:pt idx="0">
                  <c:v>ConvNeXtV2-Tiny</c:v>
                </c:pt>
              </c:strCache>
            </c:strRef>
          </c:tx>
          <c:spPr>
            <a:solidFill>
              <a:srgbClr val="3E7CB1"/>
            </a:solidFill>
            <a:ln w="31750" cap="flat">
              <a:solidFill>
                <a:srgbClr val="3E7CB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E7CB1"/>
              </a:solidFill>
              <a:ln w="9525" cap="flat">
                <a:solidFill>
                  <a:srgbClr val="3E7CB1"/>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Sheet1!$D$2:$D$14</c:f>
              <c:numCache>
                <c:formatCode>General</c:formatCode>
                <c:ptCount val="13"/>
                <c:pt idx="0">
                  <c:v>0</c:v>
                </c:pt>
                <c:pt idx="1">
                  <c:v>0.5395</c:v>
                </c:pt>
                <c:pt idx="2">
                  <c:v>0.7063</c:v>
                </c:pt>
                <c:pt idx="3">
                  <c:v>0.8061</c:v>
                </c:pt>
                <c:pt idx="4">
                  <c:v>0.8613</c:v>
                </c:pt>
                <c:pt idx="5">
                  <c:v>0.8999</c:v>
                </c:pt>
                <c:pt idx="6">
                  <c:v>0.9299</c:v>
                </c:pt>
                <c:pt idx="7">
                  <c:v>0.9559</c:v>
                </c:pt>
                <c:pt idx="8">
                  <c:v>0.977</c:v>
                </c:pt>
                <c:pt idx="9">
                  <c:v>0.9904</c:v>
                </c:pt>
                <c:pt idx="10">
                  <c:v>0.9952</c:v>
                </c:pt>
                <c:pt idx="11">
                  <c:v>1</c:v>
                </c:pt>
                <c:pt idx="1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False-positive rate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C6B7A"/>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888888"/>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True-positive rate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C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Sheikh Noor Abdullah from BAUET. Our paper asks a simple question: how good is breast-cancer classification on Mini-DDSM when we evaluate it honestly, patient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talk is organised: the problem with naive splits, how we audited the data, the method, the results, calibration and explainability, then what the study doesn't claim — and we'll close with references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 cancer is the most diagnosed cancer in women — 2.43 million new cases in GLOBOCAN 2024. Deep learning can help screening, but reported accuracy depends heavily on how the data are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catch. Mini-DDSM has several views per patient. If a patient's CC and MLO images fall on both sides of the split, the model is partly tested on someone it has already seen. Several prior papers report 0.87 to 0.99 accuracy without saying whether they grouped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before building any fold, we audited every identifier. Three raw IDs appear in both Benign and Cancer folders — we key groups by class folder plus ID. Four eight-image blocks are kept intact. Fourteen exact duplicate pairs, none crossing groups. Result: 2,417 patient groups and zero leakage on all nine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deliberately simple. Otsu crop to 512, four-view test-time augmentation, two ImageNet backbones, average to a patient score, then a fixed 50/50 ensemble — no weights tuned on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is nested. Each outer training fold is split into inner train and inner validation by patient. Checkpoints, Youden thresholds and Platt scaling come only from inner validation, then are frozen. The outer test fold is untouched until the end. We repeat everything with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three seeds, the ensemble reaches ROC-AUC 0.891 plus-minus 0.008 and PR-AUC 0.830. That beats EfficientNet-B4 at 0.882, ConvNeXtV2 at 0.857 and the fold-selected single best at 0.878.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ablation shows the fixed average wins on five of six metrics. EfficientNet alone stays more sensitive at 0.5 — so the ensemble improves discrimination but doesn't dominate every operating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isn't the whole story. At 0.5 the model is specific — 92.6% — but misses many cancers. Using the Youden threshold chosen on training-side validation raises sensitivity from 0.62 to 0.79 and cuts missed cancers from about 343 to 191 per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Platt scaling, fit only on inner validation, lowers Brier from 0.136 to 0.124 and ECE from 0.075 to 0.023. Decision-curve analysis shows positive net benefit from 0.05 to 0.80 in every seed — still internal evidence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Grad-CAM gives a qualitative look. For true positives, attention concentrates on the lesion; for false negatives it's near the lesion but too weak. We present this as a transparency aid, not validated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one dataset, three folds, eight-image identifiers kept as conservative groups, and Grad-CAM is qualitative. Next we'll apply the same protocol to CBIS-DDSM and INbreast with radiologist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core references behind the dataset, the two backbones, the explainability method, and the prior Mini-DDSM reports we compare against — the full list is in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audit first, a simple ensemble wins, thresholds matter, and we're honest about the limits. Everything — code, splits and audit files — is public. Scan the QR code to try the live demo on your own phone.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talk. I'm glad to take questions — on the patient-grouping protocol, the ensemble, the thresholds, or what we'd do differently on a second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image" Target="../media/image-12-3.jpeg"/><Relationship Id="rId4" Type="http://schemas.openxmlformats.org/officeDocument/2006/relationships/image" Target="../media/image-12-4.jpe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NoorAbdullah02/MINI_DDSM"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pic>
        <p:nvPicPr>
          <p:cNvPr id="4" name="Image 0" descr="preencoded.png">    </p:cNvPr>
          <p:cNvPicPr>
            <a:picLocks noChangeAspect="1"/>
          </p:cNvPicPr>
          <p:nvPr/>
        </p:nvPicPr>
        <p:blipFill>
          <a:blip r:embed="rId1"/>
          <a:stretch>
            <a:fillRect/>
          </a:stretch>
        </p:blipFill>
        <p:spPr>
          <a:xfrm>
            <a:off x="685800" y="457200"/>
            <a:ext cx="640080" cy="640080"/>
          </a:xfrm>
          <a:prstGeom prst="rect">
            <a:avLst/>
          </a:prstGeom>
        </p:spPr>
      </p:pic>
      <p:sp>
        <p:nvSpPr>
          <p:cNvPr id="5" name="Shape 1"/>
          <p:cNvSpPr/>
          <p:nvPr/>
        </p:nvSpPr>
        <p:spPr>
          <a:xfrm>
            <a:off x="1508760" y="594360"/>
            <a:ext cx="4846320" cy="384048"/>
          </a:xfrm>
          <a:prstGeom prst="roundRect">
            <a:avLst>
              <a:gd name="adj" fmla="val 50000"/>
            </a:avLst>
          </a:prstGeom>
          <a:solidFill>
            <a:srgbClr val="FDF1D9"/>
          </a:solidFill>
          <a:ln w="9525">
            <a:solidFill>
              <a:srgbClr val="F2A900"/>
            </a:solidFill>
            <a:prstDash val="solid"/>
          </a:ln>
        </p:spPr>
      </p:sp>
      <p:sp>
        <p:nvSpPr>
          <p:cNvPr id="6" name="Text 2"/>
          <p:cNvSpPr/>
          <p:nvPr/>
        </p:nvSpPr>
        <p:spPr>
          <a:xfrm>
            <a:off x="1645920" y="594360"/>
            <a:ext cx="4572000" cy="384048"/>
          </a:xfrm>
          <a:prstGeom prst="rect">
            <a:avLst/>
          </a:prstGeom>
          <a:noFill/>
          <a:ln/>
        </p:spPr>
        <p:txBody>
          <a:bodyPr wrap="square" rtlCol="0" anchor="ctr"/>
          <a:lstStyle/>
          <a:p>
            <a:pPr indent="0" marL="0">
              <a:buNone/>
            </a:pPr>
            <a:r>
              <a:rPr lang="en-US" sz="1100" b="1" dirty="0">
                <a:solidFill>
                  <a:srgbClr val="F2A900"/>
                </a:solidFill>
                <a:latin typeface="Calibri" pitchFamily="34" charset="0"/>
                <a:ea typeface="Calibri" pitchFamily="34" charset="-122"/>
                <a:cs typeface="Calibri" pitchFamily="34" charset="-120"/>
              </a:rPr>
              <a:t>IEEE CSDE 2026 · Paper #3958 · Cox's Bazar, Bangladesh</a:t>
            </a:r>
            <a:endParaRPr lang="en-US" sz="1100" dirty="0"/>
          </a:p>
        </p:txBody>
      </p:sp>
      <p:sp>
        <p:nvSpPr>
          <p:cNvPr id="7" name="Text 3"/>
          <p:cNvSpPr/>
          <p:nvPr/>
        </p:nvSpPr>
        <p:spPr>
          <a:xfrm>
            <a:off x="685800" y="1143000"/>
            <a:ext cx="10820095" cy="1920240"/>
          </a:xfrm>
          <a:prstGeom prst="rect">
            <a:avLst/>
          </a:prstGeom>
          <a:noFill/>
          <a:ln/>
        </p:spPr>
        <p:txBody>
          <a:bodyPr wrap="square" rtlCol="0" anchor="t"/>
          <a:lstStyle/>
          <a:p>
            <a:pPr indent="0" marL="0">
              <a:lnSpc>
                <a:spcPct val="105000"/>
              </a:lnSpc>
              <a:buNone/>
            </a:pPr>
            <a:r>
              <a:rPr lang="en-US" sz="3800" dirty="0">
                <a:solidFill>
                  <a:srgbClr val="1A2433"/>
                </a:solidFill>
                <a:latin typeface="Cambria" pitchFamily="34" charset="0"/>
                <a:ea typeface="Cambria" pitchFamily="34" charset="-122"/>
                <a:cs typeface="Cambria" pitchFamily="34" charset="-120"/>
              </a:rPr>
              <a:t>Multi-Backbone Ensemble Learning for </a:t>
            </a:r>
            <a:pPr indent="0" marL="0">
              <a:lnSpc>
                <a:spcPct val="105000"/>
              </a:lnSpc>
              <a:buNone/>
            </a:pPr>
            <a:r>
              <a:rPr lang="en-US" sz="3800" i="1" dirty="0">
                <a:solidFill>
                  <a:srgbClr val="D1495B"/>
                </a:solidFill>
                <a:latin typeface="Cambria" pitchFamily="34" charset="0"/>
                <a:ea typeface="Cambria" pitchFamily="34" charset="-122"/>
                <a:cs typeface="Cambria" pitchFamily="34" charset="-120"/>
              </a:rPr>
              <a:t>Robust</a:t>
            </a:r>
            <a:pPr indent="0" marL="0">
              <a:lnSpc>
                <a:spcPct val="105000"/>
              </a:lnSpc>
              <a:buNone/>
            </a:pPr>
            <a:r>
              <a:rPr lang="en-US" sz="3800" dirty="0">
                <a:solidFill>
                  <a:srgbClr val="1A2433"/>
                </a:solidFill>
                <a:latin typeface="Cambria" pitchFamily="34" charset="0"/>
                <a:ea typeface="Cambria" pitchFamily="34" charset="-122"/>
                <a:cs typeface="Cambria" pitchFamily="34" charset="-120"/>
              </a:rPr>
              <a:t> Breast Cancer Classification on Mini-DDSM</a:t>
            </a:r>
            <a:endParaRPr lang="en-US" sz="3800" dirty="0"/>
          </a:p>
        </p:txBody>
      </p:sp>
      <p:sp>
        <p:nvSpPr>
          <p:cNvPr id="8" name="Text 4"/>
          <p:cNvSpPr/>
          <p:nvPr/>
        </p:nvSpPr>
        <p:spPr>
          <a:xfrm>
            <a:off x="685800" y="3200400"/>
            <a:ext cx="10820095" cy="457200"/>
          </a:xfrm>
          <a:prstGeom prst="rect">
            <a:avLst/>
          </a:prstGeom>
          <a:noFill/>
          <a:ln/>
        </p:spPr>
        <p:txBody>
          <a:bodyPr wrap="square" rtlCol="0" anchor="ctr"/>
          <a:lstStyle/>
          <a:p>
            <a:pPr indent="0" marL="0">
              <a:buNone/>
            </a:pPr>
            <a:r>
              <a:rPr lang="en-US" sz="1500" dirty="0">
                <a:solidFill>
                  <a:srgbClr val="0B2545"/>
                </a:solidFill>
                <a:latin typeface="Calibri" pitchFamily="34" charset="0"/>
                <a:ea typeface="Calibri" pitchFamily="34" charset="-122"/>
                <a:cs typeface="Calibri" pitchFamily="34" charset="-120"/>
              </a:rPr>
              <a:t>Sheikh Noor Abdullah   ·   Nafis Shahriar   ·   Mehejabin Tabassum Lamia   ·   Mysha Ibnat Mourin   ·   Farah Ulfat Urmi   ·   A.B.M. Kabir Hossain</a:t>
            </a:r>
            <a:endParaRPr lang="en-US" sz="1500" dirty="0"/>
          </a:p>
        </p:txBody>
      </p:sp>
      <p:sp>
        <p:nvSpPr>
          <p:cNvPr id="9" name="Text 5"/>
          <p:cNvSpPr/>
          <p:nvPr/>
        </p:nvSpPr>
        <p:spPr>
          <a:xfrm>
            <a:off x="685800" y="3611880"/>
            <a:ext cx="10820095" cy="365760"/>
          </a:xfrm>
          <a:prstGeom prst="rect">
            <a:avLst/>
          </a:prstGeom>
          <a:noFill/>
          <a:ln/>
        </p:spPr>
        <p:txBody>
          <a:bodyPr wrap="square" rtlCol="0" anchor="ctr"/>
          <a:lstStyle/>
          <a:p>
            <a:pPr indent="0" marL="0">
              <a:buNone/>
            </a:pPr>
            <a:r>
              <a:rPr lang="en-US" sz="1200" dirty="0">
                <a:solidFill>
                  <a:srgbClr val="5C6B7A"/>
                </a:solidFill>
                <a:latin typeface="Calibri" pitchFamily="34" charset="0"/>
                <a:ea typeface="Calibri" pitchFamily="34" charset="-122"/>
                <a:cs typeface="Calibri" pitchFamily="34" charset="-120"/>
              </a:rPr>
              <a:t>Department of Information and Communication Engineering · Bangladesh Army University of Engineering &amp; Technology (BAUET)</a:t>
            </a:r>
            <a:endParaRPr lang="en-US" sz="1200" dirty="0"/>
          </a:p>
        </p:txBody>
      </p:sp>
      <p:sp>
        <p:nvSpPr>
          <p:cNvPr id="10" name="Shape 6"/>
          <p:cNvSpPr/>
          <p:nvPr/>
        </p:nvSpPr>
        <p:spPr>
          <a:xfrm>
            <a:off x="685800" y="4297680"/>
            <a:ext cx="1828800" cy="868680"/>
          </a:xfrm>
          <a:prstGeom prst="roundRect">
            <a:avLst>
              <a:gd name="adj" fmla="val 8421"/>
            </a:avLst>
          </a:prstGeom>
          <a:solidFill>
            <a:srgbClr val="FFFFFF"/>
          </a:solidFill>
          <a:ln w="9525">
            <a:solidFill>
              <a:srgbClr val="DCE6F0"/>
            </a:solidFill>
            <a:prstDash val="solid"/>
          </a:ln>
        </p:spPr>
      </p:sp>
      <p:sp>
        <p:nvSpPr>
          <p:cNvPr id="11" name="Text 7"/>
          <p:cNvSpPr/>
          <p:nvPr/>
        </p:nvSpPr>
        <p:spPr>
          <a:xfrm>
            <a:off x="822960" y="4370832"/>
            <a:ext cx="1554480" cy="457200"/>
          </a:xfrm>
          <a:prstGeom prst="rect">
            <a:avLst/>
          </a:prstGeom>
          <a:noFill/>
          <a:ln/>
        </p:spPr>
        <p:txBody>
          <a:bodyPr wrap="square" rtlCol="0" anchor="ctr"/>
          <a:lstStyle/>
          <a:p>
            <a:pPr indent="0" marL="0">
              <a:buNone/>
            </a:pPr>
            <a:r>
              <a:rPr lang="en-US" sz="2000" b="1" dirty="0">
                <a:solidFill>
                  <a:srgbClr val="1A2433"/>
                </a:solidFill>
                <a:latin typeface="Courier New" pitchFamily="34" charset="0"/>
                <a:ea typeface="Courier New" pitchFamily="34" charset="-122"/>
                <a:cs typeface="Courier New" pitchFamily="34" charset="-120"/>
              </a:rPr>
              <a:t>0.891</a:t>
            </a:r>
            <a:endParaRPr lang="en-US" sz="2000" dirty="0"/>
          </a:p>
        </p:txBody>
      </p:sp>
      <p:sp>
        <p:nvSpPr>
          <p:cNvPr id="12" name="Text 8"/>
          <p:cNvSpPr/>
          <p:nvPr/>
        </p:nvSpPr>
        <p:spPr>
          <a:xfrm>
            <a:off x="822960" y="4828032"/>
            <a:ext cx="1554480" cy="274320"/>
          </a:xfrm>
          <a:prstGeom prst="rect">
            <a:avLst/>
          </a:prstGeom>
          <a:noFill/>
          <a:ln/>
        </p:spPr>
        <p:txBody>
          <a:bodyPr wrap="square" rtlCol="0" anchor="ctr"/>
          <a:lstStyle/>
          <a:p>
            <a:pPr indent="0" marL="0">
              <a:buNone/>
            </a:pPr>
            <a:r>
              <a:rPr lang="en-US" sz="1000" dirty="0">
                <a:solidFill>
                  <a:srgbClr val="5C6B7A"/>
                </a:solidFill>
                <a:latin typeface="Calibri" pitchFamily="34" charset="0"/>
                <a:ea typeface="Calibri" pitchFamily="34" charset="-122"/>
                <a:cs typeface="Calibri" pitchFamily="34" charset="-120"/>
              </a:rPr>
              <a:t>ROC-AUC</a:t>
            </a:r>
            <a:endParaRPr lang="en-US" sz="1000" dirty="0"/>
          </a:p>
        </p:txBody>
      </p:sp>
      <p:sp>
        <p:nvSpPr>
          <p:cNvPr id="13" name="Shape 9"/>
          <p:cNvSpPr/>
          <p:nvPr/>
        </p:nvSpPr>
        <p:spPr>
          <a:xfrm>
            <a:off x="2697480" y="4297680"/>
            <a:ext cx="1828800" cy="868680"/>
          </a:xfrm>
          <a:prstGeom prst="roundRect">
            <a:avLst>
              <a:gd name="adj" fmla="val 8421"/>
            </a:avLst>
          </a:prstGeom>
          <a:solidFill>
            <a:srgbClr val="FFFFFF"/>
          </a:solidFill>
          <a:ln w="9525">
            <a:solidFill>
              <a:srgbClr val="DCE6F0"/>
            </a:solidFill>
            <a:prstDash val="solid"/>
          </a:ln>
        </p:spPr>
      </p:sp>
      <p:sp>
        <p:nvSpPr>
          <p:cNvPr id="14" name="Text 10"/>
          <p:cNvSpPr/>
          <p:nvPr/>
        </p:nvSpPr>
        <p:spPr>
          <a:xfrm>
            <a:off x="2834640" y="4370832"/>
            <a:ext cx="1554480" cy="457200"/>
          </a:xfrm>
          <a:prstGeom prst="rect">
            <a:avLst/>
          </a:prstGeom>
          <a:noFill/>
          <a:ln/>
        </p:spPr>
        <p:txBody>
          <a:bodyPr wrap="square" rtlCol="0" anchor="ctr"/>
          <a:lstStyle/>
          <a:p>
            <a:pPr indent="0" marL="0">
              <a:buNone/>
            </a:pPr>
            <a:r>
              <a:rPr lang="en-US" sz="2000" b="1" dirty="0">
                <a:solidFill>
                  <a:srgbClr val="1A2433"/>
                </a:solidFill>
                <a:latin typeface="Courier New" pitchFamily="34" charset="0"/>
                <a:ea typeface="Courier New" pitchFamily="34" charset="-122"/>
                <a:cs typeface="Courier New" pitchFamily="34" charset="-120"/>
              </a:rPr>
              <a:t>2,417</a:t>
            </a:r>
            <a:endParaRPr lang="en-US" sz="2000" dirty="0"/>
          </a:p>
        </p:txBody>
      </p:sp>
      <p:sp>
        <p:nvSpPr>
          <p:cNvPr id="15" name="Text 11"/>
          <p:cNvSpPr/>
          <p:nvPr/>
        </p:nvSpPr>
        <p:spPr>
          <a:xfrm>
            <a:off x="2834640" y="4828032"/>
            <a:ext cx="1554480" cy="274320"/>
          </a:xfrm>
          <a:prstGeom prst="rect">
            <a:avLst/>
          </a:prstGeom>
          <a:noFill/>
          <a:ln/>
        </p:spPr>
        <p:txBody>
          <a:bodyPr wrap="square" rtlCol="0" anchor="ctr"/>
          <a:lstStyle/>
          <a:p>
            <a:pPr indent="0" marL="0">
              <a:buNone/>
            </a:pPr>
            <a:r>
              <a:rPr lang="en-US" sz="1000" dirty="0">
                <a:solidFill>
                  <a:srgbClr val="5C6B7A"/>
                </a:solidFill>
                <a:latin typeface="Calibri" pitchFamily="34" charset="0"/>
                <a:ea typeface="Calibri" pitchFamily="34" charset="-122"/>
                <a:cs typeface="Calibri" pitchFamily="34" charset="-120"/>
              </a:rPr>
              <a:t>Patient groups</a:t>
            </a:r>
            <a:endParaRPr lang="en-US" sz="1000" dirty="0"/>
          </a:p>
        </p:txBody>
      </p:sp>
      <p:sp>
        <p:nvSpPr>
          <p:cNvPr id="16" name="Shape 12"/>
          <p:cNvSpPr/>
          <p:nvPr/>
        </p:nvSpPr>
        <p:spPr>
          <a:xfrm>
            <a:off x="4709160" y="4297680"/>
            <a:ext cx="1828800" cy="868680"/>
          </a:xfrm>
          <a:prstGeom prst="roundRect">
            <a:avLst>
              <a:gd name="adj" fmla="val 8421"/>
            </a:avLst>
          </a:prstGeom>
          <a:solidFill>
            <a:srgbClr val="FFFFFF"/>
          </a:solidFill>
          <a:ln w="9525">
            <a:solidFill>
              <a:srgbClr val="DCE6F0"/>
            </a:solidFill>
            <a:prstDash val="solid"/>
          </a:ln>
        </p:spPr>
      </p:sp>
      <p:sp>
        <p:nvSpPr>
          <p:cNvPr id="17" name="Text 13"/>
          <p:cNvSpPr/>
          <p:nvPr/>
        </p:nvSpPr>
        <p:spPr>
          <a:xfrm>
            <a:off x="4846320" y="4370832"/>
            <a:ext cx="1554480" cy="457200"/>
          </a:xfrm>
          <a:prstGeom prst="rect">
            <a:avLst/>
          </a:prstGeom>
          <a:noFill/>
          <a:ln/>
        </p:spPr>
        <p:txBody>
          <a:bodyPr wrap="square" rtlCol="0" anchor="ctr"/>
          <a:lstStyle/>
          <a:p>
            <a:pPr indent="0" marL="0">
              <a:buNone/>
            </a:pPr>
            <a:r>
              <a:rPr lang="en-US" sz="2000" b="1" dirty="0">
                <a:solidFill>
                  <a:srgbClr val="1A2433"/>
                </a:solidFill>
                <a:latin typeface="Courier New" pitchFamily="34" charset="0"/>
                <a:ea typeface="Courier New" pitchFamily="34" charset="-122"/>
                <a:cs typeface="Courier New" pitchFamily="34" charset="-120"/>
              </a:rPr>
              <a:t>0</a:t>
            </a:r>
            <a:endParaRPr lang="en-US" sz="2000" dirty="0"/>
          </a:p>
        </p:txBody>
      </p:sp>
      <p:sp>
        <p:nvSpPr>
          <p:cNvPr id="18" name="Text 14"/>
          <p:cNvSpPr/>
          <p:nvPr/>
        </p:nvSpPr>
        <p:spPr>
          <a:xfrm>
            <a:off x="4846320" y="4828032"/>
            <a:ext cx="1554480" cy="274320"/>
          </a:xfrm>
          <a:prstGeom prst="rect">
            <a:avLst/>
          </a:prstGeom>
          <a:noFill/>
          <a:ln/>
        </p:spPr>
        <p:txBody>
          <a:bodyPr wrap="square" rtlCol="0" anchor="ctr"/>
          <a:lstStyle/>
          <a:p>
            <a:pPr indent="0" marL="0">
              <a:buNone/>
            </a:pPr>
            <a:r>
              <a:rPr lang="en-US" sz="1000" dirty="0">
                <a:solidFill>
                  <a:srgbClr val="5C6B7A"/>
                </a:solidFill>
                <a:latin typeface="Calibri" pitchFamily="34" charset="0"/>
                <a:ea typeface="Calibri" pitchFamily="34" charset="-122"/>
                <a:cs typeface="Calibri" pitchFamily="34" charset="-120"/>
              </a:rPr>
              <a:t>Leaked groups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AGENDA</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800" dirty="0">
                <a:solidFill>
                  <a:srgbClr val="1A2433"/>
                </a:solidFill>
                <a:latin typeface="Cambria" pitchFamily="34" charset="0"/>
                <a:ea typeface="Cambria" pitchFamily="34" charset="-122"/>
                <a:cs typeface="Cambria" pitchFamily="34" charset="-120"/>
              </a:rPr>
              <a:t>What this talk covers.</a:t>
            </a:r>
            <a:endParaRPr lang="en-US" sz="2800" dirty="0"/>
          </a:p>
        </p:txBody>
      </p:sp>
      <p:sp>
        <p:nvSpPr>
          <p:cNvPr id="7" name="Shape 4"/>
          <p:cNvSpPr/>
          <p:nvPr/>
        </p:nvSpPr>
        <p:spPr>
          <a:xfrm>
            <a:off x="685800" y="2651760"/>
            <a:ext cx="3515258" cy="1554480"/>
          </a:xfrm>
          <a:prstGeom prst="roundRect">
            <a:avLst>
              <a:gd name="adj" fmla="val 5882"/>
            </a:avLst>
          </a:prstGeom>
          <a:solidFill>
            <a:srgbClr val="FFFFFF"/>
          </a:solidFill>
          <a:ln w="9525">
            <a:solidFill>
              <a:srgbClr val="DCE6F0"/>
            </a:solidFill>
            <a:prstDash val="solid"/>
          </a:ln>
        </p:spPr>
      </p:sp>
      <p:sp>
        <p:nvSpPr>
          <p:cNvPr id="8" name="Text 5"/>
          <p:cNvSpPr/>
          <p:nvPr/>
        </p:nvSpPr>
        <p:spPr>
          <a:xfrm>
            <a:off x="914400" y="2834640"/>
            <a:ext cx="914400" cy="365760"/>
          </a:xfrm>
          <a:prstGeom prst="rect">
            <a:avLst/>
          </a:prstGeom>
          <a:noFill/>
          <a:ln/>
        </p:spPr>
        <p:txBody>
          <a:bodyPr wrap="square" rtlCol="0" anchor="ctr"/>
          <a:lstStyle/>
          <a:p>
            <a:pPr indent="0" marL="0">
              <a:buNone/>
            </a:pPr>
            <a:r>
              <a:rPr lang="en-US" sz="1300" b="1" dirty="0">
                <a:solidFill>
                  <a:srgbClr val="3E7CB1"/>
                </a:solidFill>
                <a:latin typeface="Courier New" pitchFamily="34" charset="0"/>
                <a:ea typeface="Courier New" pitchFamily="34" charset="-122"/>
                <a:cs typeface="Courier New" pitchFamily="34" charset="-120"/>
              </a:rPr>
              <a:t>01</a:t>
            </a:r>
            <a:endParaRPr lang="en-US" sz="1300" dirty="0"/>
          </a:p>
        </p:txBody>
      </p:sp>
      <p:sp>
        <p:nvSpPr>
          <p:cNvPr id="9" name="Text 6"/>
          <p:cNvSpPr/>
          <p:nvPr/>
        </p:nvSpPr>
        <p:spPr>
          <a:xfrm>
            <a:off x="914400" y="3246120"/>
            <a:ext cx="3058058" cy="54864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The problem</a:t>
            </a:r>
            <a:endParaRPr lang="en-US" sz="1400" dirty="0"/>
          </a:p>
        </p:txBody>
      </p:sp>
      <p:sp>
        <p:nvSpPr>
          <p:cNvPr id="10" name="Text 7"/>
          <p:cNvSpPr/>
          <p:nvPr/>
        </p:nvSpPr>
        <p:spPr>
          <a:xfrm>
            <a:off x="914400" y="3703320"/>
            <a:ext cx="3058058" cy="45720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Why same-patient splits inflate accuracy</a:t>
            </a:r>
            <a:endParaRPr lang="en-US" sz="1050" dirty="0"/>
          </a:p>
        </p:txBody>
      </p:sp>
      <p:sp>
        <p:nvSpPr>
          <p:cNvPr id="11" name="Shape 8"/>
          <p:cNvSpPr/>
          <p:nvPr/>
        </p:nvSpPr>
        <p:spPr>
          <a:xfrm>
            <a:off x="4383938" y="2651760"/>
            <a:ext cx="3515258" cy="1554480"/>
          </a:xfrm>
          <a:prstGeom prst="roundRect">
            <a:avLst>
              <a:gd name="adj" fmla="val 5882"/>
            </a:avLst>
          </a:prstGeom>
          <a:solidFill>
            <a:srgbClr val="FFFFFF"/>
          </a:solidFill>
          <a:ln w="9525">
            <a:solidFill>
              <a:srgbClr val="DCE6F0"/>
            </a:solidFill>
            <a:prstDash val="solid"/>
          </a:ln>
        </p:spPr>
      </p:sp>
      <p:sp>
        <p:nvSpPr>
          <p:cNvPr id="12" name="Text 9"/>
          <p:cNvSpPr/>
          <p:nvPr/>
        </p:nvSpPr>
        <p:spPr>
          <a:xfrm>
            <a:off x="4612538" y="2834640"/>
            <a:ext cx="914400" cy="365760"/>
          </a:xfrm>
          <a:prstGeom prst="rect">
            <a:avLst/>
          </a:prstGeom>
          <a:noFill/>
          <a:ln/>
        </p:spPr>
        <p:txBody>
          <a:bodyPr wrap="square" rtlCol="0" anchor="ctr"/>
          <a:lstStyle/>
          <a:p>
            <a:pPr indent="0" marL="0">
              <a:buNone/>
            </a:pPr>
            <a:r>
              <a:rPr lang="en-US" sz="1300" b="1" dirty="0">
                <a:solidFill>
                  <a:srgbClr val="3E7CB1"/>
                </a:solidFill>
                <a:latin typeface="Courier New" pitchFamily="34" charset="0"/>
                <a:ea typeface="Courier New" pitchFamily="34" charset="-122"/>
                <a:cs typeface="Courier New" pitchFamily="34" charset="-120"/>
              </a:rPr>
              <a:t>02</a:t>
            </a:r>
            <a:endParaRPr lang="en-US" sz="1300" dirty="0"/>
          </a:p>
        </p:txBody>
      </p:sp>
      <p:sp>
        <p:nvSpPr>
          <p:cNvPr id="13" name="Text 10"/>
          <p:cNvSpPr/>
          <p:nvPr/>
        </p:nvSpPr>
        <p:spPr>
          <a:xfrm>
            <a:off x="4612538" y="3246120"/>
            <a:ext cx="3058058" cy="54864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Data audit &amp; method</a:t>
            </a:r>
            <a:endParaRPr lang="en-US" sz="1400" dirty="0"/>
          </a:p>
        </p:txBody>
      </p:sp>
      <p:sp>
        <p:nvSpPr>
          <p:cNvPr id="14" name="Text 11"/>
          <p:cNvSpPr/>
          <p:nvPr/>
        </p:nvSpPr>
        <p:spPr>
          <a:xfrm>
            <a:off x="4612538" y="3703320"/>
            <a:ext cx="3058058" cy="45720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Patient grouping, pipeline, protocol</a:t>
            </a:r>
            <a:endParaRPr lang="en-US" sz="1050" dirty="0"/>
          </a:p>
        </p:txBody>
      </p:sp>
      <p:sp>
        <p:nvSpPr>
          <p:cNvPr id="15" name="Shape 12"/>
          <p:cNvSpPr/>
          <p:nvPr/>
        </p:nvSpPr>
        <p:spPr>
          <a:xfrm>
            <a:off x="8082077" y="2651760"/>
            <a:ext cx="3515258" cy="1554480"/>
          </a:xfrm>
          <a:prstGeom prst="roundRect">
            <a:avLst>
              <a:gd name="adj" fmla="val 5882"/>
            </a:avLst>
          </a:prstGeom>
          <a:solidFill>
            <a:srgbClr val="FFFFFF"/>
          </a:solidFill>
          <a:ln w="9525">
            <a:solidFill>
              <a:srgbClr val="DCE6F0"/>
            </a:solidFill>
            <a:prstDash val="solid"/>
          </a:ln>
        </p:spPr>
      </p:sp>
      <p:sp>
        <p:nvSpPr>
          <p:cNvPr id="16" name="Text 13"/>
          <p:cNvSpPr/>
          <p:nvPr/>
        </p:nvSpPr>
        <p:spPr>
          <a:xfrm>
            <a:off x="8310677" y="2834640"/>
            <a:ext cx="914400" cy="365760"/>
          </a:xfrm>
          <a:prstGeom prst="rect">
            <a:avLst/>
          </a:prstGeom>
          <a:noFill/>
          <a:ln/>
        </p:spPr>
        <p:txBody>
          <a:bodyPr wrap="square" rtlCol="0" anchor="ctr"/>
          <a:lstStyle/>
          <a:p>
            <a:pPr indent="0" marL="0">
              <a:buNone/>
            </a:pPr>
            <a:r>
              <a:rPr lang="en-US" sz="1300" b="1" dirty="0">
                <a:solidFill>
                  <a:srgbClr val="3E7CB1"/>
                </a:solidFill>
                <a:latin typeface="Courier New" pitchFamily="34" charset="0"/>
                <a:ea typeface="Courier New" pitchFamily="34" charset="-122"/>
                <a:cs typeface="Courier New" pitchFamily="34" charset="-120"/>
              </a:rPr>
              <a:t>03</a:t>
            </a:r>
            <a:endParaRPr lang="en-US" sz="1300" dirty="0"/>
          </a:p>
        </p:txBody>
      </p:sp>
      <p:sp>
        <p:nvSpPr>
          <p:cNvPr id="17" name="Text 14"/>
          <p:cNvSpPr/>
          <p:nvPr/>
        </p:nvSpPr>
        <p:spPr>
          <a:xfrm>
            <a:off x="8310677" y="3246120"/>
            <a:ext cx="3058058" cy="54864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Results</a:t>
            </a:r>
            <a:endParaRPr lang="en-US" sz="1400" dirty="0"/>
          </a:p>
        </p:txBody>
      </p:sp>
      <p:sp>
        <p:nvSpPr>
          <p:cNvPr id="18" name="Text 15"/>
          <p:cNvSpPr/>
          <p:nvPr/>
        </p:nvSpPr>
        <p:spPr>
          <a:xfrm>
            <a:off x="8310677" y="3703320"/>
            <a:ext cx="3058058" cy="45720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Ensemble vs. backbones, operating points</a:t>
            </a:r>
            <a:endParaRPr lang="en-US" sz="1050" dirty="0"/>
          </a:p>
        </p:txBody>
      </p:sp>
      <p:sp>
        <p:nvSpPr>
          <p:cNvPr id="19" name="Shape 16"/>
          <p:cNvSpPr/>
          <p:nvPr/>
        </p:nvSpPr>
        <p:spPr>
          <a:xfrm>
            <a:off x="685800" y="4389120"/>
            <a:ext cx="3515258" cy="1554480"/>
          </a:xfrm>
          <a:prstGeom prst="roundRect">
            <a:avLst>
              <a:gd name="adj" fmla="val 5882"/>
            </a:avLst>
          </a:prstGeom>
          <a:solidFill>
            <a:srgbClr val="FFFFFF"/>
          </a:solidFill>
          <a:ln w="9525">
            <a:solidFill>
              <a:srgbClr val="DCE6F0"/>
            </a:solidFill>
            <a:prstDash val="solid"/>
          </a:ln>
        </p:spPr>
      </p:sp>
      <p:sp>
        <p:nvSpPr>
          <p:cNvPr id="20" name="Text 17"/>
          <p:cNvSpPr/>
          <p:nvPr/>
        </p:nvSpPr>
        <p:spPr>
          <a:xfrm>
            <a:off x="914400" y="4572000"/>
            <a:ext cx="914400" cy="365760"/>
          </a:xfrm>
          <a:prstGeom prst="rect">
            <a:avLst/>
          </a:prstGeom>
          <a:noFill/>
          <a:ln/>
        </p:spPr>
        <p:txBody>
          <a:bodyPr wrap="square" rtlCol="0" anchor="ctr"/>
          <a:lstStyle/>
          <a:p>
            <a:pPr indent="0" marL="0">
              <a:buNone/>
            </a:pPr>
            <a:r>
              <a:rPr lang="en-US" sz="1300" b="1" dirty="0">
                <a:solidFill>
                  <a:srgbClr val="3E7CB1"/>
                </a:solidFill>
                <a:latin typeface="Courier New" pitchFamily="34" charset="0"/>
                <a:ea typeface="Courier New" pitchFamily="34" charset="-122"/>
                <a:cs typeface="Courier New" pitchFamily="34" charset="-120"/>
              </a:rPr>
              <a:t>04</a:t>
            </a:r>
            <a:endParaRPr lang="en-US" sz="1300" dirty="0"/>
          </a:p>
        </p:txBody>
      </p:sp>
      <p:sp>
        <p:nvSpPr>
          <p:cNvPr id="21" name="Text 18"/>
          <p:cNvSpPr/>
          <p:nvPr/>
        </p:nvSpPr>
        <p:spPr>
          <a:xfrm>
            <a:off x="914400" y="4983480"/>
            <a:ext cx="3058058" cy="54864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Calibration &amp; Grad-CAM</a:t>
            </a:r>
            <a:endParaRPr lang="en-US" sz="1400" dirty="0"/>
          </a:p>
        </p:txBody>
      </p:sp>
      <p:sp>
        <p:nvSpPr>
          <p:cNvPr id="22" name="Text 19"/>
          <p:cNvSpPr/>
          <p:nvPr/>
        </p:nvSpPr>
        <p:spPr>
          <a:xfrm>
            <a:off x="914400" y="5440680"/>
            <a:ext cx="3058058" cy="45720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Beyond AUC, qualitative explainability</a:t>
            </a:r>
            <a:endParaRPr lang="en-US" sz="1050" dirty="0"/>
          </a:p>
        </p:txBody>
      </p:sp>
      <p:sp>
        <p:nvSpPr>
          <p:cNvPr id="23" name="Shape 20"/>
          <p:cNvSpPr/>
          <p:nvPr/>
        </p:nvSpPr>
        <p:spPr>
          <a:xfrm>
            <a:off x="4383938" y="4389120"/>
            <a:ext cx="3515258" cy="1554480"/>
          </a:xfrm>
          <a:prstGeom prst="roundRect">
            <a:avLst>
              <a:gd name="adj" fmla="val 5882"/>
            </a:avLst>
          </a:prstGeom>
          <a:solidFill>
            <a:srgbClr val="FFFFFF"/>
          </a:solidFill>
          <a:ln w="9525">
            <a:solidFill>
              <a:srgbClr val="DCE6F0"/>
            </a:solidFill>
            <a:prstDash val="solid"/>
          </a:ln>
        </p:spPr>
      </p:sp>
      <p:sp>
        <p:nvSpPr>
          <p:cNvPr id="24" name="Text 21"/>
          <p:cNvSpPr/>
          <p:nvPr/>
        </p:nvSpPr>
        <p:spPr>
          <a:xfrm>
            <a:off x="4612538" y="4572000"/>
            <a:ext cx="914400" cy="365760"/>
          </a:xfrm>
          <a:prstGeom prst="rect">
            <a:avLst/>
          </a:prstGeom>
          <a:noFill/>
          <a:ln/>
        </p:spPr>
        <p:txBody>
          <a:bodyPr wrap="square" rtlCol="0" anchor="ctr"/>
          <a:lstStyle/>
          <a:p>
            <a:pPr indent="0" marL="0">
              <a:buNone/>
            </a:pPr>
            <a:r>
              <a:rPr lang="en-US" sz="1300" b="1" dirty="0">
                <a:solidFill>
                  <a:srgbClr val="3E7CB1"/>
                </a:solidFill>
                <a:latin typeface="Courier New" pitchFamily="34" charset="0"/>
                <a:ea typeface="Courier New" pitchFamily="34" charset="-122"/>
                <a:cs typeface="Courier New" pitchFamily="34" charset="-120"/>
              </a:rPr>
              <a:t>05</a:t>
            </a:r>
            <a:endParaRPr lang="en-US" sz="1300" dirty="0"/>
          </a:p>
        </p:txBody>
      </p:sp>
      <p:sp>
        <p:nvSpPr>
          <p:cNvPr id="25" name="Text 22"/>
          <p:cNvSpPr/>
          <p:nvPr/>
        </p:nvSpPr>
        <p:spPr>
          <a:xfrm>
            <a:off x="4612538" y="4983480"/>
            <a:ext cx="3058058" cy="54864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Limitations</a:t>
            </a:r>
            <a:endParaRPr lang="en-US" sz="1400" dirty="0"/>
          </a:p>
        </p:txBody>
      </p:sp>
      <p:sp>
        <p:nvSpPr>
          <p:cNvPr id="26" name="Text 23"/>
          <p:cNvSpPr/>
          <p:nvPr/>
        </p:nvSpPr>
        <p:spPr>
          <a:xfrm>
            <a:off x="4612538" y="5440680"/>
            <a:ext cx="3058058" cy="45720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What this study does not claim</a:t>
            </a:r>
            <a:endParaRPr lang="en-US" sz="1050" dirty="0"/>
          </a:p>
        </p:txBody>
      </p:sp>
      <p:sp>
        <p:nvSpPr>
          <p:cNvPr id="27" name="Shape 24"/>
          <p:cNvSpPr/>
          <p:nvPr/>
        </p:nvSpPr>
        <p:spPr>
          <a:xfrm>
            <a:off x="8082077" y="4389120"/>
            <a:ext cx="3515258" cy="1554480"/>
          </a:xfrm>
          <a:prstGeom prst="roundRect">
            <a:avLst>
              <a:gd name="adj" fmla="val 5882"/>
            </a:avLst>
          </a:prstGeom>
          <a:solidFill>
            <a:srgbClr val="FFFFFF"/>
          </a:solidFill>
          <a:ln w="9525">
            <a:solidFill>
              <a:srgbClr val="DCE6F0"/>
            </a:solidFill>
            <a:prstDash val="solid"/>
          </a:ln>
        </p:spPr>
      </p:sp>
      <p:sp>
        <p:nvSpPr>
          <p:cNvPr id="28" name="Text 25"/>
          <p:cNvSpPr/>
          <p:nvPr/>
        </p:nvSpPr>
        <p:spPr>
          <a:xfrm>
            <a:off x="8310677" y="4572000"/>
            <a:ext cx="914400" cy="365760"/>
          </a:xfrm>
          <a:prstGeom prst="rect">
            <a:avLst/>
          </a:prstGeom>
          <a:noFill/>
          <a:ln/>
        </p:spPr>
        <p:txBody>
          <a:bodyPr wrap="square" rtlCol="0" anchor="ctr"/>
          <a:lstStyle/>
          <a:p>
            <a:pPr indent="0" marL="0">
              <a:buNone/>
            </a:pPr>
            <a:r>
              <a:rPr lang="en-US" sz="1300" b="1" dirty="0">
                <a:solidFill>
                  <a:srgbClr val="3E7CB1"/>
                </a:solidFill>
                <a:latin typeface="Courier New" pitchFamily="34" charset="0"/>
                <a:ea typeface="Courier New" pitchFamily="34" charset="-122"/>
                <a:cs typeface="Courier New" pitchFamily="34" charset="-120"/>
              </a:rPr>
              <a:t>06</a:t>
            </a:r>
            <a:endParaRPr lang="en-US" sz="1300" dirty="0"/>
          </a:p>
        </p:txBody>
      </p:sp>
      <p:sp>
        <p:nvSpPr>
          <p:cNvPr id="29" name="Text 26"/>
          <p:cNvSpPr/>
          <p:nvPr/>
        </p:nvSpPr>
        <p:spPr>
          <a:xfrm>
            <a:off x="8310677" y="4983480"/>
            <a:ext cx="3058058" cy="54864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References &amp; Q&amp;A</a:t>
            </a:r>
            <a:endParaRPr lang="en-US" sz="1400" dirty="0"/>
          </a:p>
        </p:txBody>
      </p:sp>
      <p:sp>
        <p:nvSpPr>
          <p:cNvPr id="30" name="Text 27"/>
          <p:cNvSpPr/>
          <p:nvPr/>
        </p:nvSpPr>
        <p:spPr>
          <a:xfrm>
            <a:off x="8310677" y="5440680"/>
            <a:ext cx="3058058" cy="45720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Sources, then your questions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WHY IT MATTERS</a:t>
            </a:r>
            <a:endParaRPr lang="en-US" sz="1200" dirty="0"/>
          </a:p>
        </p:txBody>
      </p:sp>
      <p:sp>
        <p:nvSpPr>
          <p:cNvPr id="6" name="Text 3"/>
          <p:cNvSpPr/>
          <p:nvPr/>
        </p:nvSpPr>
        <p:spPr>
          <a:xfrm>
            <a:off x="685800" y="960120"/>
            <a:ext cx="6949440" cy="1188720"/>
          </a:xfrm>
          <a:prstGeom prst="rect">
            <a:avLst/>
          </a:prstGeom>
          <a:noFill/>
          <a:ln/>
        </p:spPr>
        <p:txBody>
          <a:bodyPr wrap="square" rtlCol="0" anchor="t"/>
          <a:lstStyle/>
          <a:p>
            <a:pPr indent="0" marL="0">
              <a:lnSpc>
                <a:spcPct val="108000"/>
              </a:lnSpc>
              <a:buNone/>
            </a:pPr>
            <a:r>
              <a:rPr lang="en-US" sz="2700" dirty="0">
                <a:solidFill>
                  <a:srgbClr val="1A2433"/>
                </a:solidFill>
                <a:latin typeface="Cambria" pitchFamily="34" charset="0"/>
                <a:ea typeface="Cambria" pitchFamily="34" charset="-122"/>
                <a:cs typeface="Cambria" pitchFamily="34" charset="-120"/>
              </a:rPr>
              <a:t>2.43 million women were diagnosed with breast cancer in 2024.</a:t>
            </a:r>
            <a:endParaRPr lang="en-US" sz="2700" dirty="0"/>
          </a:p>
        </p:txBody>
      </p:sp>
      <p:sp>
        <p:nvSpPr>
          <p:cNvPr id="7" name="Text 4"/>
          <p:cNvSpPr/>
          <p:nvPr/>
        </p:nvSpPr>
        <p:spPr>
          <a:xfrm>
            <a:off x="685800" y="2423160"/>
            <a:ext cx="6675120" cy="1097280"/>
          </a:xfrm>
          <a:prstGeom prst="rect">
            <a:avLst/>
          </a:prstGeom>
          <a:noFill/>
          <a:ln/>
        </p:spPr>
        <p:txBody>
          <a:bodyPr wrap="square" rtlCol="0" anchor="ctr"/>
          <a:lstStyle/>
          <a:p>
            <a:pPr indent="0" marL="0">
              <a:lnSpc>
                <a:spcPct val="130000"/>
              </a:lnSpc>
              <a:buNone/>
            </a:pPr>
            <a:r>
              <a:rPr lang="en-US" sz="1400" dirty="0">
                <a:solidFill>
                  <a:srgbClr val="5C6B7A"/>
                </a:solidFill>
                <a:latin typeface="Calibri" pitchFamily="34" charset="0"/>
                <a:ea typeface="Calibri" pitchFamily="34" charset="-122"/>
                <a:cs typeface="Calibri" pitchFamily="34" charset="-120"/>
              </a:rPr>
              <a:t>Benign and malignant findings look alike and readers are overloaded. AI can help — if its accuracy is real.</a:t>
            </a:r>
            <a:endParaRPr lang="en-US" sz="1400" dirty="0"/>
          </a:p>
        </p:txBody>
      </p:sp>
      <p:graphicFrame>
        <p:nvGraphicFramePr>
          <p:cNvPr id="8" name="Chart 0" descr=""/>
          <p:cNvGraphicFramePr/>
          <p:nvPr/>
        </p:nvGraphicFramePr>
        <p:xfrm>
          <a:off x="7772400" y="1005840"/>
          <a:ext cx="3749040" cy="39319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THE PROBLEM</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A2433"/>
                </a:solidFill>
                <a:latin typeface="Cambria" pitchFamily="34" charset="0"/>
                <a:ea typeface="Cambria" pitchFamily="34" charset="-122"/>
                <a:cs typeface="Cambria" pitchFamily="34" charset="-120"/>
              </a:rPr>
              <a:t>Same patient on both sides of the split → inflated scores.</a:t>
            </a:r>
            <a:endParaRPr lang="en-US" sz="2600" dirty="0"/>
          </a:p>
        </p:txBody>
      </p:sp>
      <p:sp>
        <p:nvSpPr>
          <p:cNvPr id="7" name="Shape 4"/>
          <p:cNvSpPr/>
          <p:nvPr/>
        </p:nvSpPr>
        <p:spPr>
          <a:xfrm>
            <a:off x="685800" y="2468880"/>
            <a:ext cx="5272888" cy="3017520"/>
          </a:xfrm>
          <a:prstGeom prst="roundRect">
            <a:avLst>
              <a:gd name="adj" fmla="val 3030"/>
            </a:avLst>
          </a:prstGeom>
          <a:solidFill>
            <a:srgbClr val="FBE8EA"/>
          </a:solidFill>
          <a:ln w="9525">
            <a:solidFill>
              <a:srgbClr val="D1495B"/>
            </a:solidFill>
            <a:prstDash val="solid"/>
          </a:ln>
        </p:spPr>
      </p:sp>
      <p:sp>
        <p:nvSpPr>
          <p:cNvPr id="8" name="Text 5"/>
          <p:cNvSpPr/>
          <p:nvPr/>
        </p:nvSpPr>
        <p:spPr>
          <a:xfrm>
            <a:off x="960120" y="2651760"/>
            <a:ext cx="4724248" cy="365760"/>
          </a:xfrm>
          <a:prstGeom prst="rect">
            <a:avLst/>
          </a:prstGeom>
          <a:noFill/>
          <a:ln/>
        </p:spPr>
        <p:txBody>
          <a:bodyPr wrap="square" rtlCol="0" anchor="ctr"/>
          <a:lstStyle/>
          <a:p>
            <a:pPr indent="0" marL="0">
              <a:buNone/>
            </a:pPr>
            <a:r>
              <a:rPr lang="en-US" sz="1400" b="1" dirty="0">
                <a:solidFill>
                  <a:srgbClr val="A83349"/>
                </a:solidFill>
                <a:latin typeface="Calibri" pitchFamily="34" charset="0"/>
                <a:ea typeface="Calibri" pitchFamily="34" charset="-122"/>
                <a:cs typeface="Calibri" pitchFamily="34" charset="-120"/>
              </a:rPr>
              <a:t>Image-level split  ⚠</a:t>
            </a:r>
            <a:endParaRPr lang="en-US" sz="1400" dirty="0"/>
          </a:p>
        </p:txBody>
      </p:sp>
      <p:sp>
        <p:nvSpPr>
          <p:cNvPr id="9" name="Text 6"/>
          <p:cNvSpPr/>
          <p:nvPr/>
        </p:nvSpPr>
        <p:spPr>
          <a:xfrm>
            <a:off x="960120" y="3063240"/>
            <a:ext cx="1828800" cy="228600"/>
          </a:xfrm>
          <a:prstGeom prst="rect">
            <a:avLst/>
          </a:prstGeom>
          <a:noFill/>
          <a:ln/>
        </p:spPr>
        <p:txBody>
          <a:bodyPr wrap="square" rtlCol="0" anchor="ctr"/>
          <a:lstStyle/>
          <a:p>
            <a:pPr indent="0" marL="0">
              <a:buNone/>
            </a:pPr>
            <a:r>
              <a:rPr lang="en-US" sz="900" b="1" spc="100" kern="0" dirty="0">
                <a:solidFill>
                  <a:srgbClr val="5C6B7A"/>
                </a:solidFill>
                <a:latin typeface="Calibri" pitchFamily="34" charset="0"/>
                <a:ea typeface="Calibri" pitchFamily="34" charset="-122"/>
                <a:cs typeface="Calibri" pitchFamily="34" charset="-120"/>
              </a:rPr>
              <a:t>Train</a:t>
            </a:r>
            <a:endParaRPr lang="en-US" sz="900" dirty="0"/>
          </a:p>
        </p:txBody>
      </p:sp>
      <p:sp>
        <p:nvSpPr>
          <p:cNvPr id="10" name="Shape 7"/>
          <p:cNvSpPr/>
          <p:nvPr/>
        </p:nvSpPr>
        <p:spPr>
          <a:xfrm>
            <a:off x="960120" y="3337560"/>
            <a:ext cx="329184" cy="329184"/>
          </a:xfrm>
          <a:prstGeom prst="roundRect">
            <a:avLst>
              <a:gd name="adj" fmla="val 16667"/>
            </a:avLst>
          </a:prstGeom>
          <a:solidFill>
            <a:srgbClr val="D1495B"/>
          </a:solidFill>
          <a:ln/>
        </p:spPr>
      </p:sp>
      <p:sp>
        <p:nvSpPr>
          <p:cNvPr id="11" name="Text 8"/>
          <p:cNvSpPr/>
          <p:nvPr/>
        </p:nvSpPr>
        <p:spPr>
          <a:xfrm>
            <a:off x="960120"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12" name="Shape 9"/>
          <p:cNvSpPr/>
          <p:nvPr/>
        </p:nvSpPr>
        <p:spPr>
          <a:xfrm>
            <a:off x="1344168" y="3337560"/>
            <a:ext cx="329184" cy="329184"/>
          </a:xfrm>
          <a:prstGeom prst="roundRect">
            <a:avLst>
              <a:gd name="adj" fmla="val 16667"/>
            </a:avLst>
          </a:prstGeom>
          <a:solidFill>
            <a:srgbClr val="3E7CB1"/>
          </a:solidFill>
          <a:ln/>
        </p:spPr>
      </p:sp>
      <p:sp>
        <p:nvSpPr>
          <p:cNvPr id="13" name="Text 10"/>
          <p:cNvSpPr/>
          <p:nvPr/>
        </p:nvSpPr>
        <p:spPr>
          <a:xfrm>
            <a:off x="134416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14" name="Shape 11"/>
          <p:cNvSpPr/>
          <p:nvPr/>
        </p:nvSpPr>
        <p:spPr>
          <a:xfrm>
            <a:off x="1728216" y="3337560"/>
            <a:ext cx="329184" cy="329184"/>
          </a:xfrm>
          <a:prstGeom prst="roundRect">
            <a:avLst>
              <a:gd name="adj" fmla="val 16667"/>
            </a:avLst>
          </a:prstGeom>
          <a:solidFill>
            <a:srgbClr val="D1495B"/>
          </a:solidFill>
          <a:ln/>
        </p:spPr>
      </p:sp>
      <p:sp>
        <p:nvSpPr>
          <p:cNvPr id="15" name="Text 12"/>
          <p:cNvSpPr/>
          <p:nvPr/>
        </p:nvSpPr>
        <p:spPr>
          <a:xfrm>
            <a:off x="1728216"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16" name="Shape 13"/>
          <p:cNvSpPr/>
          <p:nvPr/>
        </p:nvSpPr>
        <p:spPr>
          <a:xfrm>
            <a:off x="2112264" y="3337560"/>
            <a:ext cx="329184" cy="329184"/>
          </a:xfrm>
          <a:prstGeom prst="roundRect">
            <a:avLst>
              <a:gd name="adj" fmla="val 16667"/>
            </a:avLst>
          </a:prstGeom>
          <a:solidFill>
            <a:srgbClr val="1C7293"/>
          </a:solidFill>
          <a:ln/>
        </p:spPr>
      </p:sp>
      <p:sp>
        <p:nvSpPr>
          <p:cNvPr id="17" name="Text 14"/>
          <p:cNvSpPr/>
          <p:nvPr/>
        </p:nvSpPr>
        <p:spPr>
          <a:xfrm>
            <a:off x="211226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18" name="Shape 15"/>
          <p:cNvSpPr/>
          <p:nvPr/>
        </p:nvSpPr>
        <p:spPr>
          <a:xfrm>
            <a:off x="960120" y="3721608"/>
            <a:ext cx="329184" cy="329184"/>
          </a:xfrm>
          <a:prstGeom prst="roundRect">
            <a:avLst>
              <a:gd name="adj" fmla="val 16667"/>
            </a:avLst>
          </a:prstGeom>
          <a:solidFill>
            <a:srgbClr val="3E7CB1"/>
          </a:solidFill>
          <a:ln/>
        </p:spPr>
      </p:sp>
      <p:sp>
        <p:nvSpPr>
          <p:cNvPr id="19" name="Text 16"/>
          <p:cNvSpPr/>
          <p:nvPr/>
        </p:nvSpPr>
        <p:spPr>
          <a:xfrm>
            <a:off x="960120"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20" name="Shape 17"/>
          <p:cNvSpPr/>
          <p:nvPr/>
        </p:nvSpPr>
        <p:spPr>
          <a:xfrm>
            <a:off x="1344168" y="3721608"/>
            <a:ext cx="329184" cy="329184"/>
          </a:xfrm>
          <a:prstGeom prst="roundRect">
            <a:avLst>
              <a:gd name="adj" fmla="val 16667"/>
            </a:avLst>
          </a:prstGeom>
          <a:solidFill>
            <a:srgbClr val="F2A900"/>
          </a:solidFill>
          <a:ln/>
        </p:spPr>
      </p:sp>
      <p:sp>
        <p:nvSpPr>
          <p:cNvPr id="21" name="Text 18"/>
          <p:cNvSpPr/>
          <p:nvPr/>
        </p:nvSpPr>
        <p:spPr>
          <a:xfrm>
            <a:off x="134416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22" name="Shape 19"/>
          <p:cNvSpPr/>
          <p:nvPr/>
        </p:nvSpPr>
        <p:spPr>
          <a:xfrm>
            <a:off x="1728216" y="3721608"/>
            <a:ext cx="329184" cy="329184"/>
          </a:xfrm>
          <a:prstGeom prst="roundRect">
            <a:avLst>
              <a:gd name="adj" fmla="val 16667"/>
            </a:avLst>
          </a:prstGeom>
          <a:solidFill>
            <a:srgbClr val="D1495B"/>
          </a:solidFill>
          <a:ln/>
        </p:spPr>
      </p:sp>
      <p:sp>
        <p:nvSpPr>
          <p:cNvPr id="23" name="Text 20"/>
          <p:cNvSpPr/>
          <p:nvPr/>
        </p:nvSpPr>
        <p:spPr>
          <a:xfrm>
            <a:off x="1728216"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24" name="Shape 21"/>
          <p:cNvSpPr/>
          <p:nvPr/>
        </p:nvSpPr>
        <p:spPr>
          <a:xfrm>
            <a:off x="2112264" y="3721608"/>
            <a:ext cx="329184" cy="329184"/>
          </a:xfrm>
          <a:prstGeom prst="roundRect">
            <a:avLst>
              <a:gd name="adj" fmla="val 16667"/>
            </a:avLst>
          </a:prstGeom>
          <a:solidFill>
            <a:srgbClr val="1C7293"/>
          </a:solidFill>
          <a:ln/>
        </p:spPr>
      </p:sp>
      <p:sp>
        <p:nvSpPr>
          <p:cNvPr id="25" name="Text 22"/>
          <p:cNvSpPr/>
          <p:nvPr/>
        </p:nvSpPr>
        <p:spPr>
          <a:xfrm>
            <a:off x="211226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26" name="Text 23"/>
          <p:cNvSpPr/>
          <p:nvPr/>
        </p:nvSpPr>
        <p:spPr>
          <a:xfrm>
            <a:off x="3505124" y="3063240"/>
            <a:ext cx="1828800" cy="228600"/>
          </a:xfrm>
          <a:prstGeom prst="rect">
            <a:avLst/>
          </a:prstGeom>
          <a:noFill/>
          <a:ln/>
        </p:spPr>
        <p:txBody>
          <a:bodyPr wrap="square" rtlCol="0" anchor="ctr"/>
          <a:lstStyle/>
          <a:p>
            <a:pPr indent="0" marL="0">
              <a:buNone/>
            </a:pPr>
            <a:r>
              <a:rPr lang="en-US" sz="900" b="1" spc="100" kern="0" dirty="0">
                <a:solidFill>
                  <a:srgbClr val="5C6B7A"/>
                </a:solidFill>
                <a:latin typeface="Calibri" pitchFamily="34" charset="0"/>
                <a:ea typeface="Calibri" pitchFamily="34" charset="-122"/>
                <a:cs typeface="Calibri" pitchFamily="34" charset="-120"/>
              </a:rPr>
              <a:t>Test</a:t>
            </a:r>
            <a:endParaRPr lang="en-US" sz="900" dirty="0"/>
          </a:p>
        </p:txBody>
      </p:sp>
      <p:sp>
        <p:nvSpPr>
          <p:cNvPr id="27" name="Shape 24"/>
          <p:cNvSpPr/>
          <p:nvPr/>
        </p:nvSpPr>
        <p:spPr>
          <a:xfrm>
            <a:off x="3505124" y="3337560"/>
            <a:ext cx="329184" cy="329184"/>
          </a:xfrm>
          <a:prstGeom prst="roundRect">
            <a:avLst>
              <a:gd name="adj" fmla="val 16667"/>
            </a:avLst>
          </a:prstGeom>
          <a:solidFill>
            <a:srgbClr val="1C7293"/>
          </a:solidFill>
          <a:ln/>
        </p:spPr>
      </p:sp>
      <p:sp>
        <p:nvSpPr>
          <p:cNvPr id="28" name="Text 25"/>
          <p:cNvSpPr/>
          <p:nvPr/>
        </p:nvSpPr>
        <p:spPr>
          <a:xfrm>
            <a:off x="350512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29" name="Shape 26"/>
          <p:cNvSpPr/>
          <p:nvPr/>
        </p:nvSpPr>
        <p:spPr>
          <a:xfrm>
            <a:off x="3889172" y="3337560"/>
            <a:ext cx="329184" cy="329184"/>
          </a:xfrm>
          <a:prstGeom prst="roundRect">
            <a:avLst>
              <a:gd name="adj" fmla="val 16667"/>
            </a:avLst>
          </a:prstGeom>
          <a:solidFill>
            <a:srgbClr val="D1495B"/>
          </a:solidFill>
          <a:ln/>
        </p:spPr>
      </p:sp>
      <p:sp>
        <p:nvSpPr>
          <p:cNvPr id="30" name="Text 27"/>
          <p:cNvSpPr/>
          <p:nvPr/>
        </p:nvSpPr>
        <p:spPr>
          <a:xfrm>
            <a:off x="3889172"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1" name="Shape 28"/>
          <p:cNvSpPr/>
          <p:nvPr/>
        </p:nvSpPr>
        <p:spPr>
          <a:xfrm>
            <a:off x="4273220" y="3337560"/>
            <a:ext cx="329184" cy="329184"/>
          </a:xfrm>
          <a:prstGeom prst="roundRect">
            <a:avLst>
              <a:gd name="adj" fmla="val 16667"/>
            </a:avLst>
          </a:prstGeom>
          <a:solidFill>
            <a:srgbClr val="3E7CB1"/>
          </a:solidFill>
          <a:ln/>
        </p:spPr>
      </p:sp>
      <p:sp>
        <p:nvSpPr>
          <p:cNvPr id="32" name="Text 29"/>
          <p:cNvSpPr/>
          <p:nvPr/>
        </p:nvSpPr>
        <p:spPr>
          <a:xfrm>
            <a:off x="4273220"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33" name="Shape 30"/>
          <p:cNvSpPr/>
          <p:nvPr/>
        </p:nvSpPr>
        <p:spPr>
          <a:xfrm>
            <a:off x="4657268" y="3337560"/>
            <a:ext cx="329184" cy="329184"/>
          </a:xfrm>
          <a:prstGeom prst="roundRect">
            <a:avLst>
              <a:gd name="adj" fmla="val 16667"/>
            </a:avLst>
          </a:prstGeom>
          <a:solidFill>
            <a:srgbClr val="D1495B"/>
          </a:solidFill>
          <a:ln/>
        </p:spPr>
      </p:sp>
      <p:sp>
        <p:nvSpPr>
          <p:cNvPr id="34" name="Text 31"/>
          <p:cNvSpPr/>
          <p:nvPr/>
        </p:nvSpPr>
        <p:spPr>
          <a:xfrm>
            <a:off x="465726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5" name="Shape 32"/>
          <p:cNvSpPr/>
          <p:nvPr/>
        </p:nvSpPr>
        <p:spPr>
          <a:xfrm>
            <a:off x="3505124" y="3721608"/>
            <a:ext cx="329184" cy="329184"/>
          </a:xfrm>
          <a:prstGeom prst="roundRect">
            <a:avLst>
              <a:gd name="adj" fmla="val 16667"/>
            </a:avLst>
          </a:prstGeom>
          <a:solidFill>
            <a:srgbClr val="D1495B"/>
          </a:solidFill>
          <a:ln/>
        </p:spPr>
      </p:sp>
      <p:sp>
        <p:nvSpPr>
          <p:cNvPr id="36" name="Text 33"/>
          <p:cNvSpPr/>
          <p:nvPr/>
        </p:nvSpPr>
        <p:spPr>
          <a:xfrm>
            <a:off x="350512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7" name="Shape 34"/>
          <p:cNvSpPr/>
          <p:nvPr/>
        </p:nvSpPr>
        <p:spPr>
          <a:xfrm>
            <a:off x="3889172" y="3721608"/>
            <a:ext cx="329184" cy="329184"/>
          </a:xfrm>
          <a:prstGeom prst="roundRect">
            <a:avLst>
              <a:gd name="adj" fmla="val 16667"/>
            </a:avLst>
          </a:prstGeom>
          <a:solidFill>
            <a:srgbClr val="3E7CB1"/>
          </a:solidFill>
          <a:ln/>
        </p:spPr>
      </p:sp>
      <p:sp>
        <p:nvSpPr>
          <p:cNvPr id="38" name="Text 35"/>
          <p:cNvSpPr/>
          <p:nvPr/>
        </p:nvSpPr>
        <p:spPr>
          <a:xfrm>
            <a:off x="3889172"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39" name="Shape 36"/>
          <p:cNvSpPr/>
          <p:nvPr/>
        </p:nvSpPr>
        <p:spPr>
          <a:xfrm>
            <a:off x="4273220" y="3721608"/>
            <a:ext cx="329184" cy="329184"/>
          </a:xfrm>
          <a:prstGeom prst="roundRect">
            <a:avLst>
              <a:gd name="adj" fmla="val 16667"/>
            </a:avLst>
          </a:prstGeom>
          <a:solidFill>
            <a:srgbClr val="1C7293"/>
          </a:solidFill>
          <a:ln/>
        </p:spPr>
      </p:sp>
      <p:sp>
        <p:nvSpPr>
          <p:cNvPr id="40" name="Text 37"/>
          <p:cNvSpPr/>
          <p:nvPr/>
        </p:nvSpPr>
        <p:spPr>
          <a:xfrm>
            <a:off x="4273220"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41" name="Shape 38"/>
          <p:cNvSpPr/>
          <p:nvPr/>
        </p:nvSpPr>
        <p:spPr>
          <a:xfrm>
            <a:off x="4657268" y="3721608"/>
            <a:ext cx="329184" cy="329184"/>
          </a:xfrm>
          <a:prstGeom prst="roundRect">
            <a:avLst>
              <a:gd name="adj" fmla="val 16667"/>
            </a:avLst>
          </a:prstGeom>
          <a:solidFill>
            <a:srgbClr val="D1495B"/>
          </a:solidFill>
          <a:ln/>
        </p:spPr>
      </p:sp>
      <p:sp>
        <p:nvSpPr>
          <p:cNvPr id="42" name="Text 39"/>
          <p:cNvSpPr/>
          <p:nvPr/>
        </p:nvSpPr>
        <p:spPr>
          <a:xfrm>
            <a:off x="465726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43" name="Text 40"/>
          <p:cNvSpPr/>
          <p:nvPr/>
        </p:nvSpPr>
        <p:spPr>
          <a:xfrm>
            <a:off x="960120" y="5029200"/>
            <a:ext cx="4724248" cy="365760"/>
          </a:xfrm>
          <a:prstGeom prst="rect">
            <a:avLst/>
          </a:prstGeom>
          <a:noFill/>
          <a:ln/>
        </p:spPr>
        <p:txBody>
          <a:bodyPr wrap="square" rtlCol="0" anchor="ctr"/>
          <a:lstStyle/>
          <a:p>
            <a:pPr indent="0" marL="0">
              <a:buNone/>
            </a:pPr>
            <a:r>
              <a:rPr lang="en-US" sz="1100" dirty="0">
                <a:solidFill>
                  <a:srgbClr val="0B2545"/>
                </a:solidFill>
                <a:latin typeface="Calibri" pitchFamily="34" charset="0"/>
                <a:ea typeface="Calibri" pitchFamily="34" charset="-122"/>
                <a:cs typeface="Calibri" pitchFamily="34" charset="-120"/>
              </a:rPr>
              <a:t>P1, P2, P3 leak into the test set.</a:t>
            </a:r>
            <a:endParaRPr lang="en-US" sz="1100" dirty="0"/>
          </a:p>
        </p:txBody>
      </p:sp>
      <p:sp>
        <p:nvSpPr>
          <p:cNvPr id="44" name="Shape 41"/>
          <p:cNvSpPr/>
          <p:nvPr/>
        </p:nvSpPr>
        <p:spPr>
          <a:xfrm>
            <a:off x="6370168" y="2468880"/>
            <a:ext cx="5272888" cy="3017520"/>
          </a:xfrm>
          <a:prstGeom prst="roundRect">
            <a:avLst>
              <a:gd name="adj" fmla="val 3030"/>
            </a:avLst>
          </a:prstGeom>
          <a:solidFill>
            <a:srgbClr val="E3EEF2"/>
          </a:solidFill>
          <a:ln w="9525">
            <a:solidFill>
              <a:srgbClr val="1C7293"/>
            </a:solidFill>
            <a:prstDash val="solid"/>
          </a:ln>
        </p:spPr>
      </p:sp>
      <p:sp>
        <p:nvSpPr>
          <p:cNvPr id="45" name="Text 42"/>
          <p:cNvSpPr/>
          <p:nvPr/>
        </p:nvSpPr>
        <p:spPr>
          <a:xfrm>
            <a:off x="6644488" y="2651760"/>
            <a:ext cx="4724248" cy="365760"/>
          </a:xfrm>
          <a:prstGeom prst="rect">
            <a:avLst/>
          </a:prstGeom>
          <a:noFill/>
          <a:ln/>
        </p:spPr>
        <p:txBody>
          <a:bodyPr wrap="square"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Patient-grouped split  ✓</a:t>
            </a:r>
            <a:endParaRPr lang="en-US" sz="1400" dirty="0"/>
          </a:p>
        </p:txBody>
      </p:sp>
      <p:sp>
        <p:nvSpPr>
          <p:cNvPr id="46" name="Text 43"/>
          <p:cNvSpPr/>
          <p:nvPr/>
        </p:nvSpPr>
        <p:spPr>
          <a:xfrm>
            <a:off x="6644488" y="3063240"/>
            <a:ext cx="1828800" cy="228600"/>
          </a:xfrm>
          <a:prstGeom prst="rect">
            <a:avLst/>
          </a:prstGeom>
          <a:noFill/>
          <a:ln/>
        </p:spPr>
        <p:txBody>
          <a:bodyPr wrap="square" rtlCol="0" anchor="ctr"/>
          <a:lstStyle/>
          <a:p>
            <a:pPr indent="0" marL="0">
              <a:buNone/>
            </a:pPr>
            <a:r>
              <a:rPr lang="en-US" sz="900" b="1" spc="100" kern="0" dirty="0">
                <a:solidFill>
                  <a:srgbClr val="5C6B7A"/>
                </a:solidFill>
                <a:latin typeface="Calibri" pitchFamily="34" charset="0"/>
                <a:ea typeface="Calibri" pitchFamily="34" charset="-122"/>
                <a:cs typeface="Calibri" pitchFamily="34" charset="-120"/>
              </a:rPr>
              <a:t>Train</a:t>
            </a:r>
            <a:endParaRPr lang="en-US" sz="900" dirty="0"/>
          </a:p>
        </p:txBody>
      </p:sp>
      <p:sp>
        <p:nvSpPr>
          <p:cNvPr id="47" name="Shape 44"/>
          <p:cNvSpPr/>
          <p:nvPr/>
        </p:nvSpPr>
        <p:spPr>
          <a:xfrm>
            <a:off x="6644488" y="3337560"/>
            <a:ext cx="329184" cy="329184"/>
          </a:xfrm>
          <a:prstGeom prst="roundRect">
            <a:avLst>
              <a:gd name="adj" fmla="val 16667"/>
            </a:avLst>
          </a:prstGeom>
          <a:solidFill>
            <a:srgbClr val="D1495B"/>
          </a:solidFill>
          <a:ln/>
        </p:spPr>
      </p:sp>
      <p:sp>
        <p:nvSpPr>
          <p:cNvPr id="48" name="Text 45"/>
          <p:cNvSpPr/>
          <p:nvPr/>
        </p:nvSpPr>
        <p:spPr>
          <a:xfrm>
            <a:off x="664448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49" name="Shape 46"/>
          <p:cNvSpPr/>
          <p:nvPr/>
        </p:nvSpPr>
        <p:spPr>
          <a:xfrm>
            <a:off x="7028536" y="3337560"/>
            <a:ext cx="329184" cy="329184"/>
          </a:xfrm>
          <a:prstGeom prst="roundRect">
            <a:avLst>
              <a:gd name="adj" fmla="val 16667"/>
            </a:avLst>
          </a:prstGeom>
          <a:solidFill>
            <a:srgbClr val="D1495B"/>
          </a:solidFill>
          <a:ln/>
        </p:spPr>
      </p:sp>
      <p:sp>
        <p:nvSpPr>
          <p:cNvPr id="50" name="Text 47"/>
          <p:cNvSpPr/>
          <p:nvPr/>
        </p:nvSpPr>
        <p:spPr>
          <a:xfrm>
            <a:off x="7028536"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1" name="Shape 48"/>
          <p:cNvSpPr/>
          <p:nvPr/>
        </p:nvSpPr>
        <p:spPr>
          <a:xfrm>
            <a:off x="7412584" y="3337560"/>
            <a:ext cx="329184" cy="329184"/>
          </a:xfrm>
          <a:prstGeom prst="roundRect">
            <a:avLst>
              <a:gd name="adj" fmla="val 16667"/>
            </a:avLst>
          </a:prstGeom>
          <a:solidFill>
            <a:srgbClr val="D1495B"/>
          </a:solidFill>
          <a:ln/>
        </p:spPr>
      </p:sp>
      <p:sp>
        <p:nvSpPr>
          <p:cNvPr id="52" name="Text 49"/>
          <p:cNvSpPr/>
          <p:nvPr/>
        </p:nvSpPr>
        <p:spPr>
          <a:xfrm>
            <a:off x="741258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3" name="Shape 50"/>
          <p:cNvSpPr/>
          <p:nvPr/>
        </p:nvSpPr>
        <p:spPr>
          <a:xfrm>
            <a:off x="7796632" y="3337560"/>
            <a:ext cx="329184" cy="329184"/>
          </a:xfrm>
          <a:prstGeom prst="roundRect">
            <a:avLst>
              <a:gd name="adj" fmla="val 16667"/>
            </a:avLst>
          </a:prstGeom>
          <a:solidFill>
            <a:srgbClr val="D1495B"/>
          </a:solidFill>
          <a:ln/>
        </p:spPr>
      </p:sp>
      <p:sp>
        <p:nvSpPr>
          <p:cNvPr id="54" name="Text 51"/>
          <p:cNvSpPr/>
          <p:nvPr/>
        </p:nvSpPr>
        <p:spPr>
          <a:xfrm>
            <a:off x="7796632"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5" name="Shape 52"/>
          <p:cNvSpPr/>
          <p:nvPr/>
        </p:nvSpPr>
        <p:spPr>
          <a:xfrm>
            <a:off x="6644488" y="3721608"/>
            <a:ext cx="329184" cy="329184"/>
          </a:xfrm>
          <a:prstGeom prst="roundRect">
            <a:avLst>
              <a:gd name="adj" fmla="val 16667"/>
            </a:avLst>
          </a:prstGeom>
          <a:solidFill>
            <a:srgbClr val="3E7CB1"/>
          </a:solidFill>
          <a:ln/>
        </p:spPr>
      </p:sp>
      <p:sp>
        <p:nvSpPr>
          <p:cNvPr id="56" name="Text 53"/>
          <p:cNvSpPr/>
          <p:nvPr/>
        </p:nvSpPr>
        <p:spPr>
          <a:xfrm>
            <a:off x="664448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57" name="Shape 54"/>
          <p:cNvSpPr/>
          <p:nvPr/>
        </p:nvSpPr>
        <p:spPr>
          <a:xfrm>
            <a:off x="7028536" y="3721608"/>
            <a:ext cx="329184" cy="329184"/>
          </a:xfrm>
          <a:prstGeom prst="roundRect">
            <a:avLst>
              <a:gd name="adj" fmla="val 16667"/>
            </a:avLst>
          </a:prstGeom>
          <a:solidFill>
            <a:srgbClr val="3E7CB1"/>
          </a:solidFill>
          <a:ln/>
        </p:spPr>
      </p:sp>
      <p:sp>
        <p:nvSpPr>
          <p:cNvPr id="58" name="Text 55"/>
          <p:cNvSpPr/>
          <p:nvPr/>
        </p:nvSpPr>
        <p:spPr>
          <a:xfrm>
            <a:off x="7028536"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59" name="Shape 56"/>
          <p:cNvSpPr/>
          <p:nvPr/>
        </p:nvSpPr>
        <p:spPr>
          <a:xfrm>
            <a:off x="7412584" y="3721608"/>
            <a:ext cx="329184" cy="329184"/>
          </a:xfrm>
          <a:prstGeom prst="roundRect">
            <a:avLst>
              <a:gd name="adj" fmla="val 16667"/>
            </a:avLst>
          </a:prstGeom>
          <a:solidFill>
            <a:srgbClr val="3E7CB1"/>
          </a:solidFill>
          <a:ln/>
        </p:spPr>
      </p:sp>
      <p:sp>
        <p:nvSpPr>
          <p:cNvPr id="60" name="Text 57"/>
          <p:cNvSpPr/>
          <p:nvPr/>
        </p:nvSpPr>
        <p:spPr>
          <a:xfrm>
            <a:off x="741258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61" name="Shape 58"/>
          <p:cNvSpPr/>
          <p:nvPr/>
        </p:nvSpPr>
        <p:spPr>
          <a:xfrm>
            <a:off x="7796632" y="3721608"/>
            <a:ext cx="329184" cy="329184"/>
          </a:xfrm>
          <a:prstGeom prst="roundRect">
            <a:avLst>
              <a:gd name="adj" fmla="val 16667"/>
            </a:avLst>
          </a:prstGeom>
          <a:solidFill>
            <a:srgbClr val="3E7CB1"/>
          </a:solidFill>
          <a:ln/>
        </p:spPr>
      </p:sp>
      <p:sp>
        <p:nvSpPr>
          <p:cNvPr id="62" name="Text 59"/>
          <p:cNvSpPr/>
          <p:nvPr/>
        </p:nvSpPr>
        <p:spPr>
          <a:xfrm>
            <a:off x="7796632"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63" name="Text 60"/>
          <p:cNvSpPr/>
          <p:nvPr/>
        </p:nvSpPr>
        <p:spPr>
          <a:xfrm>
            <a:off x="9189491" y="3063240"/>
            <a:ext cx="1828800" cy="228600"/>
          </a:xfrm>
          <a:prstGeom prst="rect">
            <a:avLst/>
          </a:prstGeom>
          <a:noFill/>
          <a:ln/>
        </p:spPr>
        <p:txBody>
          <a:bodyPr wrap="square" rtlCol="0" anchor="ctr"/>
          <a:lstStyle/>
          <a:p>
            <a:pPr indent="0" marL="0">
              <a:buNone/>
            </a:pPr>
            <a:r>
              <a:rPr lang="en-US" sz="900" b="1" spc="100" kern="0" dirty="0">
                <a:solidFill>
                  <a:srgbClr val="5C6B7A"/>
                </a:solidFill>
                <a:latin typeface="Calibri" pitchFamily="34" charset="0"/>
                <a:ea typeface="Calibri" pitchFamily="34" charset="-122"/>
                <a:cs typeface="Calibri" pitchFamily="34" charset="-120"/>
              </a:rPr>
              <a:t>Test</a:t>
            </a:r>
            <a:endParaRPr lang="en-US" sz="900" dirty="0"/>
          </a:p>
        </p:txBody>
      </p:sp>
      <p:sp>
        <p:nvSpPr>
          <p:cNvPr id="64" name="Shape 61"/>
          <p:cNvSpPr/>
          <p:nvPr/>
        </p:nvSpPr>
        <p:spPr>
          <a:xfrm>
            <a:off x="9189491" y="3337560"/>
            <a:ext cx="329184" cy="329184"/>
          </a:xfrm>
          <a:prstGeom prst="roundRect">
            <a:avLst>
              <a:gd name="adj" fmla="val 16667"/>
            </a:avLst>
          </a:prstGeom>
          <a:solidFill>
            <a:srgbClr val="1C7293"/>
          </a:solidFill>
          <a:ln/>
        </p:spPr>
      </p:sp>
      <p:sp>
        <p:nvSpPr>
          <p:cNvPr id="65" name="Text 62"/>
          <p:cNvSpPr/>
          <p:nvPr/>
        </p:nvSpPr>
        <p:spPr>
          <a:xfrm>
            <a:off x="9189491"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66" name="Shape 63"/>
          <p:cNvSpPr/>
          <p:nvPr/>
        </p:nvSpPr>
        <p:spPr>
          <a:xfrm>
            <a:off x="9573539" y="3337560"/>
            <a:ext cx="329184" cy="329184"/>
          </a:xfrm>
          <a:prstGeom prst="roundRect">
            <a:avLst>
              <a:gd name="adj" fmla="val 16667"/>
            </a:avLst>
          </a:prstGeom>
          <a:solidFill>
            <a:srgbClr val="1C7293"/>
          </a:solidFill>
          <a:ln/>
        </p:spPr>
      </p:sp>
      <p:sp>
        <p:nvSpPr>
          <p:cNvPr id="67" name="Text 64"/>
          <p:cNvSpPr/>
          <p:nvPr/>
        </p:nvSpPr>
        <p:spPr>
          <a:xfrm>
            <a:off x="9573539"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68" name="Shape 65"/>
          <p:cNvSpPr/>
          <p:nvPr/>
        </p:nvSpPr>
        <p:spPr>
          <a:xfrm>
            <a:off x="9957587" y="3337560"/>
            <a:ext cx="329184" cy="329184"/>
          </a:xfrm>
          <a:prstGeom prst="roundRect">
            <a:avLst>
              <a:gd name="adj" fmla="val 16667"/>
            </a:avLst>
          </a:prstGeom>
          <a:solidFill>
            <a:srgbClr val="1C7293"/>
          </a:solidFill>
          <a:ln/>
        </p:spPr>
      </p:sp>
      <p:sp>
        <p:nvSpPr>
          <p:cNvPr id="69" name="Text 66"/>
          <p:cNvSpPr/>
          <p:nvPr/>
        </p:nvSpPr>
        <p:spPr>
          <a:xfrm>
            <a:off x="9957587"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70" name="Shape 67"/>
          <p:cNvSpPr/>
          <p:nvPr/>
        </p:nvSpPr>
        <p:spPr>
          <a:xfrm>
            <a:off x="10341635" y="3337560"/>
            <a:ext cx="329184" cy="329184"/>
          </a:xfrm>
          <a:prstGeom prst="roundRect">
            <a:avLst>
              <a:gd name="adj" fmla="val 16667"/>
            </a:avLst>
          </a:prstGeom>
          <a:solidFill>
            <a:srgbClr val="1C7293"/>
          </a:solidFill>
          <a:ln/>
        </p:spPr>
      </p:sp>
      <p:sp>
        <p:nvSpPr>
          <p:cNvPr id="71" name="Text 68"/>
          <p:cNvSpPr/>
          <p:nvPr/>
        </p:nvSpPr>
        <p:spPr>
          <a:xfrm>
            <a:off x="10341635"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72" name="Shape 69"/>
          <p:cNvSpPr/>
          <p:nvPr/>
        </p:nvSpPr>
        <p:spPr>
          <a:xfrm>
            <a:off x="9189491" y="3721608"/>
            <a:ext cx="329184" cy="329184"/>
          </a:xfrm>
          <a:prstGeom prst="roundRect">
            <a:avLst>
              <a:gd name="adj" fmla="val 16667"/>
            </a:avLst>
          </a:prstGeom>
          <a:solidFill>
            <a:srgbClr val="F2A900"/>
          </a:solidFill>
          <a:ln/>
        </p:spPr>
      </p:sp>
      <p:sp>
        <p:nvSpPr>
          <p:cNvPr id="73" name="Text 70"/>
          <p:cNvSpPr/>
          <p:nvPr/>
        </p:nvSpPr>
        <p:spPr>
          <a:xfrm>
            <a:off x="9189491"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4" name="Shape 71"/>
          <p:cNvSpPr/>
          <p:nvPr/>
        </p:nvSpPr>
        <p:spPr>
          <a:xfrm>
            <a:off x="9573539" y="3721608"/>
            <a:ext cx="329184" cy="329184"/>
          </a:xfrm>
          <a:prstGeom prst="roundRect">
            <a:avLst>
              <a:gd name="adj" fmla="val 16667"/>
            </a:avLst>
          </a:prstGeom>
          <a:solidFill>
            <a:srgbClr val="F2A900"/>
          </a:solidFill>
          <a:ln/>
        </p:spPr>
      </p:sp>
      <p:sp>
        <p:nvSpPr>
          <p:cNvPr id="75" name="Text 72"/>
          <p:cNvSpPr/>
          <p:nvPr/>
        </p:nvSpPr>
        <p:spPr>
          <a:xfrm>
            <a:off x="9573539"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6" name="Shape 73"/>
          <p:cNvSpPr/>
          <p:nvPr/>
        </p:nvSpPr>
        <p:spPr>
          <a:xfrm>
            <a:off x="9957587" y="3721608"/>
            <a:ext cx="329184" cy="329184"/>
          </a:xfrm>
          <a:prstGeom prst="roundRect">
            <a:avLst>
              <a:gd name="adj" fmla="val 16667"/>
            </a:avLst>
          </a:prstGeom>
          <a:solidFill>
            <a:srgbClr val="F2A900"/>
          </a:solidFill>
          <a:ln/>
        </p:spPr>
      </p:sp>
      <p:sp>
        <p:nvSpPr>
          <p:cNvPr id="77" name="Text 74"/>
          <p:cNvSpPr/>
          <p:nvPr/>
        </p:nvSpPr>
        <p:spPr>
          <a:xfrm>
            <a:off x="9957587"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8" name="Shape 75"/>
          <p:cNvSpPr/>
          <p:nvPr/>
        </p:nvSpPr>
        <p:spPr>
          <a:xfrm>
            <a:off x="10341635" y="3721608"/>
            <a:ext cx="329184" cy="329184"/>
          </a:xfrm>
          <a:prstGeom prst="roundRect">
            <a:avLst>
              <a:gd name="adj" fmla="val 16667"/>
            </a:avLst>
          </a:prstGeom>
          <a:solidFill>
            <a:srgbClr val="F2A900"/>
          </a:solidFill>
          <a:ln/>
        </p:spPr>
      </p:sp>
      <p:sp>
        <p:nvSpPr>
          <p:cNvPr id="79" name="Text 76"/>
          <p:cNvSpPr/>
          <p:nvPr/>
        </p:nvSpPr>
        <p:spPr>
          <a:xfrm>
            <a:off x="10341635"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80" name="Text 77"/>
          <p:cNvSpPr/>
          <p:nvPr/>
        </p:nvSpPr>
        <p:spPr>
          <a:xfrm>
            <a:off x="6644488" y="5029200"/>
            <a:ext cx="4724248" cy="365760"/>
          </a:xfrm>
          <a:prstGeom prst="rect">
            <a:avLst/>
          </a:prstGeom>
          <a:noFill/>
          <a:ln/>
        </p:spPr>
        <p:txBody>
          <a:bodyPr wrap="square" rtlCol="0" anchor="ctr"/>
          <a:lstStyle/>
          <a:p>
            <a:pPr indent="0" marL="0">
              <a:buNone/>
            </a:pPr>
            <a:r>
              <a:rPr lang="en-US" sz="1100" dirty="0">
                <a:solidFill>
                  <a:srgbClr val="0B2545"/>
                </a:solidFill>
                <a:latin typeface="Calibri" pitchFamily="34" charset="0"/>
                <a:ea typeface="Calibri" pitchFamily="34" charset="-122"/>
                <a:cs typeface="Calibri" pitchFamily="34" charset="-120"/>
              </a:rPr>
              <a:t>No patient appears in both sets.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CONTRIBUTION 1 · DATA AUDIT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A2433"/>
                </a:solidFill>
                <a:latin typeface="Cambria" pitchFamily="34" charset="0"/>
                <a:ea typeface="Cambria" pitchFamily="34" charset="-122"/>
                <a:cs typeface="Cambria" pitchFamily="34" charset="-120"/>
              </a:rPr>
              <a:t>Every identifier audited before a single fold is built.</a:t>
            </a:r>
            <a:endParaRPr lang="en-US" sz="2600" dirty="0"/>
          </a:p>
        </p:txBody>
      </p:sp>
      <p:sp>
        <p:nvSpPr>
          <p:cNvPr id="7" name="Shape 4"/>
          <p:cNvSpPr/>
          <p:nvPr/>
        </p:nvSpPr>
        <p:spPr>
          <a:xfrm>
            <a:off x="685800" y="2514600"/>
            <a:ext cx="3484778" cy="1463040"/>
          </a:xfrm>
          <a:prstGeom prst="roundRect">
            <a:avLst>
              <a:gd name="adj" fmla="val 6250"/>
            </a:avLst>
          </a:prstGeom>
          <a:solidFill>
            <a:srgbClr val="FFFFFF"/>
          </a:solidFill>
          <a:ln w="9525">
            <a:solidFill>
              <a:srgbClr val="DCE6F0"/>
            </a:solidFill>
            <a:prstDash val="solid"/>
          </a:ln>
        </p:spPr>
      </p:sp>
      <p:sp>
        <p:nvSpPr>
          <p:cNvPr id="8" name="Text 5"/>
          <p:cNvSpPr/>
          <p:nvPr/>
        </p:nvSpPr>
        <p:spPr>
          <a:xfrm>
            <a:off x="914400" y="2651760"/>
            <a:ext cx="3027578" cy="731520"/>
          </a:xfrm>
          <a:prstGeom prst="rect">
            <a:avLst/>
          </a:prstGeom>
          <a:noFill/>
          <a:ln/>
        </p:spPr>
        <p:txBody>
          <a:bodyPr wrap="square" rtlCol="0" anchor="t"/>
          <a:lstStyle/>
          <a:p>
            <a:pPr indent="0" marL="0">
              <a:buNone/>
            </a:pPr>
            <a:r>
              <a:rPr lang="en-US" sz="2600" dirty="0">
                <a:solidFill>
                  <a:srgbClr val="1A2433"/>
                </a:solidFill>
                <a:latin typeface="Cambria" pitchFamily="34" charset="0"/>
                <a:ea typeface="Cambria" pitchFamily="34" charset="-122"/>
                <a:cs typeface="Cambria" pitchFamily="34" charset="-120"/>
              </a:rPr>
              <a:t>9,684</a:t>
            </a:r>
            <a:endParaRPr lang="en-US" sz="2600" dirty="0"/>
          </a:p>
        </p:txBody>
      </p:sp>
      <p:sp>
        <p:nvSpPr>
          <p:cNvPr id="9" name="Text 6"/>
          <p:cNvSpPr/>
          <p:nvPr/>
        </p:nvSpPr>
        <p:spPr>
          <a:xfrm>
            <a:off x="914400" y="3363163"/>
            <a:ext cx="302757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Mammograms</a:t>
            </a:r>
            <a:endParaRPr lang="en-US" sz="1200" dirty="0"/>
          </a:p>
        </p:txBody>
      </p:sp>
      <p:sp>
        <p:nvSpPr>
          <p:cNvPr id="10" name="Text 7"/>
          <p:cNvSpPr/>
          <p:nvPr/>
        </p:nvSpPr>
        <p:spPr>
          <a:xfrm>
            <a:off x="914400" y="3619195"/>
            <a:ext cx="3027578" cy="438912"/>
          </a:xfrm>
          <a:prstGeom prst="rect">
            <a:avLst/>
          </a:prstGeom>
          <a:noFill/>
          <a:ln/>
        </p:spPr>
        <p:txBody>
          <a:bodyPr wrap="square" rtlCol="0" anchor="ctr"/>
          <a:lstStyle/>
          <a:p>
            <a:pPr indent="0" marL="0">
              <a:buNone/>
            </a:pPr>
            <a:r>
              <a:rPr lang="en-US" sz="950" dirty="0">
                <a:solidFill>
                  <a:srgbClr val="5C6B7A"/>
                </a:solidFill>
                <a:latin typeface="Calibri" pitchFamily="34" charset="0"/>
                <a:ea typeface="Calibri" pitchFamily="34" charset="-122"/>
                <a:cs typeface="Calibri" pitchFamily="34" charset="-120"/>
              </a:rPr>
              <a:t>2,728 Normal · 3,360 Benign · 3,596 Cancer</a:t>
            </a:r>
            <a:endParaRPr lang="en-US" sz="950" dirty="0"/>
          </a:p>
        </p:txBody>
      </p:sp>
      <p:sp>
        <p:nvSpPr>
          <p:cNvPr id="11" name="Shape 8"/>
          <p:cNvSpPr/>
          <p:nvPr/>
        </p:nvSpPr>
        <p:spPr>
          <a:xfrm>
            <a:off x="4353458" y="2514600"/>
            <a:ext cx="3484778" cy="1463040"/>
          </a:xfrm>
          <a:prstGeom prst="roundRect">
            <a:avLst>
              <a:gd name="adj" fmla="val 6250"/>
            </a:avLst>
          </a:prstGeom>
          <a:solidFill>
            <a:srgbClr val="FFFFFF"/>
          </a:solidFill>
          <a:ln w="9525">
            <a:solidFill>
              <a:srgbClr val="DCE6F0"/>
            </a:solidFill>
            <a:prstDash val="solid"/>
          </a:ln>
        </p:spPr>
      </p:sp>
      <p:sp>
        <p:nvSpPr>
          <p:cNvPr id="12" name="Text 9"/>
          <p:cNvSpPr/>
          <p:nvPr/>
        </p:nvSpPr>
        <p:spPr>
          <a:xfrm>
            <a:off x="4582058" y="2651760"/>
            <a:ext cx="3027578" cy="731520"/>
          </a:xfrm>
          <a:prstGeom prst="rect">
            <a:avLst/>
          </a:prstGeom>
          <a:noFill/>
          <a:ln/>
        </p:spPr>
        <p:txBody>
          <a:bodyPr wrap="square" rtlCol="0" anchor="t"/>
          <a:lstStyle/>
          <a:p>
            <a:pPr indent="0" marL="0">
              <a:buNone/>
            </a:pPr>
            <a:r>
              <a:rPr lang="en-US" sz="2600" dirty="0">
                <a:solidFill>
                  <a:srgbClr val="1A2433"/>
                </a:solidFill>
                <a:latin typeface="Cambria" pitchFamily="34" charset="0"/>
                <a:ea typeface="Cambria" pitchFamily="34" charset="-122"/>
                <a:cs typeface="Cambria" pitchFamily="34" charset="-120"/>
              </a:rPr>
              <a:t>2,417</a:t>
            </a:r>
            <a:endParaRPr lang="en-US" sz="2600" dirty="0"/>
          </a:p>
        </p:txBody>
      </p:sp>
      <p:sp>
        <p:nvSpPr>
          <p:cNvPr id="13" name="Text 10"/>
          <p:cNvSpPr/>
          <p:nvPr/>
        </p:nvSpPr>
        <p:spPr>
          <a:xfrm>
            <a:off x="4582058" y="3363163"/>
            <a:ext cx="302757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Patient groups</a:t>
            </a:r>
            <a:endParaRPr lang="en-US" sz="1200" dirty="0"/>
          </a:p>
        </p:txBody>
      </p:sp>
      <p:sp>
        <p:nvSpPr>
          <p:cNvPr id="14" name="Text 11"/>
          <p:cNvSpPr/>
          <p:nvPr/>
        </p:nvSpPr>
        <p:spPr>
          <a:xfrm>
            <a:off x="4582058" y="3619195"/>
            <a:ext cx="3027578" cy="438912"/>
          </a:xfrm>
          <a:prstGeom prst="rect">
            <a:avLst/>
          </a:prstGeom>
          <a:noFill/>
          <a:ln/>
        </p:spPr>
        <p:txBody>
          <a:bodyPr wrap="square" rtlCol="0" anchor="ctr"/>
          <a:lstStyle/>
          <a:p>
            <a:pPr indent="0" marL="0">
              <a:buNone/>
            </a:pPr>
            <a:r>
              <a:rPr lang="en-US" sz="950" dirty="0">
                <a:solidFill>
                  <a:srgbClr val="5C6B7A"/>
                </a:solidFill>
                <a:latin typeface="Calibri" pitchFamily="34" charset="0"/>
                <a:ea typeface="Calibri" pitchFamily="34" charset="-122"/>
                <a:cs typeface="Calibri" pitchFamily="34" charset="-120"/>
              </a:rPr>
              <a:t>682 Normal · 836 Benign · 899 Cancer</a:t>
            </a:r>
            <a:endParaRPr lang="en-US" sz="950" dirty="0"/>
          </a:p>
        </p:txBody>
      </p:sp>
      <p:sp>
        <p:nvSpPr>
          <p:cNvPr id="15" name="Shape 12"/>
          <p:cNvSpPr/>
          <p:nvPr/>
        </p:nvSpPr>
        <p:spPr>
          <a:xfrm>
            <a:off x="8021117" y="2514600"/>
            <a:ext cx="3484778" cy="1463040"/>
          </a:xfrm>
          <a:prstGeom prst="roundRect">
            <a:avLst>
              <a:gd name="adj" fmla="val 6250"/>
            </a:avLst>
          </a:prstGeom>
          <a:solidFill>
            <a:srgbClr val="FFFFFF"/>
          </a:solidFill>
          <a:ln w="9525">
            <a:solidFill>
              <a:srgbClr val="DCE6F0"/>
            </a:solidFill>
            <a:prstDash val="solid"/>
          </a:ln>
        </p:spPr>
      </p:sp>
      <p:sp>
        <p:nvSpPr>
          <p:cNvPr id="16" name="Text 13"/>
          <p:cNvSpPr/>
          <p:nvPr/>
        </p:nvSpPr>
        <p:spPr>
          <a:xfrm>
            <a:off x="8249717" y="2651760"/>
            <a:ext cx="3027578" cy="731520"/>
          </a:xfrm>
          <a:prstGeom prst="rect">
            <a:avLst/>
          </a:prstGeom>
          <a:noFill/>
          <a:ln/>
        </p:spPr>
        <p:txBody>
          <a:bodyPr wrap="square" rtlCol="0" anchor="t"/>
          <a:lstStyle/>
          <a:p>
            <a:pPr indent="0" marL="0">
              <a:buNone/>
            </a:pPr>
            <a:r>
              <a:rPr lang="en-US" sz="2600" dirty="0">
                <a:solidFill>
                  <a:srgbClr val="1A2433"/>
                </a:solidFill>
                <a:latin typeface="Cambria" pitchFamily="34" charset="0"/>
                <a:ea typeface="Cambria" pitchFamily="34" charset="-122"/>
                <a:cs typeface="Cambria" pitchFamily="34" charset="-120"/>
              </a:rPr>
              <a:t>3</a:t>
            </a:r>
            <a:endParaRPr lang="en-US" sz="2600" dirty="0"/>
          </a:p>
        </p:txBody>
      </p:sp>
      <p:sp>
        <p:nvSpPr>
          <p:cNvPr id="17" name="Text 14"/>
          <p:cNvSpPr/>
          <p:nvPr/>
        </p:nvSpPr>
        <p:spPr>
          <a:xfrm>
            <a:off x="8249717" y="3363163"/>
            <a:ext cx="302757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Cross-class ID collisions</a:t>
            </a:r>
            <a:endParaRPr lang="en-US" sz="1200" dirty="0"/>
          </a:p>
        </p:txBody>
      </p:sp>
      <p:sp>
        <p:nvSpPr>
          <p:cNvPr id="18" name="Text 15"/>
          <p:cNvSpPr/>
          <p:nvPr/>
        </p:nvSpPr>
        <p:spPr>
          <a:xfrm>
            <a:off x="8249717" y="3619195"/>
            <a:ext cx="3027578" cy="438912"/>
          </a:xfrm>
          <a:prstGeom prst="rect">
            <a:avLst/>
          </a:prstGeom>
          <a:noFill/>
          <a:ln/>
        </p:spPr>
        <p:txBody>
          <a:bodyPr wrap="square" rtlCol="0" anchor="ctr"/>
          <a:lstStyle/>
          <a:p>
            <a:pPr indent="0" marL="0">
              <a:buNone/>
            </a:pPr>
            <a:r>
              <a:rPr lang="en-US" sz="950" dirty="0">
                <a:solidFill>
                  <a:srgbClr val="5C6B7A"/>
                </a:solidFill>
                <a:latin typeface="Calibri" pitchFamily="34" charset="0"/>
                <a:ea typeface="Calibri" pitchFamily="34" charset="-122"/>
                <a:cs typeface="Calibri" pitchFamily="34" charset="-120"/>
              </a:rPr>
              <a:t>A_1500, A_1511, A_1632 — 24 records</a:t>
            </a:r>
            <a:endParaRPr lang="en-US" sz="950" dirty="0"/>
          </a:p>
        </p:txBody>
      </p:sp>
      <p:sp>
        <p:nvSpPr>
          <p:cNvPr id="19" name="Shape 16"/>
          <p:cNvSpPr/>
          <p:nvPr/>
        </p:nvSpPr>
        <p:spPr>
          <a:xfrm>
            <a:off x="685800" y="4114800"/>
            <a:ext cx="3484778" cy="1463040"/>
          </a:xfrm>
          <a:prstGeom prst="roundRect">
            <a:avLst>
              <a:gd name="adj" fmla="val 6250"/>
            </a:avLst>
          </a:prstGeom>
          <a:solidFill>
            <a:srgbClr val="FFFFFF"/>
          </a:solidFill>
          <a:ln w="9525">
            <a:solidFill>
              <a:srgbClr val="DCE6F0"/>
            </a:solidFill>
            <a:prstDash val="solid"/>
          </a:ln>
        </p:spPr>
      </p:sp>
      <p:sp>
        <p:nvSpPr>
          <p:cNvPr id="20" name="Text 17"/>
          <p:cNvSpPr/>
          <p:nvPr/>
        </p:nvSpPr>
        <p:spPr>
          <a:xfrm>
            <a:off x="914400" y="4251960"/>
            <a:ext cx="3027578" cy="731520"/>
          </a:xfrm>
          <a:prstGeom prst="rect">
            <a:avLst/>
          </a:prstGeom>
          <a:noFill/>
          <a:ln/>
        </p:spPr>
        <p:txBody>
          <a:bodyPr wrap="square" rtlCol="0" anchor="t"/>
          <a:lstStyle/>
          <a:p>
            <a:pPr indent="0" marL="0">
              <a:buNone/>
            </a:pPr>
            <a:r>
              <a:rPr lang="en-US" sz="2600" dirty="0">
                <a:solidFill>
                  <a:srgbClr val="1A2433"/>
                </a:solidFill>
                <a:latin typeface="Cambria" pitchFamily="34" charset="0"/>
                <a:ea typeface="Cambria" pitchFamily="34" charset="-122"/>
                <a:cs typeface="Cambria" pitchFamily="34" charset="-120"/>
              </a:rPr>
              <a:t>4</a:t>
            </a:r>
            <a:endParaRPr lang="en-US" sz="2600" dirty="0"/>
          </a:p>
        </p:txBody>
      </p:sp>
      <p:sp>
        <p:nvSpPr>
          <p:cNvPr id="21" name="Text 18"/>
          <p:cNvSpPr/>
          <p:nvPr/>
        </p:nvSpPr>
        <p:spPr>
          <a:xfrm>
            <a:off x="914400" y="4963363"/>
            <a:ext cx="302757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Eight-image blocks</a:t>
            </a:r>
            <a:endParaRPr lang="en-US" sz="1200" dirty="0"/>
          </a:p>
        </p:txBody>
      </p:sp>
      <p:sp>
        <p:nvSpPr>
          <p:cNvPr id="22" name="Text 19"/>
          <p:cNvSpPr/>
          <p:nvPr/>
        </p:nvSpPr>
        <p:spPr>
          <a:xfrm>
            <a:off x="914400" y="5219395"/>
            <a:ext cx="3027578" cy="438912"/>
          </a:xfrm>
          <a:prstGeom prst="rect">
            <a:avLst/>
          </a:prstGeom>
          <a:noFill/>
          <a:ln/>
        </p:spPr>
        <p:txBody>
          <a:bodyPr wrap="square" rtlCol="0" anchor="ctr"/>
          <a:lstStyle/>
          <a:p>
            <a:pPr indent="0" marL="0">
              <a:buNone/>
            </a:pPr>
            <a:r>
              <a:rPr lang="en-US" sz="950" dirty="0">
                <a:solidFill>
                  <a:srgbClr val="5C6B7A"/>
                </a:solidFill>
                <a:latin typeface="Calibri" pitchFamily="34" charset="0"/>
                <a:ea typeface="Calibri" pitchFamily="34" charset="-122"/>
                <a:cs typeface="Calibri" pitchFamily="34" charset="-120"/>
              </a:rPr>
              <a:t>Kept intact as one conservative group</a:t>
            </a:r>
            <a:endParaRPr lang="en-US" sz="950" dirty="0"/>
          </a:p>
        </p:txBody>
      </p:sp>
      <p:sp>
        <p:nvSpPr>
          <p:cNvPr id="23" name="Shape 20"/>
          <p:cNvSpPr/>
          <p:nvPr/>
        </p:nvSpPr>
        <p:spPr>
          <a:xfrm>
            <a:off x="4353458" y="4114800"/>
            <a:ext cx="3484778" cy="1463040"/>
          </a:xfrm>
          <a:prstGeom prst="roundRect">
            <a:avLst>
              <a:gd name="adj" fmla="val 6250"/>
            </a:avLst>
          </a:prstGeom>
          <a:solidFill>
            <a:srgbClr val="FFFFFF"/>
          </a:solidFill>
          <a:ln w="9525">
            <a:solidFill>
              <a:srgbClr val="DCE6F0"/>
            </a:solidFill>
            <a:prstDash val="solid"/>
          </a:ln>
        </p:spPr>
      </p:sp>
      <p:sp>
        <p:nvSpPr>
          <p:cNvPr id="24" name="Text 21"/>
          <p:cNvSpPr/>
          <p:nvPr/>
        </p:nvSpPr>
        <p:spPr>
          <a:xfrm>
            <a:off x="4582058" y="4251960"/>
            <a:ext cx="3027578" cy="731520"/>
          </a:xfrm>
          <a:prstGeom prst="rect">
            <a:avLst/>
          </a:prstGeom>
          <a:noFill/>
          <a:ln/>
        </p:spPr>
        <p:txBody>
          <a:bodyPr wrap="square" rtlCol="0" anchor="t"/>
          <a:lstStyle/>
          <a:p>
            <a:pPr indent="0" marL="0">
              <a:buNone/>
            </a:pPr>
            <a:r>
              <a:rPr lang="en-US" sz="2600" dirty="0">
                <a:solidFill>
                  <a:srgbClr val="1A2433"/>
                </a:solidFill>
                <a:latin typeface="Cambria" pitchFamily="34" charset="0"/>
                <a:ea typeface="Cambria" pitchFamily="34" charset="-122"/>
                <a:cs typeface="Cambria" pitchFamily="34" charset="-120"/>
              </a:rPr>
              <a:t>14</a:t>
            </a:r>
            <a:endParaRPr lang="en-US" sz="2600" dirty="0"/>
          </a:p>
        </p:txBody>
      </p:sp>
      <p:sp>
        <p:nvSpPr>
          <p:cNvPr id="25" name="Text 22"/>
          <p:cNvSpPr/>
          <p:nvPr/>
        </p:nvSpPr>
        <p:spPr>
          <a:xfrm>
            <a:off x="4582058" y="4963363"/>
            <a:ext cx="302757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Exact duplicate pairs</a:t>
            </a:r>
            <a:endParaRPr lang="en-US" sz="1200" dirty="0"/>
          </a:p>
        </p:txBody>
      </p:sp>
      <p:sp>
        <p:nvSpPr>
          <p:cNvPr id="26" name="Text 23"/>
          <p:cNvSpPr/>
          <p:nvPr/>
        </p:nvSpPr>
        <p:spPr>
          <a:xfrm>
            <a:off x="4582058" y="5219395"/>
            <a:ext cx="3027578" cy="438912"/>
          </a:xfrm>
          <a:prstGeom prst="rect">
            <a:avLst/>
          </a:prstGeom>
          <a:noFill/>
          <a:ln/>
        </p:spPr>
        <p:txBody>
          <a:bodyPr wrap="square" rtlCol="0" anchor="ctr"/>
          <a:lstStyle/>
          <a:p>
            <a:pPr indent="0" marL="0">
              <a:buNone/>
            </a:pPr>
            <a:r>
              <a:rPr lang="en-US" sz="950" dirty="0">
                <a:solidFill>
                  <a:srgbClr val="5C6B7A"/>
                </a:solidFill>
                <a:latin typeface="Calibri" pitchFamily="34" charset="0"/>
                <a:ea typeface="Calibri" pitchFamily="34" charset="-122"/>
                <a:cs typeface="Calibri" pitchFamily="34" charset="-120"/>
              </a:rPr>
              <a:t>SHA-256; none crosses a group boundary</a:t>
            </a:r>
            <a:endParaRPr lang="en-US" sz="950" dirty="0"/>
          </a:p>
        </p:txBody>
      </p:sp>
      <p:sp>
        <p:nvSpPr>
          <p:cNvPr id="27" name="Shape 24"/>
          <p:cNvSpPr/>
          <p:nvPr/>
        </p:nvSpPr>
        <p:spPr>
          <a:xfrm>
            <a:off x="8021117" y="4114800"/>
            <a:ext cx="3484778" cy="1463040"/>
          </a:xfrm>
          <a:prstGeom prst="roundRect">
            <a:avLst>
              <a:gd name="adj" fmla="val 6250"/>
            </a:avLst>
          </a:prstGeom>
          <a:solidFill>
            <a:srgbClr val="FFFFFF"/>
          </a:solidFill>
          <a:ln w="9525">
            <a:solidFill>
              <a:srgbClr val="DCE6F0"/>
            </a:solidFill>
            <a:prstDash val="solid"/>
          </a:ln>
        </p:spPr>
      </p:sp>
      <p:sp>
        <p:nvSpPr>
          <p:cNvPr id="28" name="Text 25"/>
          <p:cNvSpPr/>
          <p:nvPr/>
        </p:nvSpPr>
        <p:spPr>
          <a:xfrm>
            <a:off x="8249717" y="4251960"/>
            <a:ext cx="3027578" cy="731520"/>
          </a:xfrm>
          <a:prstGeom prst="rect">
            <a:avLst/>
          </a:prstGeom>
          <a:noFill/>
          <a:ln/>
        </p:spPr>
        <p:txBody>
          <a:bodyPr wrap="square" rtlCol="0" anchor="t"/>
          <a:lstStyle/>
          <a:p>
            <a:pPr indent="0" marL="0">
              <a:buNone/>
            </a:pPr>
            <a:r>
              <a:rPr lang="en-US" sz="2600" dirty="0">
                <a:solidFill>
                  <a:srgbClr val="1C7293"/>
                </a:solidFill>
                <a:latin typeface="Cambria" pitchFamily="34" charset="0"/>
                <a:ea typeface="Cambria" pitchFamily="34" charset="-122"/>
                <a:cs typeface="Cambria" pitchFamily="34" charset="-120"/>
              </a:rPr>
              <a:t>0</a:t>
            </a:r>
            <a:endParaRPr lang="en-US" sz="2600" dirty="0"/>
          </a:p>
        </p:txBody>
      </p:sp>
      <p:sp>
        <p:nvSpPr>
          <p:cNvPr id="29" name="Text 26"/>
          <p:cNvSpPr/>
          <p:nvPr/>
        </p:nvSpPr>
        <p:spPr>
          <a:xfrm>
            <a:off x="8249717" y="4963363"/>
            <a:ext cx="302757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Leaked groups</a:t>
            </a:r>
            <a:endParaRPr lang="en-US" sz="1200" dirty="0"/>
          </a:p>
        </p:txBody>
      </p:sp>
      <p:sp>
        <p:nvSpPr>
          <p:cNvPr id="30" name="Text 27"/>
          <p:cNvSpPr/>
          <p:nvPr/>
        </p:nvSpPr>
        <p:spPr>
          <a:xfrm>
            <a:off x="8249717" y="5219395"/>
            <a:ext cx="3027578" cy="438912"/>
          </a:xfrm>
          <a:prstGeom prst="rect">
            <a:avLst/>
          </a:prstGeom>
          <a:noFill/>
          <a:ln/>
        </p:spPr>
        <p:txBody>
          <a:bodyPr wrap="square" rtlCol="0" anchor="ctr"/>
          <a:lstStyle/>
          <a:p>
            <a:pPr indent="0" marL="0">
              <a:buNone/>
            </a:pPr>
            <a:r>
              <a:rPr lang="en-US" sz="950" dirty="0">
                <a:solidFill>
                  <a:srgbClr val="5C6B7A"/>
                </a:solidFill>
                <a:latin typeface="Calibri" pitchFamily="34" charset="0"/>
                <a:ea typeface="Calibri" pitchFamily="34" charset="-122"/>
                <a:cs typeface="Calibri" pitchFamily="34" charset="-120"/>
              </a:rPr>
              <a:t>Verified programmatically on all 9 splits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CONTRIBUTION 2 · METHOD</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A2433"/>
                </a:solidFill>
                <a:latin typeface="Cambria" pitchFamily="34" charset="0"/>
                <a:ea typeface="Cambria" pitchFamily="34" charset="-122"/>
                <a:cs typeface="Cambria" pitchFamily="34" charset="-120"/>
              </a:rPr>
              <a:t>Simple pipeline. Fixed 50/50 ensemble. No test-set tuning.</a:t>
            </a:r>
            <a:endParaRPr lang="en-US" sz="2600" dirty="0"/>
          </a:p>
        </p:txBody>
      </p:sp>
      <p:pic>
        <p:nvPicPr>
          <p:cNvPr id="7" name="Image 0" descr="preencoded.png">    </p:cNvPr>
          <p:cNvPicPr>
            <a:picLocks noChangeAspect="1"/>
          </p:cNvPicPr>
          <p:nvPr/>
        </p:nvPicPr>
        <p:blipFill>
          <a:blip r:embed="rId1"/>
          <a:srcRect l="0" r="0" t="0" b="0"/>
          <a:stretch/>
        </p:blipFill>
        <p:spPr>
          <a:xfrm>
            <a:off x="685800" y="2468880"/>
            <a:ext cx="10820095" cy="3749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CONTRIBUTION 3 · PROTOCOL</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A2433"/>
                </a:solidFill>
                <a:latin typeface="Cambria" pitchFamily="34" charset="0"/>
                <a:ea typeface="Cambria" pitchFamily="34" charset="-122"/>
                <a:cs typeface="Cambria" pitchFamily="34" charset="-120"/>
              </a:rPr>
              <a:t>Nested, patient-grouped, repeated three times.</a:t>
            </a:r>
            <a:endParaRPr lang="en-US" sz="2600" dirty="0"/>
          </a:p>
        </p:txBody>
      </p:sp>
      <p:sp>
        <p:nvSpPr>
          <p:cNvPr id="7" name="Shape 4"/>
          <p:cNvSpPr/>
          <p:nvPr/>
        </p:nvSpPr>
        <p:spPr>
          <a:xfrm>
            <a:off x="685800" y="2560320"/>
            <a:ext cx="4480560" cy="1920240"/>
          </a:xfrm>
          <a:prstGeom prst="roundRect">
            <a:avLst>
              <a:gd name="adj" fmla="val 4762"/>
            </a:avLst>
          </a:prstGeom>
          <a:solidFill>
            <a:srgbClr val="E8F0F7"/>
          </a:solidFill>
          <a:ln w="9525">
            <a:solidFill>
              <a:srgbClr val="3E7CB1"/>
            </a:solidFill>
            <a:prstDash val="solid"/>
          </a:ln>
        </p:spPr>
      </p:sp>
      <p:sp>
        <p:nvSpPr>
          <p:cNvPr id="8" name="Text 5"/>
          <p:cNvSpPr/>
          <p:nvPr/>
        </p:nvSpPr>
        <p:spPr>
          <a:xfrm>
            <a:off x="960120" y="2697480"/>
            <a:ext cx="3657600" cy="274320"/>
          </a:xfrm>
          <a:prstGeom prst="rect">
            <a:avLst/>
          </a:prstGeom>
          <a:noFill/>
          <a:ln/>
        </p:spPr>
        <p:txBody>
          <a:bodyPr wrap="square" rtlCol="0" anchor="ctr"/>
          <a:lstStyle/>
          <a:p>
            <a:pPr indent="0" marL="0">
              <a:buNone/>
            </a:pPr>
            <a:r>
              <a:rPr lang="en-US" sz="1000" b="1" spc="100" kern="0" dirty="0">
                <a:solidFill>
                  <a:srgbClr val="3E7CB1"/>
                </a:solidFill>
                <a:latin typeface="Calibri" pitchFamily="34" charset="0"/>
                <a:ea typeface="Calibri" pitchFamily="34" charset="-122"/>
                <a:cs typeface="Calibri" pitchFamily="34" charset="-120"/>
              </a:rPr>
              <a:t>OUTER TRAINING</a:t>
            </a:r>
            <a:endParaRPr lang="en-US" sz="1000" dirty="0"/>
          </a:p>
        </p:txBody>
      </p:sp>
      <p:sp>
        <p:nvSpPr>
          <p:cNvPr id="9" name="Text 6"/>
          <p:cNvSpPr/>
          <p:nvPr/>
        </p:nvSpPr>
        <p:spPr>
          <a:xfrm>
            <a:off x="960120" y="3108960"/>
            <a:ext cx="1920240" cy="1188720"/>
          </a:xfrm>
          <a:prstGeom prst="rect">
            <a:avLst/>
          </a:prstGeom>
          <a:solidFill>
            <a:srgbClr val="FFFFFF"/>
          </a:solidFill>
          <a:ln/>
        </p:spPr>
        <p:txBody>
          <a:bodyPr wrap="square" rtlCol="0" anchor="ctr"/>
          <a:lstStyle/>
          <a:p>
            <a:pPr indent="0" marL="0">
              <a:buNone/>
            </a:pPr>
            <a:r>
              <a:rPr lang="en-US" sz="1100" b="1" dirty="0">
                <a:solidFill>
                  <a:srgbClr val="1A2433"/>
                </a:solidFill>
                <a:latin typeface="Calibri" pitchFamily="34" charset="0"/>
                <a:ea typeface="Calibri" pitchFamily="34" charset="-122"/>
                <a:cs typeface="Calibri" pitchFamily="34" charset="-120"/>
              </a:rPr>
              <a:t>Inner train 88%
</a:t>
            </a:r>
            <a:pPr indent="0" marL="0">
              <a:buNone/>
            </a:pPr>
            <a:r>
              <a:rPr lang="en-US" sz="1100" dirty="0">
                <a:solidFill>
                  <a:srgbClr val="5C6B7A"/>
                </a:solidFill>
                <a:latin typeface="Calibri" pitchFamily="34" charset="0"/>
                <a:ea typeface="Calibri" pitchFamily="34" charset="-122"/>
                <a:cs typeface="Calibri" pitchFamily="34" charset="-120"/>
              </a:rPr>
              <a:t>model weights</a:t>
            </a:r>
            <a:endParaRPr lang="en-US" sz="1100" dirty="0"/>
          </a:p>
        </p:txBody>
      </p:sp>
      <p:sp>
        <p:nvSpPr>
          <p:cNvPr id="10" name="Text 7"/>
          <p:cNvSpPr/>
          <p:nvPr/>
        </p:nvSpPr>
        <p:spPr>
          <a:xfrm>
            <a:off x="3063240" y="3108960"/>
            <a:ext cx="1828800" cy="1188720"/>
          </a:xfrm>
          <a:prstGeom prst="rect">
            <a:avLst/>
          </a:prstGeom>
          <a:solidFill>
            <a:srgbClr val="FFFFFF"/>
          </a:solidFill>
          <a:ln/>
        </p:spPr>
        <p:txBody>
          <a:bodyPr wrap="square" rtlCol="0" anchor="ctr"/>
          <a:lstStyle/>
          <a:p>
            <a:pPr indent="0" marL="0">
              <a:buNone/>
            </a:pPr>
            <a:r>
              <a:rPr lang="en-US" sz="1100" b="1" dirty="0">
                <a:solidFill>
                  <a:srgbClr val="1A2433"/>
                </a:solidFill>
                <a:latin typeface="Calibri" pitchFamily="34" charset="0"/>
                <a:ea typeface="Calibri" pitchFamily="34" charset="-122"/>
                <a:cs typeface="Calibri" pitchFamily="34" charset="-120"/>
              </a:rPr>
              <a:t>Val 12%
</a:t>
            </a:r>
            <a:pPr indent="0" marL="0">
              <a:buNone/>
            </a:pPr>
            <a:r>
              <a:rPr lang="en-US" sz="1100" dirty="0">
                <a:solidFill>
                  <a:srgbClr val="5C6B7A"/>
                </a:solidFill>
                <a:latin typeface="Calibri" pitchFamily="34" charset="0"/>
                <a:ea typeface="Calibri" pitchFamily="34" charset="-122"/>
                <a:cs typeface="Calibri" pitchFamily="34" charset="-120"/>
              </a:rPr>
              <a:t>ckpt · threshold · Platt</a:t>
            </a:r>
            <a:endParaRPr lang="en-US" sz="1100" dirty="0"/>
          </a:p>
        </p:txBody>
      </p:sp>
      <p:sp>
        <p:nvSpPr>
          <p:cNvPr id="11" name="Text 8"/>
          <p:cNvSpPr/>
          <p:nvPr/>
        </p:nvSpPr>
        <p:spPr>
          <a:xfrm>
            <a:off x="5257800" y="3108960"/>
            <a:ext cx="548640" cy="914400"/>
          </a:xfrm>
          <a:prstGeom prst="rect">
            <a:avLst/>
          </a:prstGeom>
          <a:noFill/>
          <a:ln/>
        </p:spPr>
        <p:txBody>
          <a:bodyPr wrap="square" rtlCol="0" anchor="ctr"/>
          <a:lstStyle/>
          <a:p>
            <a:pPr algn="ctr" indent="0" marL="0">
              <a:buNone/>
            </a:pPr>
            <a:r>
              <a:rPr lang="en-US" sz="3000" dirty="0">
                <a:solidFill>
                  <a:srgbClr val="D1495B"/>
                </a:solidFill>
                <a:latin typeface="Calibri" pitchFamily="34" charset="0"/>
                <a:ea typeface="Calibri" pitchFamily="34" charset="-122"/>
                <a:cs typeface="Calibri" pitchFamily="34" charset="-120"/>
              </a:rPr>
              <a:t>→</a:t>
            </a:r>
            <a:endParaRPr lang="en-US" sz="3000" dirty="0"/>
          </a:p>
        </p:txBody>
      </p:sp>
      <p:sp>
        <p:nvSpPr>
          <p:cNvPr id="12" name="Shape 9"/>
          <p:cNvSpPr/>
          <p:nvPr/>
        </p:nvSpPr>
        <p:spPr>
          <a:xfrm>
            <a:off x="5897880" y="2560320"/>
            <a:ext cx="4480560" cy="1920240"/>
          </a:xfrm>
          <a:prstGeom prst="roundRect">
            <a:avLst>
              <a:gd name="adj" fmla="val 4762"/>
            </a:avLst>
          </a:prstGeom>
          <a:solidFill>
            <a:srgbClr val="FBE8EA"/>
          </a:solidFill>
          <a:ln w="9525">
            <a:solidFill>
              <a:srgbClr val="D1495B"/>
            </a:solidFill>
            <a:prstDash val="solid"/>
          </a:ln>
        </p:spPr>
      </p:sp>
      <p:sp>
        <p:nvSpPr>
          <p:cNvPr id="13" name="Text 10"/>
          <p:cNvSpPr/>
          <p:nvPr/>
        </p:nvSpPr>
        <p:spPr>
          <a:xfrm>
            <a:off x="6172200" y="2697480"/>
            <a:ext cx="3657600" cy="274320"/>
          </a:xfrm>
          <a:prstGeom prst="rect">
            <a:avLst/>
          </a:prstGeom>
          <a:noFill/>
          <a:ln/>
        </p:spPr>
        <p:txBody>
          <a:bodyPr wrap="square" rtlCol="0" anchor="ctr"/>
          <a:lstStyle/>
          <a:p>
            <a:pPr indent="0" marL="0">
              <a:buNone/>
            </a:pPr>
            <a:r>
              <a:rPr lang="en-US" sz="1000" b="1" spc="100" kern="0" dirty="0">
                <a:solidFill>
                  <a:srgbClr val="D1495B"/>
                </a:solidFill>
                <a:latin typeface="Calibri" pitchFamily="34" charset="0"/>
                <a:ea typeface="Calibri" pitchFamily="34" charset="-122"/>
                <a:cs typeface="Calibri" pitchFamily="34" charset="-120"/>
              </a:rPr>
              <a:t>OUTER TEST</a:t>
            </a:r>
            <a:endParaRPr lang="en-US" sz="1000" dirty="0"/>
          </a:p>
        </p:txBody>
      </p:sp>
      <p:sp>
        <p:nvSpPr>
          <p:cNvPr id="14" name="Text 11"/>
          <p:cNvSpPr/>
          <p:nvPr/>
        </p:nvSpPr>
        <p:spPr>
          <a:xfrm>
            <a:off x="6172200" y="3108960"/>
            <a:ext cx="3931920" cy="1188720"/>
          </a:xfrm>
          <a:prstGeom prst="rect">
            <a:avLst/>
          </a:prstGeom>
          <a:solidFill>
            <a:srgbClr val="FFFFFF"/>
          </a:solidFill>
          <a:ln/>
        </p:spPr>
        <p:txBody>
          <a:bodyPr wrap="square" rtlCol="0" anchor="ctr"/>
          <a:lstStyle/>
          <a:p>
            <a:pPr indent="0" marL="0">
              <a:buNone/>
            </a:pPr>
            <a:r>
              <a:rPr lang="en-US" sz="1100" b="1" dirty="0">
                <a:solidFill>
                  <a:srgbClr val="1A2433"/>
                </a:solidFill>
                <a:latin typeface="Calibri" pitchFamily="34" charset="0"/>
                <a:ea typeface="Calibri" pitchFamily="34" charset="-122"/>
                <a:cs typeface="Calibri" pitchFamily="34" charset="-120"/>
              </a:rPr>
              <a:t>Untouched until the end
</a:t>
            </a:r>
            <a:pPr indent="0" marL="0">
              <a:buNone/>
            </a:pPr>
            <a:r>
              <a:rPr lang="en-US" sz="1100" dirty="0">
                <a:solidFill>
                  <a:srgbClr val="5C6B7A"/>
                </a:solidFill>
                <a:latin typeface="Calibri" pitchFamily="34" charset="0"/>
                <a:ea typeface="Calibri" pitchFamily="34" charset="-122"/>
                <a:cs typeface="Calibri" pitchFamily="34" charset="-120"/>
              </a:rPr>
              <a:t>same TTA · patient-level metrics</a:t>
            </a:r>
            <a:endParaRPr lang="en-US" sz="1100" dirty="0"/>
          </a:p>
        </p:txBody>
      </p:sp>
      <p:sp>
        <p:nvSpPr>
          <p:cNvPr id="15" name="Shape 12"/>
          <p:cNvSpPr/>
          <p:nvPr/>
        </p:nvSpPr>
        <p:spPr>
          <a:xfrm>
            <a:off x="685800" y="4846320"/>
            <a:ext cx="3017520" cy="502920"/>
          </a:xfrm>
          <a:prstGeom prst="roundRect">
            <a:avLst>
              <a:gd name="adj" fmla="val 49091"/>
            </a:avLst>
          </a:prstGeom>
          <a:solidFill>
            <a:srgbClr val="FFFFFF"/>
          </a:solidFill>
          <a:ln w="9525">
            <a:solidFill>
              <a:srgbClr val="DCE6F0"/>
            </a:solidFill>
            <a:prstDash val="solid"/>
          </a:ln>
        </p:spPr>
      </p:sp>
      <p:sp>
        <p:nvSpPr>
          <p:cNvPr id="16" name="Text 13"/>
          <p:cNvSpPr/>
          <p:nvPr/>
        </p:nvSpPr>
        <p:spPr>
          <a:xfrm>
            <a:off x="685800" y="4846320"/>
            <a:ext cx="3017520" cy="502920"/>
          </a:xfrm>
          <a:prstGeom prst="rect">
            <a:avLst/>
          </a:prstGeom>
          <a:noFill/>
          <a:ln/>
        </p:spPr>
        <p:txBody>
          <a:bodyPr wrap="square" rtlCol="0" anchor="ctr"/>
          <a:lstStyle/>
          <a:p>
            <a:pPr algn="ctr" indent="0" marL="0">
              <a:buNone/>
            </a:pPr>
            <a:r>
              <a:rPr lang="en-US" sz="1100" dirty="0">
                <a:solidFill>
                  <a:srgbClr val="0B2545"/>
                </a:solidFill>
                <a:latin typeface="Calibri" pitchFamily="34" charset="0"/>
                <a:ea typeface="Calibri" pitchFamily="34" charset="-122"/>
                <a:cs typeface="Calibri" pitchFamily="34" charset="-120"/>
              </a:rPr>
              <a:t>StratifiedGroupKFold × 3</a:t>
            </a:r>
            <a:endParaRPr lang="en-US" sz="1100" dirty="0"/>
          </a:p>
        </p:txBody>
      </p:sp>
      <p:sp>
        <p:nvSpPr>
          <p:cNvPr id="17" name="Shape 14"/>
          <p:cNvSpPr/>
          <p:nvPr/>
        </p:nvSpPr>
        <p:spPr>
          <a:xfrm>
            <a:off x="3886200" y="4846320"/>
            <a:ext cx="3017520" cy="502920"/>
          </a:xfrm>
          <a:prstGeom prst="roundRect">
            <a:avLst>
              <a:gd name="adj" fmla="val 49091"/>
            </a:avLst>
          </a:prstGeom>
          <a:solidFill>
            <a:srgbClr val="FFFFFF"/>
          </a:solidFill>
          <a:ln w="9525">
            <a:solidFill>
              <a:srgbClr val="DCE6F0"/>
            </a:solidFill>
            <a:prstDash val="solid"/>
          </a:ln>
        </p:spPr>
      </p:sp>
      <p:sp>
        <p:nvSpPr>
          <p:cNvPr id="18" name="Text 15"/>
          <p:cNvSpPr/>
          <p:nvPr/>
        </p:nvSpPr>
        <p:spPr>
          <a:xfrm>
            <a:off x="3886200" y="4846320"/>
            <a:ext cx="3017520" cy="502920"/>
          </a:xfrm>
          <a:prstGeom prst="rect">
            <a:avLst/>
          </a:prstGeom>
          <a:noFill/>
          <a:ln/>
        </p:spPr>
        <p:txBody>
          <a:bodyPr wrap="square" rtlCol="0" anchor="ctr"/>
          <a:lstStyle/>
          <a:p>
            <a:pPr algn="ctr" indent="0" marL="0">
              <a:buNone/>
            </a:pPr>
            <a:r>
              <a:rPr lang="en-US" sz="1100" dirty="0">
                <a:solidFill>
                  <a:srgbClr val="0B2545"/>
                </a:solidFill>
                <a:latin typeface="Calibri" pitchFamily="34" charset="0"/>
                <a:ea typeface="Calibri" pitchFamily="34" charset="-122"/>
                <a:cs typeface="Calibri" pitchFamily="34" charset="-120"/>
              </a:rPr>
              <a:t>Seeds 42 · 123 · 2026</a:t>
            </a:r>
            <a:endParaRPr lang="en-US" sz="1100" dirty="0"/>
          </a:p>
        </p:txBody>
      </p:sp>
      <p:sp>
        <p:nvSpPr>
          <p:cNvPr id="19" name="Shape 16"/>
          <p:cNvSpPr/>
          <p:nvPr/>
        </p:nvSpPr>
        <p:spPr>
          <a:xfrm>
            <a:off x="7086600" y="4846320"/>
            <a:ext cx="3017520" cy="502920"/>
          </a:xfrm>
          <a:prstGeom prst="roundRect">
            <a:avLst>
              <a:gd name="adj" fmla="val 49091"/>
            </a:avLst>
          </a:prstGeom>
          <a:solidFill>
            <a:srgbClr val="FFFFFF"/>
          </a:solidFill>
          <a:ln w="9525">
            <a:solidFill>
              <a:srgbClr val="DCE6F0"/>
            </a:solidFill>
            <a:prstDash val="solid"/>
          </a:ln>
        </p:spPr>
      </p:sp>
      <p:sp>
        <p:nvSpPr>
          <p:cNvPr id="20" name="Text 17"/>
          <p:cNvSpPr/>
          <p:nvPr/>
        </p:nvSpPr>
        <p:spPr>
          <a:xfrm>
            <a:off x="7086600" y="4846320"/>
            <a:ext cx="3017520" cy="502920"/>
          </a:xfrm>
          <a:prstGeom prst="rect">
            <a:avLst/>
          </a:prstGeom>
          <a:noFill/>
          <a:ln/>
        </p:spPr>
        <p:txBody>
          <a:bodyPr wrap="square" rtlCol="0" anchor="ctr"/>
          <a:lstStyle/>
          <a:p>
            <a:pPr algn="ctr" indent="0" marL="0">
              <a:buNone/>
            </a:pPr>
            <a:r>
              <a:rPr lang="en-US" sz="1100" dirty="0">
                <a:solidFill>
                  <a:srgbClr val="0B2545"/>
                </a:solidFill>
                <a:latin typeface="Calibri" pitchFamily="34" charset="0"/>
                <a:ea typeface="Calibri" pitchFamily="34" charset="-122"/>
                <a:cs typeface="Calibri" pitchFamily="34" charset="-120"/>
              </a:rPr>
              <a:t>2,000 patient bootstraps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RESULTS</a:t>
            </a:r>
            <a:endParaRPr lang="en-US" sz="1200" dirty="0"/>
          </a:p>
        </p:txBody>
      </p:sp>
      <p:sp>
        <p:nvSpPr>
          <p:cNvPr id="6" name="Text 3"/>
          <p:cNvSpPr/>
          <p:nvPr/>
        </p:nvSpPr>
        <p:spPr>
          <a:xfrm>
            <a:off x="685800" y="960120"/>
            <a:ext cx="5486400" cy="1188720"/>
          </a:xfrm>
          <a:prstGeom prst="rect">
            <a:avLst/>
          </a:prstGeom>
          <a:noFill/>
          <a:ln/>
        </p:spPr>
        <p:txBody>
          <a:bodyPr wrap="square" rtlCol="0" anchor="t"/>
          <a:lstStyle/>
          <a:p>
            <a:pPr indent="0" marL="0">
              <a:lnSpc>
                <a:spcPct val="108000"/>
              </a:lnSpc>
              <a:buNone/>
            </a:pPr>
            <a:r>
              <a:rPr lang="en-US" sz="2800" dirty="0">
                <a:solidFill>
                  <a:srgbClr val="1A2433"/>
                </a:solidFill>
                <a:latin typeface="Cambria" pitchFamily="34" charset="0"/>
                <a:ea typeface="Cambria" pitchFamily="34" charset="-122"/>
                <a:cs typeface="Cambria" pitchFamily="34" charset="-120"/>
              </a:rPr>
              <a:t>Ensemble ROC-AUC 0.891 ± 0.008</a:t>
            </a:r>
            <a:endParaRPr lang="en-US" sz="2800" dirty="0"/>
          </a:p>
        </p:txBody>
      </p:sp>
      <p:sp>
        <p:nvSpPr>
          <p:cNvPr id="7" name="Shape 4"/>
          <p:cNvSpPr/>
          <p:nvPr/>
        </p:nvSpPr>
        <p:spPr>
          <a:xfrm>
            <a:off x="685800" y="2377440"/>
            <a:ext cx="5486400" cy="512064"/>
          </a:xfrm>
          <a:prstGeom prst="roundRect">
            <a:avLst>
              <a:gd name="adj" fmla="val 14286"/>
            </a:avLst>
          </a:prstGeom>
          <a:solidFill>
            <a:srgbClr val="FBE8EA"/>
          </a:solidFill>
          <a:ln w="9525">
            <a:solidFill>
              <a:srgbClr val="D1495B"/>
            </a:solidFill>
            <a:prstDash val="solid"/>
          </a:ln>
        </p:spPr>
      </p:sp>
      <p:sp>
        <p:nvSpPr>
          <p:cNvPr id="8" name="Shape 5"/>
          <p:cNvSpPr/>
          <p:nvPr/>
        </p:nvSpPr>
        <p:spPr>
          <a:xfrm>
            <a:off x="868680" y="2569464"/>
            <a:ext cx="128016" cy="128016"/>
          </a:xfrm>
          <a:prstGeom prst="ellipse">
            <a:avLst/>
          </a:prstGeom>
          <a:solidFill>
            <a:srgbClr val="D1495B"/>
          </a:solidFill>
          <a:ln/>
        </p:spPr>
      </p:sp>
      <p:sp>
        <p:nvSpPr>
          <p:cNvPr id="9" name="Text 6"/>
          <p:cNvSpPr/>
          <p:nvPr/>
        </p:nvSpPr>
        <p:spPr>
          <a:xfrm>
            <a:off x="1097280" y="2377440"/>
            <a:ext cx="3657600" cy="512064"/>
          </a:xfrm>
          <a:prstGeom prst="rect">
            <a:avLst/>
          </a:prstGeom>
          <a:noFill/>
          <a:ln/>
        </p:spPr>
        <p:txBody>
          <a:bodyPr wrap="square" rtlCol="0" anchor="ctr"/>
          <a:lstStyle/>
          <a:p>
            <a:pPr indent="0" marL="0">
              <a:buNone/>
            </a:pPr>
            <a:r>
              <a:rPr lang="en-US" sz="1250" dirty="0">
                <a:solidFill>
                  <a:srgbClr val="0B2545"/>
                </a:solidFill>
                <a:latin typeface="Calibri" pitchFamily="34" charset="0"/>
                <a:ea typeface="Calibri" pitchFamily="34" charset="-122"/>
                <a:cs typeface="Calibri" pitchFamily="34" charset="-120"/>
              </a:rPr>
              <a:t>Equal-average ensemble</a:t>
            </a:r>
            <a:endParaRPr lang="en-US" sz="1250" dirty="0"/>
          </a:p>
        </p:txBody>
      </p:sp>
      <p:sp>
        <p:nvSpPr>
          <p:cNvPr id="10" name="Text 7"/>
          <p:cNvSpPr/>
          <p:nvPr/>
        </p:nvSpPr>
        <p:spPr>
          <a:xfrm>
            <a:off x="4617720" y="2377440"/>
            <a:ext cx="1371600" cy="512064"/>
          </a:xfrm>
          <a:prstGeom prst="rect">
            <a:avLst/>
          </a:prstGeom>
          <a:noFill/>
          <a:ln/>
        </p:spPr>
        <p:txBody>
          <a:bodyPr wrap="square" rtlCol="0" anchor="ctr"/>
          <a:lstStyle/>
          <a:p>
            <a:pPr algn="r" indent="0" marL="0">
              <a:buNone/>
            </a:pPr>
            <a:r>
              <a:rPr lang="en-US" sz="1400" b="1" dirty="0">
                <a:solidFill>
                  <a:srgbClr val="1A2433"/>
                </a:solidFill>
                <a:latin typeface="Courier New" pitchFamily="34" charset="0"/>
                <a:ea typeface="Courier New" pitchFamily="34" charset="-122"/>
                <a:cs typeface="Courier New" pitchFamily="34" charset="-120"/>
              </a:rPr>
              <a:t>0.891</a:t>
            </a:r>
            <a:endParaRPr lang="en-US" sz="1400" dirty="0"/>
          </a:p>
        </p:txBody>
      </p:sp>
      <p:sp>
        <p:nvSpPr>
          <p:cNvPr id="11" name="Shape 8"/>
          <p:cNvSpPr/>
          <p:nvPr/>
        </p:nvSpPr>
        <p:spPr>
          <a:xfrm>
            <a:off x="685800" y="2999232"/>
            <a:ext cx="5486400" cy="512064"/>
          </a:xfrm>
          <a:prstGeom prst="roundRect">
            <a:avLst>
              <a:gd name="adj" fmla="val 14286"/>
            </a:avLst>
          </a:prstGeom>
          <a:solidFill>
            <a:srgbClr val="FFFFFF"/>
          </a:solidFill>
          <a:ln w="9525">
            <a:solidFill>
              <a:srgbClr val="DCE6F0"/>
            </a:solidFill>
            <a:prstDash val="solid"/>
          </a:ln>
        </p:spPr>
      </p:sp>
      <p:sp>
        <p:nvSpPr>
          <p:cNvPr id="12" name="Shape 9"/>
          <p:cNvSpPr/>
          <p:nvPr/>
        </p:nvSpPr>
        <p:spPr>
          <a:xfrm>
            <a:off x="868680" y="3191256"/>
            <a:ext cx="128016" cy="128016"/>
          </a:xfrm>
          <a:prstGeom prst="ellipse">
            <a:avLst/>
          </a:prstGeom>
          <a:solidFill>
            <a:srgbClr val="F2A900"/>
          </a:solidFill>
          <a:ln/>
        </p:spPr>
      </p:sp>
      <p:sp>
        <p:nvSpPr>
          <p:cNvPr id="13" name="Text 10"/>
          <p:cNvSpPr/>
          <p:nvPr/>
        </p:nvSpPr>
        <p:spPr>
          <a:xfrm>
            <a:off x="1097280" y="2999232"/>
            <a:ext cx="3657600" cy="512064"/>
          </a:xfrm>
          <a:prstGeom prst="rect">
            <a:avLst/>
          </a:prstGeom>
          <a:noFill/>
          <a:ln/>
        </p:spPr>
        <p:txBody>
          <a:bodyPr wrap="square" rtlCol="0" anchor="ctr"/>
          <a:lstStyle/>
          <a:p>
            <a:pPr indent="0" marL="0">
              <a:buNone/>
            </a:pPr>
            <a:r>
              <a:rPr lang="en-US" sz="1250" dirty="0">
                <a:solidFill>
                  <a:srgbClr val="0B2545"/>
                </a:solidFill>
                <a:latin typeface="Calibri" pitchFamily="34" charset="0"/>
                <a:ea typeface="Calibri" pitchFamily="34" charset="-122"/>
                <a:cs typeface="Calibri" pitchFamily="34" charset="-120"/>
              </a:rPr>
              <a:t>EfficientNet-B4</a:t>
            </a:r>
            <a:endParaRPr lang="en-US" sz="1250" dirty="0"/>
          </a:p>
        </p:txBody>
      </p:sp>
      <p:sp>
        <p:nvSpPr>
          <p:cNvPr id="14" name="Text 11"/>
          <p:cNvSpPr/>
          <p:nvPr/>
        </p:nvSpPr>
        <p:spPr>
          <a:xfrm>
            <a:off x="4617720" y="2999232"/>
            <a:ext cx="1371600" cy="512064"/>
          </a:xfrm>
          <a:prstGeom prst="rect">
            <a:avLst/>
          </a:prstGeom>
          <a:noFill/>
          <a:ln/>
        </p:spPr>
        <p:txBody>
          <a:bodyPr wrap="square" rtlCol="0" anchor="ctr"/>
          <a:lstStyle/>
          <a:p>
            <a:pPr algn="r" indent="0" marL="0">
              <a:buNone/>
            </a:pPr>
            <a:r>
              <a:rPr lang="en-US" sz="1400" b="1" dirty="0">
                <a:solidFill>
                  <a:srgbClr val="1A2433"/>
                </a:solidFill>
                <a:latin typeface="Courier New" pitchFamily="34" charset="0"/>
                <a:ea typeface="Courier New" pitchFamily="34" charset="-122"/>
                <a:cs typeface="Courier New" pitchFamily="34" charset="-120"/>
              </a:rPr>
              <a:t>0.882</a:t>
            </a:r>
            <a:endParaRPr lang="en-US" sz="1400" dirty="0"/>
          </a:p>
        </p:txBody>
      </p:sp>
      <p:sp>
        <p:nvSpPr>
          <p:cNvPr id="15" name="Shape 12"/>
          <p:cNvSpPr/>
          <p:nvPr/>
        </p:nvSpPr>
        <p:spPr>
          <a:xfrm>
            <a:off x="685800" y="3621024"/>
            <a:ext cx="5486400" cy="512064"/>
          </a:xfrm>
          <a:prstGeom prst="roundRect">
            <a:avLst>
              <a:gd name="adj" fmla="val 14286"/>
            </a:avLst>
          </a:prstGeom>
          <a:solidFill>
            <a:srgbClr val="FFFFFF"/>
          </a:solidFill>
          <a:ln w="9525">
            <a:solidFill>
              <a:srgbClr val="DCE6F0"/>
            </a:solidFill>
            <a:prstDash val="solid"/>
          </a:ln>
        </p:spPr>
      </p:sp>
      <p:sp>
        <p:nvSpPr>
          <p:cNvPr id="16" name="Shape 13"/>
          <p:cNvSpPr/>
          <p:nvPr/>
        </p:nvSpPr>
        <p:spPr>
          <a:xfrm>
            <a:off x="868680" y="3813048"/>
            <a:ext cx="128016" cy="128016"/>
          </a:xfrm>
          <a:prstGeom prst="ellipse">
            <a:avLst/>
          </a:prstGeom>
          <a:solidFill>
            <a:srgbClr val="0B2545"/>
          </a:solidFill>
          <a:ln/>
        </p:spPr>
      </p:sp>
      <p:sp>
        <p:nvSpPr>
          <p:cNvPr id="17" name="Text 14"/>
          <p:cNvSpPr/>
          <p:nvPr/>
        </p:nvSpPr>
        <p:spPr>
          <a:xfrm>
            <a:off x="1097280" y="3621024"/>
            <a:ext cx="3657600" cy="512064"/>
          </a:xfrm>
          <a:prstGeom prst="rect">
            <a:avLst/>
          </a:prstGeom>
          <a:noFill/>
          <a:ln/>
        </p:spPr>
        <p:txBody>
          <a:bodyPr wrap="square" rtlCol="0" anchor="ctr"/>
          <a:lstStyle/>
          <a:p>
            <a:pPr indent="0" marL="0">
              <a:buNone/>
            </a:pPr>
            <a:r>
              <a:rPr lang="en-US" sz="1250" dirty="0">
                <a:solidFill>
                  <a:srgbClr val="0B2545"/>
                </a:solidFill>
                <a:latin typeface="Calibri" pitchFamily="34" charset="0"/>
                <a:ea typeface="Calibri" pitchFamily="34" charset="-122"/>
                <a:cs typeface="Calibri" pitchFamily="34" charset="-120"/>
              </a:rPr>
              <a:t>Fold-selected single best</a:t>
            </a:r>
            <a:endParaRPr lang="en-US" sz="1250" dirty="0"/>
          </a:p>
        </p:txBody>
      </p:sp>
      <p:sp>
        <p:nvSpPr>
          <p:cNvPr id="18" name="Text 15"/>
          <p:cNvSpPr/>
          <p:nvPr/>
        </p:nvSpPr>
        <p:spPr>
          <a:xfrm>
            <a:off x="4617720" y="3621024"/>
            <a:ext cx="1371600" cy="512064"/>
          </a:xfrm>
          <a:prstGeom prst="rect">
            <a:avLst/>
          </a:prstGeom>
          <a:noFill/>
          <a:ln/>
        </p:spPr>
        <p:txBody>
          <a:bodyPr wrap="square" rtlCol="0" anchor="ctr"/>
          <a:lstStyle/>
          <a:p>
            <a:pPr algn="r" indent="0" marL="0">
              <a:buNone/>
            </a:pPr>
            <a:r>
              <a:rPr lang="en-US" sz="1400" b="1" dirty="0">
                <a:solidFill>
                  <a:srgbClr val="1A2433"/>
                </a:solidFill>
                <a:latin typeface="Courier New" pitchFamily="34" charset="0"/>
                <a:ea typeface="Courier New" pitchFamily="34" charset="-122"/>
                <a:cs typeface="Courier New" pitchFamily="34" charset="-120"/>
              </a:rPr>
              <a:t>0.878</a:t>
            </a:r>
            <a:endParaRPr lang="en-US" sz="1400" dirty="0"/>
          </a:p>
        </p:txBody>
      </p:sp>
      <p:sp>
        <p:nvSpPr>
          <p:cNvPr id="19" name="Shape 16"/>
          <p:cNvSpPr/>
          <p:nvPr/>
        </p:nvSpPr>
        <p:spPr>
          <a:xfrm>
            <a:off x="685800" y="4242816"/>
            <a:ext cx="5486400" cy="512064"/>
          </a:xfrm>
          <a:prstGeom prst="roundRect">
            <a:avLst>
              <a:gd name="adj" fmla="val 14286"/>
            </a:avLst>
          </a:prstGeom>
          <a:solidFill>
            <a:srgbClr val="FFFFFF"/>
          </a:solidFill>
          <a:ln w="9525">
            <a:solidFill>
              <a:srgbClr val="DCE6F0"/>
            </a:solidFill>
            <a:prstDash val="solid"/>
          </a:ln>
        </p:spPr>
      </p:sp>
      <p:sp>
        <p:nvSpPr>
          <p:cNvPr id="20" name="Shape 17"/>
          <p:cNvSpPr/>
          <p:nvPr/>
        </p:nvSpPr>
        <p:spPr>
          <a:xfrm>
            <a:off x="868680" y="4434840"/>
            <a:ext cx="128016" cy="128016"/>
          </a:xfrm>
          <a:prstGeom prst="ellipse">
            <a:avLst/>
          </a:prstGeom>
          <a:solidFill>
            <a:srgbClr val="3E7CB1"/>
          </a:solidFill>
          <a:ln/>
        </p:spPr>
      </p:sp>
      <p:sp>
        <p:nvSpPr>
          <p:cNvPr id="21" name="Text 18"/>
          <p:cNvSpPr/>
          <p:nvPr/>
        </p:nvSpPr>
        <p:spPr>
          <a:xfrm>
            <a:off x="1097280" y="4242816"/>
            <a:ext cx="3657600" cy="512064"/>
          </a:xfrm>
          <a:prstGeom prst="rect">
            <a:avLst/>
          </a:prstGeom>
          <a:noFill/>
          <a:ln/>
        </p:spPr>
        <p:txBody>
          <a:bodyPr wrap="square" rtlCol="0" anchor="ctr"/>
          <a:lstStyle/>
          <a:p>
            <a:pPr indent="0" marL="0">
              <a:buNone/>
            </a:pPr>
            <a:r>
              <a:rPr lang="en-US" sz="1250" dirty="0">
                <a:solidFill>
                  <a:srgbClr val="0B2545"/>
                </a:solidFill>
                <a:latin typeface="Calibri" pitchFamily="34" charset="0"/>
                <a:ea typeface="Calibri" pitchFamily="34" charset="-122"/>
                <a:cs typeface="Calibri" pitchFamily="34" charset="-120"/>
              </a:rPr>
              <a:t>ConvNeXtV2-Tiny</a:t>
            </a:r>
            <a:endParaRPr lang="en-US" sz="1250" dirty="0"/>
          </a:p>
        </p:txBody>
      </p:sp>
      <p:sp>
        <p:nvSpPr>
          <p:cNvPr id="22" name="Text 19"/>
          <p:cNvSpPr/>
          <p:nvPr/>
        </p:nvSpPr>
        <p:spPr>
          <a:xfrm>
            <a:off x="4617720" y="4242816"/>
            <a:ext cx="1371600" cy="512064"/>
          </a:xfrm>
          <a:prstGeom prst="rect">
            <a:avLst/>
          </a:prstGeom>
          <a:noFill/>
          <a:ln/>
        </p:spPr>
        <p:txBody>
          <a:bodyPr wrap="square" rtlCol="0" anchor="ctr"/>
          <a:lstStyle/>
          <a:p>
            <a:pPr algn="r" indent="0" marL="0">
              <a:buNone/>
            </a:pPr>
            <a:r>
              <a:rPr lang="en-US" sz="1400" b="1" dirty="0">
                <a:solidFill>
                  <a:srgbClr val="1A2433"/>
                </a:solidFill>
                <a:latin typeface="Courier New" pitchFamily="34" charset="0"/>
                <a:ea typeface="Courier New" pitchFamily="34" charset="-122"/>
                <a:cs typeface="Courier New" pitchFamily="34" charset="-120"/>
              </a:rPr>
              <a:t>0.857</a:t>
            </a:r>
            <a:endParaRPr lang="en-US" sz="1400" dirty="0"/>
          </a:p>
        </p:txBody>
      </p:sp>
      <p:sp>
        <p:nvSpPr>
          <p:cNvPr id="23" name="Text 20"/>
          <p:cNvSpPr/>
          <p:nvPr/>
        </p:nvSpPr>
        <p:spPr>
          <a:xfrm>
            <a:off x="685800" y="4983480"/>
            <a:ext cx="5486400" cy="36576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PR-AUC 0.830 ± 0.012 · 95% t-interval 0.872–0.910</a:t>
            </a:r>
            <a:endParaRPr lang="en-US" sz="1050" dirty="0"/>
          </a:p>
        </p:txBody>
      </p:sp>
      <p:graphicFrame>
        <p:nvGraphicFramePr>
          <p:cNvPr id="24" name="Chart 0" descr=""/>
          <p:cNvGraphicFramePr/>
          <p:nvPr/>
        </p:nvGraphicFramePr>
        <p:xfrm>
          <a:off x="6675120" y="1005840"/>
          <a:ext cx="4846320" cy="42062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ABLATION</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A2433"/>
                </a:solidFill>
                <a:latin typeface="Cambria" pitchFamily="34" charset="0"/>
                <a:ea typeface="Cambria" pitchFamily="34" charset="-122"/>
                <a:cs typeface="Cambria" pitchFamily="34" charset="-120"/>
              </a:rPr>
              <a:t>Best on 5 of 6 metrics — without learning any weights.</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2514600"/>
          <a:ext cx="10820095" cy="3291840"/>
        </p:xfrm>
        <a:graphic>
          <a:graphicData uri="http://schemas.openxmlformats.org/drawingml/2006/table">
            <a:tbl>
              <a:tblPr/>
              <a:tblGrid>
                <a:gridCol w="3017520"/>
                <a:gridCol w="1950644"/>
                <a:gridCol w="1950644"/>
                <a:gridCol w="1950644"/>
                <a:gridCol w="1950644"/>
              </a:tblGrid>
              <a:tr h="470263">
                <a:tc>
                  <a:txBody>
                    <a:bodyPr/>
                    <a:lstStyle/>
                    <a:p>
                      <a:pPr indent="0" marL="0">
                        <a:buNone/>
                      </a:pPr>
                      <a:r>
                        <a:rPr lang="en-US" sz="1050" b="1" dirty="0">
                          <a:solidFill>
                            <a:srgbClr val="5C6B7A"/>
                          </a:solidFill>
                          <a:latin typeface="Calibri" pitchFamily="34" charset="0"/>
                          <a:ea typeface="Calibri" pitchFamily="34" charset="-122"/>
                          <a:cs typeface="Calibri" pitchFamily="34" charset="-120"/>
                        </a:rPr>
                        <a:t>Metric</a:t>
                      </a:r>
                      <a:endParaRPr lang="en-US" sz="105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050" b="1" dirty="0">
                          <a:solidFill>
                            <a:srgbClr val="5C6B7A"/>
                          </a:solidFill>
                          <a:latin typeface="Calibri" pitchFamily="34" charset="0"/>
                          <a:ea typeface="Calibri" pitchFamily="34" charset="-122"/>
                          <a:cs typeface="Calibri" pitchFamily="34" charset="-120"/>
                        </a:rPr>
                        <a:t>EfficientNet-B4</a:t>
                      </a:r>
                      <a:endParaRPr lang="en-US" sz="105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050" b="1" dirty="0">
                          <a:solidFill>
                            <a:srgbClr val="5C6B7A"/>
                          </a:solidFill>
                          <a:latin typeface="Calibri" pitchFamily="34" charset="0"/>
                          <a:ea typeface="Calibri" pitchFamily="34" charset="-122"/>
                          <a:cs typeface="Calibri" pitchFamily="34" charset="-120"/>
                        </a:rPr>
                        <a:t>ConvNeXtV2-Tiny</a:t>
                      </a:r>
                      <a:endParaRPr lang="en-US" sz="105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050" b="1" dirty="0">
                          <a:solidFill>
                            <a:srgbClr val="5C6B7A"/>
                          </a:solidFill>
                          <a:latin typeface="Calibri" pitchFamily="34" charset="0"/>
                          <a:ea typeface="Calibri" pitchFamily="34" charset="-122"/>
                          <a:cs typeface="Calibri" pitchFamily="34" charset="-120"/>
                        </a:rPr>
                        <a:t>Single-best</a:t>
                      </a:r>
                      <a:endParaRPr lang="en-US" sz="105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050" b="1" dirty="0">
                          <a:solidFill>
                            <a:srgbClr val="D1495B"/>
                          </a:solidFill>
                          <a:latin typeface="Calibri" pitchFamily="34" charset="0"/>
                          <a:ea typeface="Calibri" pitchFamily="34" charset="-122"/>
                          <a:cs typeface="Calibri" pitchFamily="34" charset="-120"/>
                        </a:rPr>
                        <a:t>Equal-average</a:t>
                      </a:r>
                      <a:endParaRPr lang="en-US" sz="105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r>
              <a:tr h="470263">
                <a:tc>
                  <a:txBody>
                    <a:bodyPr/>
                    <a:lstStyle/>
                    <a:p>
                      <a:pPr indent="0" marL="0">
                        <a:buNone/>
                      </a:pPr>
                      <a:r>
                        <a:rPr lang="en-US" sz="1200" dirty="0">
                          <a:solidFill>
                            <a:srgbClr val="0B2545"/>
                          </a:solidFill>
                          <a:latin typeface="Calibri" pitchFamily="34" charset="0"/>
                          <a:ea typeface="Calibri" pitchFamily="34" charset="-122"/>
                          <a:cs typeface="Calibri" pitchFamily="34" charset="-120"/>
                        </a:rPr>
                        <a:t>ROC-AUC</a:t>
                      </a:r>
                      <a:endParaRPr lang="en-US" sz="120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0.8820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0.8572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0.8775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2433"/>
                          </a:solidFill>
                          <a:latin typeface="Courier New" pitchFamily="34" charset="0"/>
                          <a:ea typeface="Courier New" pitchFamily="34" charset="-122"/>
                          <a:cs typeface="Courier New" pitchFamily="34" charset="-120"/>
                        </a:rPr>
                        <a:t>0.8912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BE8EA"/>
                    </a:solidFill>
                  </a:tcPr>
                </a:tc>
              </a:tr>
              <a:tr h="470263">
                <a:tc>
                  <a:txBody>
                    <a:bodyPr/>
                    <a:lstStyle/>
                    <a:p>
                      <a:pPr indent="0" marL="0">
                        <a:buNone/>
                      </a:pPr>
                      <a:r>
                        <a:rPr lang="en-US" sz="1200" dirty="0">
                          <a:solidFill>
                            <a:srgbClr val="0B2545"/>
                          </a:solidFill>
                          <a:latin typeface="Calibri" pitchFamily="34" charset="0"/>
                          <a:ea typeface="Calibri" pitchFamily="34" charset="-122"/>
                          <a:cs typeface="Calibri" pitchFamily="34" charset="-120"/>
                        </a:rPr>
                        <a:t>PR-AUC</a:t>
                      </a:r>
                      <a:endParaRPr lang="en-US" sz="120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0.8198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0.7821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0.8078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2433"/>
                          </a:solidFill>
                          <a:latin typeface="Courier New" pitchFamily="34" charset="0"/>
                          <a:ea typeface="Courier New" pitchFamily="34" charset="-122"/>
                          <a:cs typeface="Courier New" pitchFamily="34" charset="-120"/>
                        </a:rPr>
                        <a:t>0.8304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BE8EA"/>
                    </a:solidFill>
                  </a:tcPr>
                </a:tc>
              </a:tr>
              <a:tr h="470263">
                <a:tc>
                  <a:txBody>
                    <a:bodyPr/>
                    <a:lstStyle/>
                    <a:p>
                      <a:pPr indent="0" marL="0">
                        <a:buNone/>
                      </a:pPr>
                      <a:r>
                        <a:rPr lang="en-US" sz="1200" dirty="0">
                          <a:solidFill>
                            <a:srgbClr val="0B2545"/>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0.8071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0.7777</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0.7931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2433"/>
                          </a:solidFill>
                          <a:latin typeface="Courier New" pitchFamily="34" charset="0"/>
                          <a:ea typeface="Courier New" pitchFamily="34" charset="-122"/>
                          <a:cs typeface="Courier New" pitchFamily="34" charset="-120"/>
                        </a:rPr>
                        <a:t>0.8120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BE8EA"/>
                    </a:solidFill>
                  </a:tcPr>
                </a:tc>
              </a:tr>
              <a:tr h="470263">
                <a:tc>
                  <a:txBody>
                    <a:bodyPr/>
                    <a:lstStyle/>
                    <a:p>
                      <a:pPr indent="0" marL="0">
                        <a:buNone/>
                      </a:pPr>
                      <a:r>
                        <a:rPr lang="en-US" sz="1200" dirty="0">
                          <a:solidFill>
                            <a:srgbClr val="0B2545"/>
                          </a:solidFill>
                          <a:latin typeface="Calibri" pitchFamily="34" charset="0"/>
                          <a:ea typeface="Calibri" pitchFamily="34" charset="-122"/>
                          <a:cs typeface="Calibri" pitchFamily="34" charset="-120"/>
                        </a:rPr>
                        <a:t>Sensitivity</a:t>
                      </a:r>
                      <a:endParaRPr lang="en-US" sz="120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200" b="1" dirty="0">
                          <a:solidFill>
                            <a:srgbClr val="1A2433"/>
                          </a:solidFill>
                          <a:latin typeface="Courier New" pitchFamily="34" charset="0"/>
                          <a:ea typeface="Courier New" pitchFamily="34" charset="-122"/>
                          <a:cs typeface="Courier New" pitchFamily="34" charset="-120"/>
                        </a:rPr>
                        <a:t>0.6515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0.5517</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0.5832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0.6188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BE8EA"/>
                    </a:solidFill>
                  </a:tcPr>
                </a:tc>
              </a:tr>
              <a:tr h="470263">
                <a:tc>
                  <a:txBody>
                    <a:bodyPr/>
                    <a:lstStyle/>
                    <a:p>
                      <a:pPr indent="0" marL="0">
                        <a:buNone/>
                      </a:pPr>
                      <a:r>
                        <a:rPr lang="en-US" sz="1200" dirty="0">
                          <a:solidFill>
                            <a:srgbClr val="0B2545"/>
                          </a:solidFill>
                          <a:latin typeface="Calibri" pitchFamily="34" charset="0"/>
                          <a:ea typeface="Calibri" pitchFamily="34" charset="-122"/>
                          <a:cs typeface="Calibri" pitchFamily="34" charset="-120"/>
                        </a:rPr>
                        <a:t>Specificity</a:t>
                      </a:r>
                      <a:endParaRPr lang="en-US" sz="120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0.8992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0.9115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0.9174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2433"/>
                          </a:solidFill>
                          <a:latin typeface="Courier New" pitchFamily="34" charset="0"/>
                          <a:ea typeface="Courier New" pitchFamily="34" charset="-122"/>
                          <a:cs typeface="Courier New" pitchFamily="34" charset="-120"/>
                        </a:rPr>
                        <a:t>0.9264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BE8EA"/>
                    </a:solidFill>
                  </a:tcPr>
                </a:tc>
              </a:tr>
              <a:tr h="470263">
                <a:tc>
                  <a:txBody>
                    <a:bodyPr/>
                    <a:lstStyle/>
                    <a:p>
                      <a:pPr indent="0" marL="0">
                        <a:buNone/>
                      </a:pPr>
                      <a:r>
                        <a:rPr lang="en-US" sz="1200" dirty="0">
                          <a:solidFill>
                            <a:srgbClr val="0B2545"/>
                          </a:solidFill>
                          <a:latin typeface="Calibri" pitchFamily="34" charset="0"/>
                          <a:ea typeface="Calibri" pitchFamily="34" charset="-122"/>
                          <a:cs typeface="Calibri" pitchFamily="34" charset="-120"/>
                        </a:rPr>
                        <a:t>PPV</a:t>
                      </a:r>
                      <a:endParaRPr lang="en-US" sz="1200" dirty="0">
                        <a:latin typeface="Calibri" charset="0"/>
                        <a:ea typeface="Calibri" charset="0"/>
                        <a:cs typeface="Calibri"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0.7938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0.7900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5C6B7A"/>
                          </a:solidFill>
                          <a:latin typeface="Courier New" pitchFamily="34" charset="0"/>
                          <a:ea typeface="Courier New" pitchFamily="34" charset="-122"/>
                          <a:cs typeface="Courier New" pitchFamily="34" charset="-120"/>
                        </a:rPr>
                        <a:t>0.8071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2433"/>
                          </a:solidFill>
                          <a:latin typeface="Courier New" pitchFamily="34" charset="0"/>
                          <a:ea typeface="Courier New" pitchFamily="34" charset="-122"/>
                          <a:cs typeface="Courier New" pitchFamily="34" charset="-120"/>
                        </a:rPr>
                        <a:t>0.8335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DCE6F0"/>
                      </a:solidFill>
                      <a:prstDash val="solid"/>
                      <a:round/>
                      <a:headEnd type="none" w="med" len="med"/>
                      <a:tailEnd type="none" w="med" len="med"/>
                    </a:lnL>
                    <a:lnR w="6350" cap="flat" cmpd="sng" algn="ctr">
                      <a:solidFill>
                        <a:srgbClr val="DCE6F0"/>
                      </a:solidFill>
                      <a:prstDash val="solid"/>
                      <a:round/>
                      <a:headEnd type="none" w="med" len="med"/>
                      <a:tailEnd type="none" w="med" len="med"/>
                    </a:lnR>
                    <a:lnT w="6350" cap="flat" cmpd="sng" algn="ctr">
                      <a:solidFill>
                        <a:srgbClr val="DCE6F0"/>
                      </a:solidFill>
                      <a:prstDash val="solid"/>
                      <a:round/>
                      <a:headEnd type="none" w="med" len="med"/>
                      <a:tailEnd type="none" w="med" len="med"/>
                    </a:lnT>
                    <a:lnB w="6350" cap="flat" cmpd="sng" algn="ctr">
                      <a:solidFill>
                        <a:srgbClr val="DCE6F0"/>
                      </a:solidFill>
                      <a:prstDash val="solid"/>
                      <a:round/>
                      <a:headEnd type="none" w="med" len="med"/>
                      <a:tailEnd type="none" w="med" len="med"/>
                    </a:lnB>
                    <a:solidFill>
                      <a:srgbClr val="FBE8EA"/>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OPERATING POINT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A2433"/>
                </a:solidFill>
                <a:latin typeface="Cambria" pitchFamily="34" charset="0"/>
                <a:ea typeface="Cambria" pitchFamily="34" charset="-122"/>
                <a:cs typeface="Cambria" pitchFamily="34" charset="-120"/>
              </a:rPr>
              <a:t>Youden threshold: sensitivity 0.62 → 0.79</a:t>
            </a:r>
            <a:endParaRPr lang="en-US" sz="2700" dirty="0"/>
          </a:p>
        </p:txBody>
      </p:sp>
      <p:sp>
        <p:nvSpPr>
          <p:cNvPr id="7" name="Shape 4"/>
          <p:cNvSpPr/>
          <p:nvPr/>
        </p:nvSpPr>
        <p:spPr>
          <a:xfrm>
            <a:off x="685800" y="2514600"/>
            <a:ext cx="5272888" cy="3017520"/>
          </a:xfrm>
          <a:prstGeom prst="roundRect">
            <a:avLst>
              <a:gd name="adj" fmla="val 3030"/>
            </a:avLst>
          </a:prstGeom>
          <a:solidFill>
            <a:srgbClr val="FFFFFF"/>
          </a:solidFill>
          <a:ln w="9525">
            <a:solidFill>
              <a:srgbClr val="DCE6F0"/>
            </a:solidFill>
            <a:prstDash val="solid"/>
          </a:ln>
        </p:spPr>
      </p:sp>
      <p:sp>
        <p:nvSpPr>
          <p:cNvPr id="8" name="Text 5"/>
          <p:cNvSpPr/>
          <p:nvPr/>
        </p:nvSpPr>
        <p:spPr>
          <a:xfrm>
            <a:off x="960120" y="2697480"/>
            <a:ext cx="4724248" cy="36576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Threshold 0.5</a:t>
            </a:r>
            <a:endParaRPr lang="en-US" sz="1400" dirty="0"/>
          </a:p>
        </p:txBody>
      </p:sp>
      <p:sp>
        <p:nvSpPr>
          <p:cNvPr id="9" name="Text 6"/>
          <p:cNvSpPr/>
          <p:nvPr/>
        </p:nvSpPr>
        <p:spPr>
          <a:xfrm>
            <a:off x="960120" y="3200400"/>
            <a:ext cx="1574749" cy="548640"/>
          </a:xfrm>
          <a:prstGeom prst="rect">
            <a:avLst/>
          </a:prstGeom>
          <a:noFill/>
          <a:ln/>
        </p:spPr>
        <p:txBody>
          <a:bodyPr wrap="square" rtlCol="0" anchor="ctr"/>
          <a:lstStyle/>
          <a:p>
            <a:pPr algn="ctr" indent="0" marL="0">
              <a:buNone/>
            </a:pPr>
            <a:r>
              <a:rPr lang="en-US" sz="2200" dirty="0">
                <a:solidFill>
                  <a:srgbClr val="1A2433"/>
                </a:solidFill>
                <a:latin typeface="Cambria" pitchFamily="34" charset="0"/>
                <a:ea typeface="Cambria" pitchFamily="34" charset="-122"/>
                <a:cs typeface="Cambria" pitchFamily="34" charset="-120"/>
              </a:rPr>
              <a:t>0.619</a:t>
            </a:r>
            <a:endParaRPr lang="en-US" sz="2200" dirty="0"/>
          </a:p>
        </p:txBody>
      </p:sp>
      <p:sp>
        <p:nvSpPr>
          <p:cNvPr id="10" name="Text 7"/>
          <p:cNvSpPr/>
          <p:nvPr/>
        </p:nvSpPr>
        <p:spPr>
          <a:xfrm>
            <a:off x="960120" y="3749040"/>
            <a:ext cx="1574749" cy="274320"/>
          </a:xfrm>
          <a:prstGeom prst="rect">
            <a:avLst/>
          </a:prstGeom>
          <a:noFill/>
          <a:ln/>
        </p:spPr>
        <p:txBody>
          <a:bodyPr wrap="square" rtlCol="0" anchor="ctr"/>
          <a:lstStyle/>
          <a:p>
            <a:pPr algn="ctr" indent="0" marL="0">
              <a:buNone/>
            </a:pPr>
            <a:r>
              <a:rPr lang="en-US" sz="950" dirty="0">
                <a:solidFill>
                  <a:srgbClr val="5C6B7A"/>
                </a:solidFill>
                <a:latin typeface="Calibri" pitchFamily="34" charset="0"/>
                <a:ea typeface="Calibri" pitchFamily="34" charset="-122"/>
                <a:cs typeface="Calibri" pitchFamily="34" charset="-120"/>
              </a:rPr>
              <a:t>Sensitivity</a:t>
            </a:r>
            <a:endParaRPr lang="en-US" sz="950" dirty="0"/>
          </a:p>
        </p:txBody>
      </p:sp>
      <p:sp>
        <p:nvSpPr>
          <p:cNvPr id="11" name="Text 8"/>
          <p:cNvSpPr/>
          <p:nvPr/>
        </p:nvSpPr>
        <p:spPr>
          <a:xfrm>
            <a:off x="2534869" y="3200400"/>
            <a:ext cx="1574749" cy="548640"/>
          </a:xfrm>
          <a:prstGeom prst="rect">
            <a:avLst/>
          </a:prstGeom>
          <a:noFill/>
          <a:ln/>
        </p:spPr>
        <p:txBody>
          <a:bodyPr wrap="square" rtlCol="0" anchor="ctr"/>
          <a:lstStyle/>
          <a:p>
            <a:pPr algn="ctr" indent="0" marL="0">
              <a:buNone/>
            </a:pPr>
            <a:r>
              <a:rPr lang="en-US" sz="2200" dirty="0">
                <a:solidFill>
                  <a:srgbClr val="1A2433"/>
                </a:solidFill>
                <a:latin typeface="Cambria" pitchFamily="34" charset="0"/>
                <a:ea typeface="Cambria" pitchFamily="34" charset="-122"/>
                <a:cs typeface="Cambria" pitchFamily="34" charset="-120"/>
              </a:rPr>
              <a:t>0.926</a:t>
            </a:r>
            <a:endParaRPr lang="en-US" sz="2200" dirty="0"/>
          </a:p>
        </p:txBody>
      </p:sp>
      <p:sp>
        <p:nvSpPr>
          <p:cNvPr id="12" name="Text 9"/>
          <p:cNvSpPr/>
          <p:nvPr/>
        </p:nvSpPr>
        <p:spPr>
          <a:xfrm>
            <a:off x="2534869" y="3749040"/>
            <a:ext cx="1574749" cy="274320"/>
          </a:xfrm>
          <a:prstGeom prst="rect">
            <a:avLst/>
          </a:prstGeom>
          <a:noFill/>
          <a:ln/>
        </p:spPr>
        <p:txBody>
          <a:bodyPr wrap="square" rtlCol="0" anchor="ctr"/>
          <a:lstStyle/>
          <a:p>
            <a:pPr algn="ctr" indent="0" marL="0">
              <a:buNone/>
            </a:pPr>
            <a:r>
              <a:rPr lang="en-US" sz="950" dirty="0">
                <a:solidFill>
                  <a:srgbClr val="5C6B7A"/>
                </a:solidFill>
                <a:latin typeface="Calibri" pitchFamily="34" charset="0"/>
                <a:ea typeface="Calibri" pitchFamily="34" charset="-122"/>
                <a:cs typeface="Calibri" pitchFamily="34" charset="-120"/>
              </a:rPr>
              <a:t>Specificity</a:t>
            </a:r>
            <a:endParaRPr lang="en-US" sz="950" dirty="0"/>
          </a:p>
        </p:txBody>
      </p:sp>
      <p:sp>
        <p:nvSpPr>
          <p:cNvPr id="13" name="Text 10"/>
          <p:cNvSpPr/>
          <p:nvPr/>
        </p:nvSpPr>
        <p:spPr>
          <a:xfrm>
            <a:off x="4109618" y="3200400"/>
            <a:ext cx="1574749" cy="548640"/>
          </a:xfrm>
          <a:prstGeom prst="rect">
            <a:avLst/>
          </a:prstGeom>
          <a:noFill/>
          <a:ln/>
        </p:spPr>
        <p:txBody>
          <a:bodyPr wrap="square" rtlCol="0" anchor="ctr"/>
          <a:lstStyle/>
          <a:p>
            <a:pPr algn="ctr" indent="0" marL="0">
              <a:buNone/>
            </a:pPr>
            <a:r>
              <a:rPr lang="en-US" sz="2200" dirty="0">
                <a:solidFill>
                  <a:srgbClr val="1A2433"/>
                </a:solidFill>
                <a:latin typeface="Cambria" pitchFamily="34" charset="0"/>
                <a:ea typeface="Cambria" pitchFamily="34" charset="-122"/>
                <a:cs typeface="Cambria" pitchFamily="34" charset="-120"/>
              </a:rPr>
              <a:t>0.812</a:t>
            </a:r>
            <a:endParaRPr lang="en-US" sz="2200" dirty="0"/>
          </a:p>
        </p:txBody>
      </p:sp>
      <p:sp>
        <p:nvSpPr>
          <p:cNvPr id="14" name="Text 11"/>
          <p:cNvSpPr/>
          <p:nvPr/>
        </p:nvSpPr>
        <p:spPr>
          <a:xfrm>
            <a:off x="4109618" y="3749040"/>
            <a:ext cx="1574749" cy="274320"/>
          </a:xfrm>
          <a:prstGeom prst="rect">
            <a:avLst/>
          </a:prstGeom>
          <a:noFill/>
          <a:ln/>
        </p:spPr>
        <p:txBody>
          <a:bodyPr wrap="square" rtlCol="0" anchor="ctr"/>
          <a:lstStyle/>
          <a:p>
            <a:pPr algn="ctr" indent="0" marL="0">
              <a:buNone/>
            </a:pPr>
            <a:r>
              <a:rPr lang="en-US" sz="950" dirty="0">
                <a:solidFill>
                  <a:srgbClr val="5C6B7A"/>
                </a:solidFill>
                <a:latin typeface="Calibri" pitchFamily="34" charset="0"/>
                <a:ea typeface="Calibri" pitchFamily="34" charset="-122"/>
                <a:cs typeface="Calibri" pitchFamily="34" charset="-120"/>
              </a:rPr>
              <a:t>Accuracy</a:t>
            </a:r>
            <a:endParaRPr lang="en-US" sz="950" dirty="0"/>
          </a:p>
        </p:txBody>
      </p:sp>
      <p:sp>
        <p:nvSpPr>
          <p:cNvPr id="15" name="Text 12"/>
          <p:cNvSpPr/>
          <p:nvPr/>
        </p:nvSpPr>
        <p:spPr>
          <a:xfrm>
            <a:off x="960120" y="4297680"/>
            <a:ext cx="4724248" cy="822960"/>
          </a:xfrm>
          <a:prstGeom prst="rect">
            <a:avLst/>
          </a:prstGeom>
          <a:noFill/>
          <a:ln/>
        </p:spPr>
        <p:txBody>
          <a:bodyPr wrap="square" rtlCol="0" anchor="ctr"/>
          <a:lstStyle/>
          <a:p>
            <a:pPr indent="0" marL="0">
              <a:buNone/>
            </a:pPr>
            <a:r>
              <a:rPr lang="en-US" sz="1200" dirty="0">
                <a:solidFill>
                  <a:srgbClr val="A83349"/>
                </a:solidFill>
                <a:latin typeface="Calibri" pitchFamily="34" charset="0"/>
                <a:ea typeface="Calibri" pitchFamily="34" charset="-122"/>
                <a:cs typeface="Calibri" pitchFamily="34" charset="-120"/>
              </a:rPr>
              <a:t>Missed cancers per seed: </a:t>
            </a:r>
            <a:pPr indent="0" marL="0">
              <a:buNone/>
            </a:pPr>
            <a:r>
              <a:rPr lang="en-US" sz="1200" b="1" dirty="0">
                <a:solidFill>
                  <a:srgbClr val="A83349"/>
                </a:solidFill>
                <a:latin typeface="Courier New" pitchFamily="34" charset="0"/>
                <a:ea typeface="Courier New" pitchFamily="34" charset="-122"/>
                <a:cs typeface="Courier New" pitchFamily="34" charset="-120"/>
              </a:rPr>
              <a:t>327 · 343 · 358</a:t>
            </a:r>
            <a:endParaRPr lang="en-US" sz="1200" dirty="0"/>
          </a:p>
        </p:txBody>
      </p:sp>
      <p:sp>
        <p:nvSpPr>
          <p:cNvPr id="16" name="Shape 13"/>
          <p:cNvSpPr/>
          <p:nvPr/>
        </p:nvSpPr>
        <p:spPr>
          <a:xfrm>
            <a:off x="6370168" y="2514600"/>
            <a:ext cx="5272888" cy="3017520"/>
          </a:xfrm>
          <a:prstGeom prst="roundRect">
            <a:avLst>
              <a:gd name="adj" fmla="val 3030"/>
            </a:avLst>
          </a:prstGeom>
          <a:solidFill>
            <a:srgbClr val="FBE8EA"/>
          </a:solidFill>
          <a:ln w="9525">
            <a:solidFill>
              <a:srgbClr val="D1495B"/>
            </a:solidFill>
            <a:prstDash val="solid"/>
          </a:ln>
        </p:spPr>
      </p:sp>
      <p:sp>
        <p:nvSpPr>
          <p:cNvPr id="17" name="Text 14"/>
          <p:cNvSpPr/>
          <p:nvPr/>
        </p:nvSpPr>
        <p:spPr>
          <a:xfrm>
            <a:off x="6644488" y="2697480"/>
            <a:ext cx="4724248" cy="365760"/>
          </a:xfrm>
          <a:prstGeom prst="rect">
            <a:avLst/>
          </a:prstGeom>
          <a:noFill/>
          <a:ln/>
        </p:spPr>
        <p:txBody>
          <a:bodyPr wrap="square"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Train-side Youden</a:t>
            </a:r>
            <a:endParaRPr lang="en-US" sz="1400" dirty="0"/>
          </a:p>
        </p:txBody>
      </p:sp>
      <p:sp>
        <p:nvSpPr>
          <p:cNvPr id="18" name="Text 15"/>
          <p:cNvSpPr/>
          <p:nvPr/>
        </p:nvSpPr>
        <p:spPr>
          <a:xfrm>
            <a:off x="6644488" y="3200400"/>
            <a:ext cx="1574749" cy="548640"/>
          </a:xfrm>
          <a:prstGeom prst="rect">
            <a:avLst/>
          </a:prstGeom>
          <a:noFill/>
          <a:ln/>
        </p:spPr>
        <p:txBody>
          <a:bodyPr wrap="square" rtlCol="0" anchor="ctr"/>
          <a:lstStyle/>
          <a:p>
            <a:pPr algn="ctr" indent="0" marL="0">
              <a:buNone/>
            </a:pPr>
            <a:r>
              <a:rPr lang="en-US" sz="2200" dirty="0">
                <a:solidFill>
                  <a:srgbClr val="1A2433"/>
                </a:solidFill>
                <a:latin typeface="Cambria" pitchFamily="34" charset="0"/>
                <a:ea typeface="Cambria" pitchFamily="34" charset="-122"/>
                <a:cs typeface="Cambria" pitchFamily="34" charset="-120"/>
              </a:rPr>
              <a:t>0.788</a:t>
            </a:r>
            <a:endParaRPr lang="en-US" sz="2200" dirty="0"/>
          </a:p>
        </p:txBody>
      </p:sp>
      <p:sp>
        <p:nvSpPr>
          <p:cNvPr id="19" name="Text 16"/>
          <p:cNvSpPr/>
          <p:nvPr/>
        </p:nvSpPr>
        <p:spPr>
          <a:xfrm>
            <a:off x="6644488" y="3749040"/>
            <a:ext cx="1574749" cy="274320"/>
          </a:xfrm>
          <a:prstGeom prst="rect">
            <a:avLst/>
          </a:prstGeom>
          <a:noFill/>
          <a:ln/>
        </p:spPr>
        <p:txBody>
          <a:bodyPr wrap="square" rtlCol="0" anchor="ctr"/>
          <a:lstStyle/>
          <a:p>
            <a:pPr algn="ctr" indent="0" marL="0">
              <a:buNone/>
            </a:pPr>
            <a:r>
              <a:rPr lang="en-US" sz="950" dirty="0">
                <a:solidFill>
                  <a:srgbClr val="5C6B7A"/>
                </a:solidFill>
                <a:latin typeface="Calibri" pitchFamily="34" charset="0"/>
                <a:ea typeface="Calibri" pitchFamily="34" charset="-122"/>
                <a:cs typeface="Calibri" pitchFamily="34" charset="-120"/>
              </a:rPr>
              <a:t>Sensitivity</a:t>
            </a:r>
            <a:endParaRPr lang="en-US" sz="950" dirty="0"/>
          </a:p>
        </p:txBody>
      </p:sp>
      <p:sp>
        <p:nvSpPr>
          <p:cNvPr id="20" name="Text 17"/>
          <p:cNvSpPr/>
          <p:nvPr/>
        </p:nvSpPr>
        <p:spPr>
          <a:xfrm>
            <a:off x="8219237" y="3200400"/>
            <a:ext cx="1574749" cy="548640"/>
          </a:xfrm>
          <a:prstGeom prst="rect">
            <a:avLst/>
          </a:prstGeom>
          <a:noFill/>
          <a:ln/>
        </p:spPr>
        <p:txBody>
          <a:bodyPr wrap="square" rtlCol="0" anchor="ctr"/>
          <a:lstStyle/>
          <a:p>
            <a:pPr algn="ctr" indent="0" marL="0">
              <a:buNone/>
            </a:pPr>
            <a:r>
              <a:rPr lang="en-US" sz="2200" dirty="0">
                <a:solidFill>
                  <a:srgbClr val="1A2433"/>
                </a:solidFill>
                <a:latin typeface="Cambria" pitchFamily="34" charset="0"/>
                <a:ea typeface="Cambria" pitchFamily="34" charset="-122"/>
                <a:cs typeface="Cambria" pitchFamily="34" charset="-120"/>
              </a:rPr>
              <a:t>0.839</a:t>
            </a:r>
            <a:endParaRPr lang="en-US" sz="2200" dirty="0"/>
          </a:p>
        </p:txBody>
      </p:sp>
      <p:sp>
        <p:nvSpPr>
          <p:cNvPr id="21" name="Text 18"/>
          <p:cNvSpPr/>
          <p:nvPr/>
        </p:nvSpPr>
        <p:spPr>
          <a:xfrm>
            <a:off x="8219237" y="3749040"/>
            <a:ext cx="1574749" cy="274320"/>
          </a:xfrm>
          <a:prstGeom prst="rect">
            <a:avLst/>
          </a:prstGeom>
          <a:noFill/>
          <a:ln/>
        </p:spPr>
        <p:txBody>
          <a:bodyPr wrap="square" rtlCol="0" anchor="ctr"/>
          <a:lstStyle/>
          <a:p>
            <a:pPr algn="ctr" indent="0" marL="0">
              <a:buNone/>
            </a:pPr>
            <a:r>
              <a:rPr lang="en-US" sz="950" dirty="0">
                <a:solidFill>
                  <a:srgbClr val="5C6B7A"/>
                </a:solidFill>
                <a:latin typeface="Calibri" pitchFamily="34" charset="0"/>
                <a:ea typeface="Calibri" pitchFamily="34" charset="-122"/>
                <a:cs typeface="Calibri" pitchFamily="34" charset="-120"/>
              </a:rPr>
              <a:t>Specificity</a:t>
            </a:r>
            <a:endParaRPr lang="en-US" sz="950" dirty="0"/>
          </a:p>
        </p:txBody>
      </p:sp>
      <p:sp>
        <p:nvSpPr>
          <p:cNvPr id="22" name="Text 19"/>
          <p:cNvSpPr/>
          <p:nvPr/>
        </p:nvSpPr>
        <p:spPr>
          <a:xfrm>
            <a:off x="9793986" y="3200400"/>
            <a:ext cx="1574749" cy="548640"/>
          </a:xfrm>
          <a:prstGeom prst="rect">
            <a:avLst/>
          </a:prstGeom>
          <a:noFill/>
          <a:ln/>
        </p:spPr>
        <p:txBody>
          <a:bodyPr wrap="square" rtlCol="0" anchor="ctr"/>
          <a:lstStyle/>
          <a:p>
            <a:pPr algn="ctr" indent="0" marL="0">
              <a:buNone/>
            </a:pPr>
            <a:r>
              <a:rPr lang="en-US" sz="2200" dirty="0">
                <a:solidFill>
                  <a:srgbClr val="1A2433"/>
                </a:solidFill>
                <a:latin typeface="Cambria" pitchFamily="34" charset="0"/>
                <a:ea typeface="Cambria" pitchFamily="34" charset="-122"/>
                <a:cs typeface="Cambria" pitchFamily="34" charset="-120"/>
              </a:rPr>
              <a:t>0.820</a:t>
            </a:r>
            <a:endParaRPr lang="en-US" sz="2200" dirty="0"/>
          </a:p>
        </p:txBody>
      </p:sp>
      <p:sp>
        <p:nvSpPr>
          <p:cNvPr id="23" name="Text 20"/>
          <p:cNvSpPr/>
          <p:nvPr/>
        </p:nvSpPr>
        <p:spPr>
          <a:xfrm>
            <a:off x="9793986" y="3749040"/>
            <a:ext cx="1574749" cy="274320"/>
          </a:xfrm>
          <a:prstGeom prst="rect">
            <a:avLst/>
          </a:prstGeom>
          <a:noFill/>
          <a:ln/>
        </p:spPr>
        <p:txBody>
          <a:bodyPr wrap="square" rtlCol="0" anchor="ctr"/>
          <a:lstStyle/>
          <a:p>
            <a:pPr algn="ctr" indent="0" marL="0">
              <a:buNone/>
            </a:pPr>
            <a:r>
              <a:rPr lang="en-US" sz="950" dirty="0">
                <a:solidFill>
                  <a:srgbClr val="5C6B7A"/>
                </a:solidFill>
                <a:latin typeface="Calibri" pitchFamily="34" charset="0"/>
                <a:ea typeface="Calibri" pitchFamily="34" charset="-122"/>
                <a:cs typeface="Calibri" pitchFamily="34" charset="-120"/>
              </a:rPr>
              <a:t>Accuracy</a:t>
            </a:r>
            <a:endParaRPr lang="en-US" sz="950" dirty="0"/>
          </a:p>
        </p:txBody>
      </p:sp>
      <p:sp>
        <p:nvSpPr>
          <p:cNvPr id="24" name="Text 21"/>
          <p:cNvSpPr/>
          <p:nvPr/>
        </p:nvSpPr>
        <p:spPr>
          <a:xfrm>
            <a:off x="6644488" y="4297680"/>
            <a:ext cx="4724248" cy="822960"/>
          </a:xfrm>
          <a:prstGeom prst="rect">
            <a:avLst/>
          </a:prstGeom>
          <a:noFill/>
          <a:ln/>
        </p:spPr>
        <p:txBody>
          <a:bodyPr wrap="square" rtlCol="0" anchor="ctr"/>
          <a:lstStyle/>
          <a:p>
            <a:pPr indent="0" marL="0">
              <a:buNone/>
            </a:pPr>
            <a:r>
              <a:rPr lang="en-US" sz="1200" dirty="0">
                <a:solidFill>
                  <a:srgbClr val="A83349"/>
                </a:solidFill>
                <a:latin typeface="Calibri" pitchFamily="34" charset="0"/>
                <a:ea typeface="Calibri" pitchFamily="34" charset="-122"/>
                <a:cs typeface="Calibri" pitchFamily="34" charset="-120"/>
              </a:rPr>
              <a:t>Missed cancers per seed: </a:t>
            </a:r>
            <a:pPr indent="0" marL="0">
              <a:buNone/>
            </a:pPr>
            <a:r>
              <a:rPr lang="en-US" sz="1200" b="1" dirty="0">
                <a:solidFill>
                  <a:srgbClr val="A83349"/>
                </a:solidFill>
                <a:latin typeface="Courier New" pitchFamily="34" charset="0"/>
                <a:ea typeface="Courier New" pitchFamily="34" charset="-122"/>
                <a:cs typeface="Courier New" pitchFamily="34" charset="-120"/>
              </a:rPr>
              <a:t>181 · 187 · 205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BEYOND AUC</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A2433"/>
                </a:solidFill>
                <a:latin typeface="Cambria" pitchFamily="34" charset="0"/>
                <a:ea typeface="Cambria" pitchFamily="34" charset="-122"/>
                <a:cs typeface="Cambria" pitchFamily="34" charset="-120"/>
              </a:rPr>
              <a:t>Calibrated probabilities and positive net benefit.</a:t>
            </a:r>
            <a:endParaRPr lang="en-US" sz="2700" dirty="0"/>
          </a:p>
        </p:txBody>
      </p:sp>
      <p:sp>
        <p:nvSpPr>
          <p:cNvPr id="7" name="Shape 4"/>
          <p:cNvSpPr/>
          <p:nvPr/>
        </p:nvSpPr>
        <p:spPr>
          <a:xfrm>
            <a:off x="685800" y="2560320"/>
            <a:ext cx="3515258" cy="1463040"/>
          </a:xfrm>
          <a:prstGeom prst="roundRect">
            <a:avLst>
              <a:gd name="adj" fmla="val 6250"/>
            </a:avLst>
          </a:prstGeom>
          <a:solidFill>
            <a:srgbClr val="FFFFFF"/>
          </a:solidFill>
          <a:ln w="9525">
            <a:solidFill>
              <a:srgbClr val="DCE6F0"/>
            </a:solidFill>
            <a:prstDash val="solid"/>
          </a:ln>
        </p:spPr>
      </p:sp>
      <p:sp>
        <p:nvSpPr>
          <p:cNvPr id="8" name="Text 5"/>
          <p:cNvSpPr/>
          <p:nvPr/>
        </p:nvSpPr>
        <p:spPr>
          <a:xfrm>
            <a:off x="914400" y="2697480"/>
            <a:ext cx="3058058" cy="731520"/>
          </a:xfrm>
          <a:prstGeom prst="rect">
            <a:avLst/>
          </a:prstGeom>
          <a:noFill/>
          <a:ln/>
        </p:spPr>
        <p:txBody>
          <a:bodyPr wrap="square" rtlCol="0" anchor="t"/>
          <a:lstStyle/>
          <a:p>
            <a:pPr indent="0" marL="0">
              <a:buNone/>
            </a:pPr>
            <a:r>
              <a:rPr lang="en-US" sz="2600" dirty="0">
                <a:solidFill>
                  <a:srgbClr val="1C7293"/>
                </a:solidFill>
                <a:latin typeface="Cambria" pitchFamily="34" charset="0"/>
                <a:ea typeface="Cambria" pitchFamily="34" charset="-122"/>
                <a:cs typeface="Cambria" pitchFamily="34" charset="-120"/>
              </a:rPr>
              <a:t>0.136 → 0.124</a:t>
            </a:r>
            <a:endParaRPr lang="en-US" sz="2600" dirty="0"/>
          </a:p>
        </p:txBody>
      </p:sp>
      <p:sp>
        <p:nvSpPr>
          <p:cNvPr id="9" name="Text 6"/>
          <p:cNvSpPr/>
          <p:nvPr/>
        </p:nvSpPr>
        <p:spPr>
          <a:xfrm>
            <a:off x="914400" y="3408883"/>
            <a:ext cx="305805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Brier score (Platt)</a:t>
            </a:r>
            <a:endParaRPr lang="en-US" sz="1200" dirty="0"/>
          </a:p>
        </p:txBody>
      </p:sp>
      <p:sp>
        <p:nvSpPr>
          <p:cNvPr id="10" name="Shape 7"/>
          <p:cNvSpPr/>
          <p:nvPr/>
        </p:nvSpPr>
        <p:spPr>
          <a:xfrm>
            <a:off x="4383938" y="2560320"/>
            <a:ext cx="3515258" cy="1463040"/>
          </a:xfrm>
          <a:prstGeom prst="roundRect">
            <a:avLst>
              <a:gd name="adj" fmla="val 6250"/>
            </a:avLst>
          </a:prstGeom>
          <a:solidFill>
            <a:srgbClr val="FFFFFF"/>
          </a:solidFill>
          <a:ln w="9525">
            <a:solidFill>
              <a:srgbClr val="DCE6F0"/>
            </a:solidFill>
            <a:prstDash val="solid"/>
          </a:ln>
        </p:spPr>
      </p:sp>
      <p:sp>
        <p:nvSpPr>
          <p:cNvPr id="11" name="Text 8"/>
          <p:cNvSpPr/>
          <p:nvPr/>
        </p:nvSpPr>
        <p:spPr>
          <a:xfrm>
            <a:off x="4612538" y="2697480"/>
            <a:ext cx="3058058" cy="731520"/>
          </a:xfrm>
          <a:prstGeom prst="rect">
            <a:avLst/>
          </a:prstGeom>
          <a:noFill/>
          <a:ln/>
        </p:spPr>
        <p:txBody>
          <a:bodyPr wrap="square" rtlCol="0" anchor="t"/>
          <a:lstStyle/>
          <a:p>
            <a:pPr indent="0" marL="0">
              <a:buNone/>
            </a:pPr>
            <a:r>
              <a:rPr lang="en-US" sz="2600" dirty="0">
                <a:solidFill>
                  <a:srgbClr val="1C7293"/>
                </a:solidFill>
                <a:latin typeface="Cambria" pitchFamily="34" charset="0"/>
                <a:ea typeface="Cambria" pitchFamily="34" charset="-122"/>
                <a:cs typeface="Cambria" pitchFamily="34" charset="-120"/>
              </a:rPr>
              <a:t>0.075 → 0.023</a:t>
            </a:r>
            <a:endParaRPr lang="en-US" sz="2600" dirty="0"/>
          </a:p>
        </p:txBody>
      </p:sp>
      <p:sp>
        <p:nvSpPr>
          <p:cNvPr id="12" name="Text 9"/>
          <p:cNvSpPr/>
          <p:nvPr/>
        </p:nvSpPr>
        <p:spPr>
          <a:xfrm>
            <a:off x="4612538" y="3408883"/>
            <a:ext cx="305805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Expected calibration error</a:t>
            </a:r>
            <a:endParaRPr lang="en-US" sz="1200" dirty="0"/>
          </a:p>
        </p:txBody>
      </p:sp>
      <p:sp>
        <p:nvSpPr>
          <p:cNvPr id="13" name="Shape 10"/>
          <p:cNvSpPr/>
          <p:nvPr/>
        </p:nvSpPr>
        <p:spPr>
          <a:xfrm>
            <a:off x="8082077" y="2560320"/>
            <a:ext cx="3515258" cy="1463040"/>
          </a:xfrm>
          <a:prstGeom prst="roundRect">
            <a:avLst>
              <a:gd name="adj" fmla="val 6250"/>
            </a:avLst>
          </a:prstGeom>
          <a:solidFill>
            <a:srgbClr val="FFFFFF"/>
          </a:solidFill>
          <a:ln w="9525">
            <a:solidFill>
              <a:srgbClr val="DCE6F0"/>
            </a:solidFill>
            <a:prstDash val="solid"/>
          </a:ln>
        </p:spPr>
      </p:sp>
      <p:sp>
        <p:nvSpPr>
          <p:cNvPr id="14" name="Text 11"/>
          <p:cNvSpPr/>
          <p:nvPr/>
        </p:nvSpPr>
        <p:spPr>
          <a:xfrm>
            <a:off x="8310677" y="2697480"/>
            <a:ext cx="3058058" cy="731520"/>
          </a:xfrm>
          <a:prstGeom prst="rect">
            <a:avLst/>
          </a:prstGeom>
          <a:noFill/>
          <a:ln/>
        </p:spPr>
        <p:txBody>
          <a:bodyPr wrap="square" rtlCol="0" anchor="t"/>
          <a:lstStyle/>
          <a:p>
            <a:pPr indent="0" marL="0">
              <a:buNone/>
            </a:pPr>
            <a:r>
              <a:rPr lang="en-US" sz="2600" dirty="0">
                <a:solidFill>
                  <a:srgbClr val="1A2433"/>
                </a:solidFill>
                <a:latin typeface="Cambria" pitchFamily="34" charset="0"/>
                <a:ea typeface="Cambria" pitchFamily="34" charset="-122"/>
                <a:cs typeface="Cambria" pitchFamily="34" charset="-120"/>
              </a:rPr>
              <a:t>0.05–0.80</a:t>
            </a:r>
            <a:endParaRPr lang="en-US" sz="2600" dirty="0"/>
          </a:p>
        </p:txBody>
      </p:sp>
      <p:sp>
        <p:nvSpPr>
          <p:cNvPr id="15" name="Text 12"/>
          <p:cNvSpPr/>
          <p:nvPr/>
        </p:nvSpPr>
        <p:spPr>
          <a:xfrm>
            <a:off x="8310677" y="3408883"/>
            <a:ext cx="3058058" cy="274320"/>
          </a:xfrm>
          <a:prstGeom prst="rect">
            <a:avLst/>
          </a:prstGeom>
          <a:noFill/>
          <a:ln/>
        </p:spPr>
        <p:txBody>
          <a:bodyPr wrap="square"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Threshold range with net benefit</a:t>
            </a:r>
            <a:endParaRPr lang="en-US" sz="1200" dirty="0"/>
          </a:p>
        </p:txBody>
      </p:sp>
      <p:sp>
        <p:nvSpPr>
          <p:cNvPr id="16" name="Text 13"/>
          <p:cNvSpPr/>
          <p:nvPr/>
        </p:nvSpPr>
        <p:spPr>
          <a:xfrm>
            <a:off x="685800" y="4389120"/>
            <a:ext cx="10820095" cy="548640"/>
          </a:xfrm>
          <a:prstGeom prst="rect">
            <a:avLst/>
          </a:prstGeom>
          <a:noFill/>
          <a:ln/>
        </p:spPr>
        <p:txBody>
          <a:bodyPr wrap="square" rtlCol="0" anchor="ctr"/>
          <a:lstStyle/>
          <a:p>
            <a:pPr indent="0" marL="0">
              <a:buNone/>
            </a:pPr>
            <a:r>
              <a:rPr lang="en-US" sz="1300" dirty="0">
                <a:solidFill>
                  <a:srgbClr val="5C6B7A"/>
                </a:solidFill>
                <a:latin typeface="Calibri" pitchFamily="34" charset="0"/>
                <a:ea typeface="Calibri" pitchFamily="34" charset="-122"/>
                <a:cs typeface="Calibri" pitchFamily="34" charset="-120"/>
              </a:rPr>
              <a:t>Platt scaling fitted only on inner-validation predictions — outer labels stay reserved for evaluation.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EXPLAINABILITY</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A2433"/>
                </a:solidFill>
                <a:latin typeface="Cambria" pitchFamily="34" charset="0"/>
                <a:ea typeface="Cambria" pitchFamily="34" charset="-122"/>
                <a:cs typeface="Cambria" pitchFamily="34" charset="-120"/>
              </a:rPr>
              <a:t>Where the network looks — qualitatively.</a:t>
            </a:r>
            <a:endParaRPr lang="en-US" sz="2700" dirty="0"/>
          </a:p>
        </p:txBody>
      </p:sp>
      <p:pic>
        <p:nvPicPr>
          <p:cNvPr id="7" name="Image 0" descr="preencoded.png">    </p:cNvPr>
          <p:cNvPicPr>
            <a:picLocks noChangeAspect="1"/>
          </p:cNvPicPr>
          <p:nvPr/>
        </p:nvPicPr>
        <p:blipFill>
          <a:blip r:embed="rId1"/>
          <a:srcRect l="0" r="0" t="0" b="0"/>
          <a:stretch/>
        </p:blipFill>
        <p:spPr>
          <a:xfrm>
            <a:off x="685800" y="2514600"/>
            <a:ext cx="2567864" cy="2567864"/>
          </a:xfrm>
          <a:prstGeom prst="rect">
            <a:avLst/>
          </a:prstGeom>
        </p:spPr>
      </p:pic>
      <p:sp>
        <p:nvSpPr>
          <p:cNvPr id="8" name="Text 4"/>
          <p:cNvSpPr/>
          <p:nvPr/>
        </p:nvSpPr>
        <p:spPr>
          <a:xfrm>
            <a:off x="685800" y="5173904"/>
            <a:ext cx="2567864" cy="320040"/>
          </a:xfrm>
          <a:prstGeom prst="rect">
            <a:avLst/>
          </a:prstGeom>
          <a:noFill/>
          <a:ln/>
        </p:spPr>
        <p:txBody>
          <a:bodyPr wrap="square" rtlCol="0" anchor="ctr"/>
          <a:lstStyle/>
          <a:p>
            <a:pPr algn="ctr" indent="0" marL="0">
              <a:buNone/>
            </a:pPr>
            <a:r>
              <a:rPr lang="en-US" sz="1100" dirty="0">
                <a:solidFill>
                  <a:srgbClr val="0B2545"/>
                </a:solidFill>
                <a:latin typeface="Calibri" pitchFamily="34" charset="0"/>
                <a:ea typeface="Calibri" pitchFamily="34" charset="-122"/>
                <a:cs typeface="Calibri" pitchFamily="34" charset="-120"/>
              </a:rPr>
              <a:t>True positive</a:t>
            </a:r>
            <a:endParaRPr lang="en-US" sz="1100" dirty="0"/>
          </a:p>
        </p:txBody>
      </p:sp>
      <p:pic>
        <p:nvPicPr>
          <p:cNvPr id="9" name="Image 1" descr="preencoded.png">    </p:cNvPr>
          <p:cNvPicPr>
            <a:picLocks noChangeAspect="1"/>
          </p:cNvPicPr>
          <p:nvPr/>
        </p:nvPicPr>
        <p:blipFill>
          <a:blip r:embed="rId2"/>
          <a:srcRect l="0" r="0" t="0" b="0"/>
          <a:stretch/>
        </p:blipFill>
        <p:spPr>
          <a:xfrm>
            <a:off x="3436544" y="2514600"/>
            <a:ext cx="2567864" cy="2567864"/>
          </a:xfrm>
          <a:prstGeom prst="rect">
            <a:avLst/>
          </a:prstGeom>
        </p:spPr>
      </p:pic>
      <p:sp>
        <p:nvSpPr>
          <p:cNvPr id="10" name="Text 5"/>
          <p:cNvSpPr/>
          <p:nvPr/>
        </p:nvSpPr>
        <p:spPr>
          <a:xfrm>
            <a:off x="3436544" y="5173904"/>
            <a:ext cx="2567864" cy="320040"/>
          </a:xfrm>
          <a:prstGeom prst="rect">
            <a:avLst/>
          </a:prstGeom>
          <a:noFill/>
          <a:ln/>
        </p:spPr>
        <p:txBody>
          <a:bodyPr wrap="square" rtlCol="0" anchor="ctr"/>
          <a:lstStyle/>
          <a:p>
            <a:pPr algn="ctr" indent="0" marL="0">
              <a:buNone/>
            </a:pPr>
            <a:r>
              <a:rPr lang="en-US" sz="1100" dirty="0">
                <a:solidFill>
                  <a:srgbClr val="0B2545"/>
                </a:solidFill>
                <a:latin typeface="Calibri" pitchFamily="34" charset="0"/>
                <a:ea typeface="Calibri" pitchFamily="34" charset="-122"/>
                <a:cs typeface="Calibri" pitchFamily="34" charset="-120"/>
              </a:rPr>
              <a:t>True negative</a:t>
            </a:r>
            <a:endParaRPr lang="en-US" sz="1100" dirty="0"/>
          </a:p>
        </p:txBody>
      </p:sp>
      <p:pic>
        <p:nvPicPr>
          <p:cNvPr id="11" name="Image 2" descr="preencoded.png">    </p:cNvPr>
          <p:cNvPicPr>
            <a:picLocks noChangeAspect="1"/>
          </p:cNvPicPr>
          <p:nvPr/>
        </p:nvPicPr>
        <p:blipFill>
          <a:blip r:embed="rId3"/>
          <a:srcRect l="0" r="0" t="0" b="0"/>
          <a:stretch/>
        </p:blipFill>
        <p:spPr>
          <a:xfrm>
            <a:off x="6187288" y="2514600"/>
            <a:ext cx="2567864" cy="2567864"/>
          </a:xfrm>
          <a:prstGeom prst="rect">
            <a:avLst/>
          </a:prstGeom>
        </p:spPr>
      </p:pic>
      <p:sp>
        <p:nvSpPr>
          <p:cNvPr id="12" name="Text 6"/>
          <p:cNvSpPr/>
          <p:nvPr/>
        </p:nvSpPr>
        <p:spPr>
          <a:xfrm>
            <a:off x="6187288" y="5173904"/>
            <a:ext cx="2567864" cy="320040"/>
          </a:xfrm>
          <a:prstGeom prst="rect">
            <a:avLst/>
          </a:prstGeom>
          <a:noFill/>
          <a:ln/>
        </p:spPr>
        <p:txBody>
          <a:bodyPr wrap="square" rtlCol="0" anchor="ctr"/>
          <a:lstStyle/>
          <a:p>
            <a:pPr algn="ctr" indent="0" marL="0">
              <a:buNone/>
            </a:pPr>
            <a:r>
              <a:rPr lang="en-US" sz="1100" dirty="0">
                <a:solidFill>
                  <a:srgbClr val="0B2545"/>
                </a:solidFill>
                <a:latin typeface="Calibri" pitchFamily="34" charset="0"/>
                <a:ea typeface="Calibri" pitchFamily="34" charset="-122"/>
                <a:cs typeface="Calibri" pitchFamily="34" charset="-120"/>
              </a:rPr>
              <a:t>False positive</a:t>
            </a:r>
            <a:endParaRPr lang="en-US" sz="1100" dirty="0"/>
          </a:p>
        </p:txBody>
      </p:sp>
      <p:pic>
        <p:nvPicPr>
          <p:cNvPr id="13" name="Image 3" descr="preencoded.png">    </p:cNvPr>
          <p:cNvPicPr>
            <a:picLocks noChangeAspect="1"/>
          </p:cNvPicPr>
          <p:nvPr/>
        </p:nvPicPr>
        <p:blipFill>
          <a:blip r:embed="rId4"/>
          <a:srcRect l="0" r="0" t="0" b="0"/>
          <a:stretch/>
        </p:blipFill>
        <p:spPr>
          <a:xfrm>
            <a:off x="8938031" y="2514600"/>
            <a:ext cx="2567864" cy="2567864"/>
          </a:xfrm>
          <a:prstGeom prst="rect">
            <a:avLst/>
          </a:prstGeom>
        </p:spPr>
      </p:pic>
      <p:sp>
        <p:nvSpPr>
          <p:cNvPr id="14" name="Text 7"/>
          <p:cNvSpPr/>
          <p:nvPr/>
        </p:nvSpPr>
        <p:spPr>
          <a:xfrm>
            <a:off x="8938031" y="5173904"/>
            <a:ext cx="2567864" cy="320040"/>
          </a:xfrm>
          <a:prstGeom prst="rect">
            <a:avLst/>
          </a:prstGeom>
          <a:noFill/>
          <a:ln/>
        </p:spPr>
        <p:txBody>
          <a:bodyPr wrap="square" rtlCol="0" anchor="ctr"/>
          <a:lstStyle/>
          <a:p>
            <a:pPr algn="ctr" indent="0" marL="0">
              <a:buNone/>
            </a:pPr>
            <a:r>
              <a:rPr lang="en-US" sz="1100" dirty="0">
                <a:solidFill>
                  <a:srgbClr val="0B2545"/>
                </a:solidFill>
                <a:latin typeface="Calibri" pitchFamily="34" charset="0"/>
                <a:ea typeface="Calibri" pitchFamily="34" charset="-122"/>
                <a:cs typeface="Calibri" pitchFamily="34" charset="-120"/>
              </a:rPr>
              <a:t>False negative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HONEST LIMITS · FUTURE WORK</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A2433"/>
                </a:solidFill>
                <a:latin typeface="Cambria" pitchFamily="34" charset="0"/>
                <a:ea typeface="Cambria" pitchFamily="34" charset="-122"/>
                <a:cs typeface="Cambria" pitchFamily="34" charset="-120"/>
              </a:rPr>
              <a:t>What this study does not claim.</a:t>
            </a:r>
            <a:endParaRPr lang="en-US" sz="2700" dirty="0"/>
          </a:p>
        </p:txBody>
      </p:sp>
      <p:sp>
        <p:nvSpPr>
          <p:cNvPr id="7" name="Shape 4"/>
          <p:cNvSpPr/>
          <p:nvPr/>
        </p:nvSpPr>
        <p:spPr>
          <a:xfrm>
            <a:off x="685800" y="2560320"/>
            <a:ext cx="5318608" cy="1051560"/>
          </a:xfrm>
          <a:prstGeom prst="roundRect">
            <a:avLst>
              <a:gd name="adj" fmla="val 6957"/>
            </a:avLst>
          </a:prstGeom>
          <a:solidFill>
            <a:srgbClr val="FFFFFF"/>
          </a:solidFill>
          <a:ln w="9525">
            <a:solidFill>
              <a:srgbClr val="DCE6F0"/>
            </a:solidFill>
            <a:prstDash val="solid"/>
          </a:ln>
        </p:spPr>
      </p:sp>
      <p:sp>
        <p:nvSpPr>
          <p:cNvPr id="8" name="Text 5"/>
          <p:cNvSpPr/>
          <p:nvPr/>
        </p:nvSpPr>
        <p:spPr>
          <a:xfrm>
            <a:off x="914400" y="2670048"/>
            <a:ext cx="4861408" cy="320040"/>
          </a:xfrm>
          <a:prstGeom prst="rect">
            <a:avLst/>
          </a:prstGeom>
          <a:noFill/>
          <a:ln/>
        </p:spPr>
        <p:txBody>
          <a:bodyPr wrap="square"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Single dataset</a:t>
            </a:r>
            <a:endParaRPr lang="en-US" sz="1300" dirty="0"/>
          </a:p>
        </p:txBody>
      </p:sp>
      <p:sp>
        <p:nvSpPr>
          <p:cNvPr id="9" name="Text 6"/>
          <p:cNvSpPr/>
          <p:nvPr/>
        </p:nvSpPr>
        <p:spPr>
          <a:xfrm>
            <a:off x="914400" y="3017520"/>
            <a:ext cx="4861408" cy="50292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Results are internal to Mini-DDSM.</a:t>
            </a:r>
            <a:endParaRPr lang="en-US" sz="1050" dirty="0"/>
          </a:p>
        </p:txBody>
      </p:sp>
      <p:sp>
        <p:nvSpPr>
          <p:cNvPr id="10" name="Shape 7"/>
          <p:cNvSpPr/>
          <p:nvPr/>
        </p:nvSpPr>
        <p:spPr>
          <a:xfrm>
            <a:off x="6278728" y="2560320"/>
            <a:ext cx="5318608" cy="1051560"/>
          </a:xfrm>
          <a:prstGeom prst="roundRect">
            <a:avLst>
              <a:gd name="adj" fmla="val 6957"/>
            </a:avLst>
          </a:prstGeom>
          <a:solidFill>
            <a:srgbClr val="FFFFFF"/>
          </a:solidFill>
          <a:ln w="9525">
            <a:solidFill>
              <a:srgbClr val="DCE6F0"/>
            </a:solidFill>
            <a:prstDash val="solid"/>
          </a:ln>
        </p:spPr>
      </p:sp>
      <p:sp>
        <p:nvSpPr>
          <p:cNvPr id="11" name="Text 8"/>
          <p:cNvSpPr/>
          <p:nvPr/>
        </p:nvSpPr>
        <p:spPr>
          <a:xfrm>
            <a:off x="6507328" y="2670048"/>
            <a:ext cx="4861408" cy="320040"/>
          </a:xfrm>
          <a:prstGeom prst="rect">
            <a:avLst/>
          </a:prstGeom>
          <a:noFill/>
          <a:ln/>
        </p:spPr>
        <p:txBody>
          <a:bodyPr wrap="square"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Three folds</a:t>
            </a:r>
            <a:endParaRPr lang="en-US" sz="1300" dirty="0"/>
          </a:p>
        </p:txBody>
      </p:sp>
      <p:sp>
        <p:nvSpPr>
          <p:cNvPr id="12" name="Text 9"/>
          <p:cNvSpPr/>
          <p:nvPr/>
        </p:nvSpPr>
        <p:spPr>
          <a:xfrm>
            <a:off x="6507328" y="3017520"/>
            <a:ext cx="4861408" cy="50292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More folds would describe split variability more finely.</a:t>
            </a:r>
            <a:endParaRPr lang="en-US" sz="1050" dirty="0"/>
          </a:p>
        </p:txBody>
      </p:sp>
      <p:sp>
        <p:nvSpPr>
          <p:cNvPr id="13" name="Shape 10"/>
          <p:cNvSpPr/>
          <p:nvPr/>
        </p:nvSpPr>
        <p:spPr>
          <a:xfrm>
            <a:off x="685800" y="3794760"/>
            <a:ext cx="5318608" cy="1051560"/>
          </a:xfrm>
          <a:prstGeom prst="roundRect">
            <a:avLst>
              <a:gd name="adj" fmla="val 6957"/>
            </a:avLst>
          </a:prstGeom>
          <a:solidFill>
            <a:srgbClr val="FFFFFF"/>
          </a:solidFill>
          <a:ln w="9525">
            <a:solidFill>
              <a:srgbClr val="DCE6F0"/>
            </a:solidFill>
            <a:prstDash val="solid"/>
          </a:ln>
        </p:spPr>
      </p:sp>
      <p:sp>
        <p:nvSpPr>
          <p:cNvPr id="14" name="Text 11"/>
          <p:cNvSpPr/>
          <p:nvPr/>
        </p:nvSpPr>
        <p:spPr>
          <a:xfrm>
            <a:off x="914400" y="3904488"/>
            <a:ext cx="4861408" cy="320040"/>
          </a:xfrm>
          <a:prstGeom prst="rect">
            <a:avLst/>
          </a:prstGeom>
          <a:noFill/>
          <a:ln/>
        </p:spPr>
        <p:txBody>
          <a:bodyPr wrap="square"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Conservative groups</a:t>
            </a:r>
            <a:endParaRPr lang="en-US" sz="1300" dirty="0"/>
          </a:p>
        </p:txBody>
      </p:sp>
      <p:sp>
        <p:nvSpPr>
          <p:cNvPr id="15" name="Text 12"/>
          <p:cNvSpPr/>
          <p:nvPr/>
        </p:nvSpPr>
        <p:spPr>
          <a:xfrm>
            <a:off x="914400" y="4251960"/>
            <a:ext cx="4861408" cy="50292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Eight-image IDs kept intact; may merge distinct subjects.</a:t>
            </a:r>
            <a:endParaRPr lang="en-US" sz="1050" dirty="0"/>
          </a:p>
        </p:txBody>
      </p:sp>
      <p:sp>
        <p:nvSpPr>
          <p:cNvPr id="16" name="Shape 13"/>
          <p:cNvSpPr/>
          <p:nvPr/>
        </p:nvSpPr>
        <p:spPr>
          <a:xfrm>
            <a:off x="6278728" y="3794760"/>
            <a:ext cx="5318608" cy="1051560"/>
          </a:xfrm>
          <a:prstGeom prst="roundRect">
            <a:avLst>
              <a:gd name="adj" fmla="val 6957"/>
            </a:avLst>
          </a:prstGeom>
          <a:solidFill>
            <a:srgbClr val="FFFFFF"/>
          </a:solidFill>
          <a:ln w="9525">
            <a:solidFill>
              <a:srgbClr val="DCE6F0"/>
            </a:solidFill>
            <a:prstDash val="solid"/>
          </a:ln>
        </p:spPr>
      </p:sp>
      <p:sp>
        <p:nvSpPr>
          <p:cNvPr id="17" name="Text 14"/>
          <p:cNvSpPr/>
          <p:nvPr/>
        </p:nvSpPr>
        <p:spPr>
          <a:xfrm>
            <a:off x="6507328" y="3904488"/>
            <a:ext cx="4861408" cy="320040"/>
          </a:xfrm>
          <a:prstGeom prst="rect">
            <a:avLst/>
          </a:prstGeom>
          <a:noFill/>
          <a:ln/>
        </p:spPr>
        <p:txBody>
          <a:bodyPr wrap="square"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Qualitative Grad-CAM</a:t>
            </a:r>
            <a:endParaRPr lang="en-US" sz="1300" dirty="0"/>
          </a:p>
        </p:txBody>
      </p:sp>
      <p:sp>
        <p:nvSpPr>
          <p:cNvPr id="18" name="Text 15"/>
          <p:cNvSpPr/>
          <p:nvPr/>
        </p:nvSpPr>
        <p:spPr>
          <a:xfrm>
            <a:off x="6507328" y="4251960"/>
            <a:ext cx="4861408" cy="502920"/>
          </a:xfrm>
          <a:prstGeom prst="rect">
            <a:avLst/>
          </a:prstGeom>
          <a:noFill/>
          <a:ln/>
        </p:spPr>
        <p:txBody>
          <a:bodyPr wrap="square" rtlCol="0" anchor="ctr"/>
          <a:lstStyle/>
          <a:p>
            <a:pPr indent="0" marL="0">
              <a:buNone/>
            </a:pPr>
            <a:r>
              <a:rPr lang="en-US" sz="1050" dirty="0">
                <a:solidFill>
                  <a:srgbClr val="5C6B7A"/>
                </a:solidFill>
                <a:latin typeface="Calibri" pitchFamily="34" charset="0"/>
                <a:ea typeface="Calibri" pitchFamily="34" charset="-122"/>
                <a:cs typeface="Calibri" pitchFamily="34" charset="-120"/>
              </a:rPr>
              <a:t>No overlap metric against radiologist annotations.</a:t>
            </a:r>
            <a:endParaRPr lang="en-US" sz="1050" dirty="0"/>
          </a:p>
        </p:txBody>
      </p:sp>
      <p:sp>
        <p:nvSpPr>
          <p:cNvPr id="19" name="Text 16"/>
          <p:cNvSpPr/>
          <p:nvPr/>
        </p:nvSpPr>
        <p:spPr>
          <a:xfrm>
            <a:off x="685800" y="5212080"/>
            <a:ext cx="10820095" cy="365760"/>
          </a:xfrm>
          <a:prstGeom prst="rect">
            <a:avLst/>
          </a:prstGeom>
          <a:noFill/>
          <a:ln/>
        </p:spPr>
        <p:txBody>
          <a:bodyPr wrap="square" rtlCol="0" anchor="ctr"/>
          <a:lstStyle/>
          <a:p>
            <a:pPr indent="0" marL="0">
              <a:buNone/>
            </a:pPr>
            <a:r>
              <a:rPr lang="en-US" sz="1300" dirty="0">
                <a:solidFill>
                  <a:srgbClr val="0B2545"/>
                </a:solidFill>
                <a:latin typeface="Calibri" pitchFamily="34" charset="0"/>
                <a:ea typeface="Calibri" pitchFamily="34" charset="-122"/>
                <a:cs typeface="Calibri" pitchFamily="34" charset="-120"/>
              </a:rPr>
              <a:t>Next → CBIS-DDSM and INbreast · richer metadata · radiologist review.</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D1495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SOURCES</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800" dirty="0">
                <a:solidFill>
                  <a:srgbClr val="1A2433"/>
                </a:solidFill>
                <a:latin typeface="Cambria" pitchFamily="34" charset="0"/>
                <a:ea typeface="Cambria" pitchFamily="34" charset="-122"/>
                <a:cs typeface="Cambria" pitchFamily="34" charset="-120"/>
              </a:rPr>
              <a:t>References.</a:t>
            </a:r>
            <a:endParaRPr lang="en-US" sz="2800" dirty="0"/>
          </a:p>
        </p:txBody>
      </p:sp>
      <p:sp>
        <p:nvSpPr>
          <p:cNvPr id="7" name="Shape 4"/>
          <p:cNvSpPr/>
          <p:nvPr/>
        </p:nvSpPr>
        <p:spPr>
          <a:xfrm>
            <a:off x="685800" y="2468880"/>
            <a:ext cx="10820095" cy="3566160"/>
          </a:xfrm>
          <a:prstGeom prst="roundRect">
            <a:avLst>
              <a:gd name="adj" fmla="val 2564"/>
            </a:avLst>
          </a:prstGeom>
          <a:solidFill>
            <a:srgbClr val="FFFFFF"/>
          </a:solidFill>
          <a:ln w="9525">
            <a:solidFill>
              <a:srgbClr val="DCE6F0"/>
            </a:solidFill>
            <a:prstDash val="solid"/>
          </a:ln>
        </p:spPr>
      </p:sp>
      <p:sp>
        <p:nvSpPr>
          <p:cNvPr id="8" name="Text 5"/>
          <p:cNvSpPr/>
          <p:nvPr/>
        </p:nvSpPr>
        <p:spPr>
          <a:xfrm>
            <a:off x="960120" y="2743200"/>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[1] H. Sung et al., “Global cancer statistics 2024,” CA Cancer J. Clin., 2026.</a:t>
            </a:r>
            <a:endParaRPr lang="en-US" sz="1050" dirty="0"/>
          </a:p>
        </p:txBody>
      </p:sp>
      <p:sp>
        <p:nvSpPr>
          <p:cNvPr id="9" name="Text 6"/>
          <p:cNvSpPr/>
          <p:nvPr/>
        </p:nvSpPr>
        <p:spPr>
          <a:xfrm>
            <a:off x="6187288" y="2743200"/>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[2] C. D. Lekamlage et al., “Mini-DDSM: Mammography age estimation,” Proc. DMIP, 2020.</a:t>
            </a:r>
            <a:endParaRPr lang="en-US" sz="1050" dirty="0"/>
          </a:p>
        </p:txBody>
      </p:sp>
      <p:sp>
        <p:nvSpPr>
          <p:cNvPr id="10" name="Text 7"/>
          <p:cNvSpPr/>
          <p:nvPr/>
        </p:nvSpPr>
        <p:spPr>
          <a:xfrm>
            <a:off x="960120" y="3364992"/>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[3] M. Tan and Q. V. Le, “EfficientNet: Rethinking model scaling for CNNs,” Proc. ICML, 2019.</a:t>
            </a:r>
            <a:endParaRPr lang="en-US" sz="1050" dirty="0"/>
          </a:p>
        </p:txBody>
      </p:sp>
      <p:sp>
        <p:nvSpPr>
          <p:cNvPr id="11" name="Text 8"/>
          <p:cNvSpPr/>
          <p:nvPr/>
        </p:nvSpPr>
        <p:spPr>
          <a:xfrm>
            <a:off x="6187288" y="3364992"/>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[4] S. Woo et al., “ConvNeXt V2: Co-designing and scaling ConvNets with MAE,” Proc. CVPR, 2023.</a:t>
            </a:r>
            <a:endParaRPr lang="en-US" sz="1050" dirty="0"/>
          </a:p>
        </p:txBody>
      </p:sp>
      <p:sp>
        <p:nvSpPr>
          <p:cNvPr id="12" name="Text 9"/>
          <p:cNvSpPr/>
          <p:nvPr/>
        </p:nvSpPr>
        <p:spPr>
          <a:xfrm>
            <a:off x="960120" y="3986784"/>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[5] R. R. Selvaraju et al., “Grad-CAM: Visual explanations via gradient localization,” Proc. ICCV, 2017.</a:t>
            </a:r>
            <a:endParaRPr lang="en-US" sz="1050" dirty="0"/>
          </a:p>
        </p:txBody>
      </p:sp>
      <p:sp>
        <p:nvSpPr>
          <p:cNvPr id="13" name="Text 10"/>
          <p:cNvSpPr/>
          <p:nvPr/>
        </p:nvSpPr>
        <p:spPr>
          <a:xfrm>
            <a:off x="6187288" y="3986784"/>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[6] M. Heenaye-Mamode Khan et al., “Multi-class classification of breast abnormalities,” PLOS ONE, 2021.</a:t>
            </a:r>
            <a:endParaRPr lang="en-US" sz="1050" dirty="0"/>
          </a:p>
        </p:txBody>
      </p:sp>
      <p:sp>
        <p:nvSpPr>
          <p:cNvPr id="14" name="Text 11"/>
          <p:cNvSpPr/>
          <p:nvPr/>
        </p:nvSpPr>
        <p:spPr>
          <a:xfrm>
            <a:off x="960120" y="4608576"/>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[7] A. Sahu, P. K. Das, and S. Meher, “High accuracy hybrid CNN classifiers for breast cancer,” Biomed. Signal Process. Control, 2023.</a:t>
            </a:r>
            <a:endParaRPr lang="en-US" sz="1050" dirty="0"/>
          </a:p>
        </p:txBody>
      </p:sp>
      <p:sp>
        <p:nvSpPr>
          <p:cNvPr id="15" name="Text 12"/>
          <p:cNvSpPr/>
          <p:nvPr/>
        </p:nvSpPr>
        <p:spPr>
          <a:xfrm>
            <a:off x="6187288" y="4608576"/>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[8] Y. Khourdifi et al., “Early breast cancer detection based on deep learning,” BioMedInformatics, 2024.</a:t>
            </a:r>
            <a:endParaRPr lang="en-US" sz="1050" dirty="0"/>
          </a:p>
        </p:txBody>
      </p:sp>
      <p:sp>
        <p:nvSpPr>
          <p:cNvPr id="16" name="Text 13"/>
          <p:cNvSpPr/>
          <p:nvPr/>
        </p:nvSpPr>
        <p:spPr>
          <a:xfrm>
            <a:off x="960120" y="5230368"/>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[9] I. Loshchilov and F. Hutter, “Decoupled weight decay regularization,” Proc. ICLR, 2019.</a:t>
            </a:r>
            <a:endParaRPr lang="en-US" sz="1050" dirty="0"/>
          </a:p>
        </p:txBody>
      </p:sp>
      <p:sp>
        <p:nvSpPr>
          <p:cNvPr id="17" name="Text 14"/>
          <p:cNvSpPr/>
          <p:nvPr/>
        </p:nvSpPr>
        <p:spPr>
          <a:xfrm>
            <a:off x="6187288" y="5230368"/>
            <a:ext cx="4952848" cy="566928"/>
          </a:xfrm>
          <a:prstGeom prst="rect">
            <a:avLst/>
          </a:prstGeom>
          <a:noFill/>
          <a:ln/>
        </p:spPr>
        <p:txBody>
          <a:bodyPr wrap="square" rtlCol="0" anchor="t"/>
          <a:lstStyle/>
          <a:p>
            <a:pPr indent="0" marL="0">
              <a:buNone/>
            </a:pPr>
            <a:r>
              <a:rPr lang="en-US" sz="1050" dirty="0">
                <a:solidFill>
                  <a:srgbClr val="0B2545"/>
                </a:solidFill>
                <a:latin typeface="Calibri" pitchFamily="34" charset="0"/>
                <a:ea typeface="Calibri" pitchFamily="34" charset="-122"/>
                <a:cs typeface="Calibri" pitchFamily="34" charset="-120"/>
              </a:rPr>
              <a:t>[10] N. Otsu, “A threshold selection method from gray-level histograms,” IEEE Trans. SMC, 1979.</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pic>
        <p:nvPicPr>
          <p:cNvPr id="4" name="Image 0" descr="preencoded.png">    </p:cNvPr>
          <p:cNvPicPr>
            <a:picLocks noChangeAspect="1"/>
          </p:cNvPicPr>
          <p:nvPr/>
        </p:nvPicPr>
        <p:blipFill>
          <a:blip r:embed="rId1"/>
          <a:stretch>
            <a:fillRect/>
          </a:stretch>
        </p:blipFill>
        <p:spPr>
          <a:xfrm>
            <a:off x="10957255" y="365760"/>
            <a:ext cx="548640" cy="548640"/>
          </a:xfrm>
          <a:prstGeom prst="rect">
            <a:avLst/>
          </a:prstGeom>
        </p:spPr>
      </p:pic>
      <p:sp>
        <p:nvSpPr>
          <p:cNvPr id="5" name="Shape 1"/>
          <p:cNvSpPr/>
          <p:nvPr/>
        </p:nvSpPr>
        <p:spPr>
          <a:xfrm>
            <a:off x="685800" y="658368"/>
            <a:ext cx="457200" cy="0"/>
          </a:xfrm>
          <a:prstGeom prst="line">
            <a:avLst/>
          </a:prstGeom>
          <a:noFill/>
          <a:ln w="19050">
            <a:solidFill>
              <a:srgbClr val="D1495B"/>
            </a:solidFill>
            <a:prstDash val="solid"/>
          </a:ln>
        </p:spPr>
      </p:sp>
      <p:sp>
        <p:nvSpPr>
          <p:cNvPr id="6"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TAKEAWAYS</a:t>
            </a:r>
            <a:endParaRPr lang="en-US" sz="1200" dirty="0"/>
          </a:p>
        </p:txBody>
      </p:sp>
      <p:sp>
        <p:nvSpPr>
          <p:cNvPr id="7" name="Shape 3"/>
          <p:cNvSpPr/>
          <p:nvPr/>
        </p:nvSpPr>
        <p:spPr>
          <a:xfrm>
            <a:off x="685800" y="1005840"/>
            <a:ext cx="3383280" cy="822960"/>
          </a:xfrm>
          <a:prstGeom prst="roundRect">
            <a:avLst>
              <a:gd name="adj" fmla="val 8889"/>
            </a:avLst>
          </a:prstGeom>
          <a:solidFill>
            <a:srgbClr val="FFFFFF"/>
          </a:solidFill>
          <a:ln w="9525">
            <a:solidFill>
              <a:srgbClr val="DCE6F0"/>
            </a:solidFill>
            <a:prstDash val="solid"/>
          </a:ln>
        </p:spPr>
      </p:sp>
      <p:sp>
        <p:nvSpPr>
          <p:cNvPr id="8" name="Text 4"/>
          <p:cNvSpPr/>
          <p:nvPr/>
        </p:nvSpPr>
        <p:spPr>
          <a:xfrm>
            <a:off x="868680" y="1097280"/>
            <a:ext cx="548640" cy="457200"/>
          </a:xfrm>
          <a:prstGeom prst="rect">
            <a:avLst/>
          </a:prstGeom>
          <a:noFill/>
          <a:ln/>
        </p:spPr>
        <p:txBody>
          <a:bodyPr wrap="square" rtlCol="0" anchor="ctr"/>
          <a:lstStyle/>
          <a:p>
            <a:pPr indent="0" marL="0">
              <a:buNone/>
            </a:pPr>
            <a:r>
              <a:rPr lang="en-US" sz="2000" dirty="0">
                <a:solidFill>
                  <a:srgbClr val="D1495B">
                    <a:alpha val="45000"/>
                  </a:srgbClr>
                </a:solidFill>
                <a:latin typeface="Cambria" pitchFamily="34" charset="0"/>
                <a:ea typeface="Cambria" pitchFamily="34" charset="-122"/>
                <a:cs typeface="Cambria" pitchFamily="34" charset="-120"/>
              </a:rPr>
              <a:t>1</a:t>
            </a:r>
            <a:endParaRPr lang="en-US" sz="2000" dirty="0"/>
          </a:p>
        </p:txBody>
      </p:sp>
      <p:sp>
        <p:nvSpPr>
          <p:cNvPr id="9" name="Text 5"/>
          <p:cNvSpPr/>
          <p:nvPr/>
        </p:nvSpPr>
        <p:spPr>
          <a:xfrm>
            <a:off x="1417320" y="1097280"/>
            <a:ext cx="2560320" cy="365760"/>
          </a:xfrm>
          <a:prstGeom prst="rect">
            <a:avLst/>
          </a:prstGeom>
          <a:noFill/>
          <a:ln/>
        </p:spPr>
        <p:txBody>
          <a:bodyPr wrap="square" rtlCol="0" anchor="ctr"/>
          <a:lstStyle/>
          <a:p>
            <a:pPr indent="0" marL="0">
              <a:buNone/>
            </a:pPr>
            <a:r>
              <a:rPr lang="en-US" sz="1200" b="1" dirty="0">
                <a:solidFill>
                  <a:srgbClr val="1A2433"/>
                </a:solidFill>
                <a:latin typeface="Calibri" pitchFamily="34" charset="0"/>
                <a:ea typeface="Calibri" pitchFamily="34" charset="-122"/>
                <a:cs typeface="Calibri" pitchFamily="34" charset="-120"/>
              </a:rPr>
              <a:t>Protocol first</a:t>
            </a:r>
            <a:endParaRPr lang="en-US" sz="1200" dirty="0"/>
          </a:p>
        </p:txBody>
      </p:sp>
      <p:sp>
        <p:nvSpPr>
          <p:cNvPr id="10" name="Text 6"/>
          <p:cNvSpPr/>
          <p:nvPr/>
        </p:nvSpPr>
        <p:spPr>
          <a:xfrm>
            <a:off x="1417320" y="1444752"/>
            <a:ext cx="2560320" cy="320040"/>
          </a:xfrm>
          <a:prstGeom prst="rect">
            <a:avLst/>
          </a:prstGeom>
          <a:noFill/>
          <a:ln/>
        </p:spPr>
        <p:txBody>
          <a:bodyPr wrap="square" rtlCol="0" anchor="ctr"/>
          <a:lstStyle/>
          <a:p>
            <a:pPr indent="0" marL="0">
              <a:buNone/>
            </a:pPr>
            <a:r>
              <a:rPr lang="en-US" sz="1000" dirty="0">
                <a:solidFill>
                  <a:srgbClr val="5C6B7A"/>
                </a:solidFill>
                <a:latin typeface="Calibri" pitchFamily="34" charset="0"/>
                <a:ea typeface="Calibri" pitchFamily="34" charset="-122"/>
                <a:cs typeface="Calibri" pitchFamily="34" charset="-120"/>
              </a:rPr>
              <a:t>0 leaked patient groups</a:t>
            </a:r>
            <a:endParaRPr lang="en-US" sz="1000" dirty="0"/>
          </a:p>
        </p:txBody>
      </p:sp>
      <p:sp>
        <p:nvSpPr>
          <p:cNvPr id="11" name="Shape 7"/>
          <p:cNvSpPr/>
          <p:nvPr/>
        </p:nvSpPr>
        <p:spPr>
          <a:xfrm>
            <a:off x="4251960" y="1005840"/>
            <a:ext cx="3383280" cy="822960"/>
          </a:xfrm>
          <a:prstGeom prst="roundRect">
            <a:avLst>
              <a:gd name="adj" fmla="val 8889"/>
            </a:avLst>
          </a:prstGeom>
          <a:solidFill>
            <a:srgbClr val="FFFFFF"/>
          </a:solidFill>
          <a:ln w="9525">
            <a:solidFill>
              <a:srgbClr val="DCE6F0"/>
            </a:solidFill>
            <a:prstDash val="solid"/>
          </a:ln>
        </p:spPr>
      </p:sp>
      <p:sp>
        <p:nvSpPr>
          <p:cNvPr id="12" name="Text 8"/>
          <p:cNvSpPr/>
          <p:nvPr/>
        </p:nvSpPr>
        <p:spPr>
          <a:xfrm>
            <a:off x="4434840" y="1097280"/>
            <a:ext cx="548640" cy="457200"/>
          </a:xfrm>
          <a:prstGeom prst="rect">
            <a:avLst/>
          </a:prstGeom>
          <a:noFill/>
          <a:ln/>
        </p:spPr>
        <p:txBody>
          <a:bodyPr wrap="square" rtlCol="0" anchor="ctr"/>
          <a:lstStyle/>
          <a:p>
            <a:pPr indent="0" marL="0">
              <a:buNone/>
            </a:pPr>
            <a:r>
              <a:rPr lang="en-US" sz="2000" dirty="0">
                <a:solidFill>
                  <a:srgbClr val="D1495B">
                    <a:alpha val="45000"/>
                  </a:srgbClr>
                </a:solidFill>
                <a:latin typeface="Cambria" pitchFamily="34" charset="0"/>
                <a:ea typeface="Cambria" pitchFamily="34" charset="-122"/>
                <a:cs typeface="Cambria" pitchFamily="34" charset="-120"/>
              </a:rPr>
              <a:t>2</a:t>
            </a:r>
            <a:endParaRPr lang="en-US" sz="2000" dirty="0"/>
          </a:p>
        </p:txBody>
      </p:sp>
      <p:sp>
        <p:nvSpPr>
          <p:cNvPr id="13" name="Text 9"/>
          <p:cNvSpPr/>
          <p:nvPr/>
        </p:nvSpPr>
        <p:spPr>
          <a:xfrm>
            <a:off x="4983480" y="1097280"/>
            <a:ext cx="2560320" cy="365760"/>
          </a:xfrm>
          <a:prstGeom prst="rect">
            <a:avLst/>
          </a:prstGeom>
          <a:noFill/>
          <a:ln/>
        </p:spPr>
        <p:txBody>
          <a:bodyPr wrap="square" rtlCol="0" anchor="ctr"/>
          <a:lstStyle/>
          <a:p>
            <a:pPr indent="0" marL="0">
              <a:buNone/>
            </a:pPr>
            <a:r>
              <a:rPr lang="en-US" sz="1200" b="1" dirty="0">
                <a:solidFill>
                  <a:srgbClr val="1A2433"/>
                </a:solidFill>
                <a:latin typeface="Calibri" pitchFamily="34" charset="0"/>
                <a:ea typeface="Calibri" pitchFamily="34" charset="-122"/>
                <a:cs typeface="Calibri" pitchFamily="34" charset="-120"/>
              </a:rPr>
              <a:t>Simple ensemble</a:t>
            </a:r>
            <a:endParaRPr lang="en-US" sz="1200" dirty="0"/>
          </a:p>
        </p:txBody>
      </p:sp>
      <p:sp>
        <p:nvSpPr>
          <p:cNvPr id="14" name="Text 10"/>
          <p:cNvSpPr/>
          <p:nvPr/>
        </p:nvSpPr>
        <p:spPr>
          <a:xfrm>
            <a:off x="4983480" y="1444752"/>
            <a:ext cx="2560320" cy="320040"/>
          </a:xfrm>
          <a:prstGeom prst="rect">
            <a:avLst/>
          </a:prstGeom>
          <a:noFill/>
          <a:ln/>
        </p:spPr>
        <p:txBody>
          <a:bodyPr wrap="square" rtlCol="0" anchor="ctr"/>
          <a:lstStyle/>
          <a:p>
            <a:pPr indent="0" marL="0">
              <a:buNone/>
            </a:pPr>
            <a:r>
              <a:rPr lang="en-US" sz="1000" dirty="0">
                <a:solidFill>
                  <a:srgbClr val="5C6B7A"/>
                </a:solidFill>
                <a:latin typeface="Calibri" pitchFamily="34" charset="0"/>
                <a:ea typeface="Calibri" pitchFamily="34" charset="-122"/>
                <a:cs typeface="Calibri" pitchFamily="34" charset="-120"/>
              </a:rPr>
              <a:t>ROC-AUC 0.891</a:t>
            </a:r>
            <a:endParaRPr lang="en-US" sz="1000" dirty="0"/>
          </a:p>
        </p:txBody>
      </p:sp>
      <p:sp>
        <p:nvSpPr>
          <p:cNvPr id="15" name="Shape 11"/>
          <p:cNvSpPr/>
          <p:nvPr/>
        </p:nvSpPr>
        <p:spPr>
          <a:xfrm>
            <a:off x="685800" y="1965960"/>
            <a:ext cx="3383280" cy="822960"/>
          </a:xfrm>
          <a:prstGeom prst="roundRect">
            <a:avLst>
              <a:gd name="adj" fmla="val 8889"/>
            </a:avLst>
          </a:prstGeom>
          <a:solidFill>
            <a:srgbClr val="FFFFFF"/>
          </a:solidFill>
          <a:ln w="9525">
            <a:solidFill>
              <a:srgbClr val="DCE6F0"/>
            </a:solidFill>
            <a:prstDash val="solid"/>
          </a:ln>
        </p:spPr>
      </p:sp>
      <p:sp>
        <p:nvSpPr>
          <p:cNvPr id="16" name="Text 12"/>
          <p:cNvSpPr/>
          <p:nvPr/>
        </p:nvSpPr>
        <p:spPr>
          <a:xfrm>
            <a:off x="868680" y="2057400"/>
            <a:ext cx="548640" cy="457200"/>
          </a:xfrm>
          <a:prstGeom prst="rect">
            <a:avLst/>
          </a:prstGeom>
          <a:noFill/>
          <a:ln/>
        </p:spPr>
        <p:txBody>
          <a:bodyPr wrap="square" rtlCol="0" anchor="ctr"/>
          <a:lstStyle/>
          <a:p>
            <a:pPr indent="0" marL="0">
              <a:buNone/>
            </a:pPr>
            <a:r>
              <a:rPr lang="en-US" sz="2000" dirty="0">
                <a:solidFill>
                  <a:srgbClr val="D1495B">
                    <a:alpha val="45000"/>
                  </a:srgbClr>
                </a:solidFill>
                <a:latin typeface="Cambria" pitchFamily="34" charset="0"/>
                <a:ea typeface="Cambria" pitchFamily="34" charset="-122"/>
                <a:cs typeface="Cambria" pitchFamily="34" charset="-120"/>
              </a:rPr>
              <a:t>3</a:t>
            </a:r>
            <a:endParaRPr lang="en-US" sz="2000" dirty="0"/>
          </a:p>
        </p:txBody>
      </p:sp>
      <p:sp>
        <p:nvSpPr>
          <p:cNvPr id="17" name="Text 13"/>
          <p:cNvSpPr/>
          <p:nvPr/>
        </p:nvSpPr>
        <p:spPr>
          <a:xfrm>
            <a:off x="1417320" y="2057400"/>
            <a:ext cx="2560320" cy="365760"/>
          </a:xfrm>
          <a:prstGeom prst="rect">
            <a:avLst/>
          </a:prstGeom>
          <a:noFill/>
          <a:ln/>
        </p:spPr>
        <p:txBody>
          <a:bodyPr wrap="square" rtlCol="0" anchor="ctr"/>
          <a:lstStyle/>
          <a:p>
            <a:pPr indent="0" marL="0">
              <a:buNone/>
            </a:pPr>
            <a:r>
              <a:rPr lang="en-US" sz="1200" b="1" dirty="0">
                <a:solidFill>
                  <a:srgbClr val="1A2433"/>
                </a:solidFill>
                <a:latin typeface="Calibri" pitchFamily="34" charset="0"/>
                <a:ea typeface="Calibri" pitchFamily="34" charset="-122"/>
                <a:cs typeface="Calibri" pitchFamily="34" charset="-120"/>
              </a:rPr>
              <a:t>Thresholds matter</a:t>
            </a:r>
            <a:endParaRPr lang="en-US" sz="1200" dirty="0"/>
          </a:p>
        </p:txBody>
      </p:sp>
      <p:sp>
        <p:nvSpPr>
          <p:cNvPr id="18" name="Text 14"/>
          <p:cNvSpPr/>
          <p:nvPr/>
        </p:nvSpPr>
        <p:spPr>
          <a:xfrm>
            <a:off x="1417320" y="2404872"/>
            <a:ext cx="2560320" cy="320040"/>
          </a:xfrm>
          <a:prstGeom prst="rect">
            <a:avLst/>
          </a:prstGeom>
          <a:noFill/>
          <a:ln/>
        </p:spPr>
        <p:txBody>
          <a:bodyPr wrap="square" rtlCol="0" anchor="ctr"/>
          <a:lstStyle/>
          <a:p>
            <a:pPr indent="0" marL="0">
              <a:buNone/>
            </a:pPr>
            <a:r>
              <a:rPr lang="en-US" sz="1000" dirty="0">
                <a:solidFill>
                  <a:srgbClr val="5C6B7A"/>
                </a:solidFill>
                <a:latin typeface="Calibri" pitchFamily="34" charset="0"/>
                <a:ea typeface="Calibri" pitchFamily="34" charset="-122"/>
                <a:cs typeface="Calibri" pitchFamily="34" charset="-120"/>
              </a:rPr>
              <a:t>Sensitivity 0.79</a:t>
            </a:r>
            <a:endParaRPr lang="en-US" sz="1000" dirty="0"/>
          </a:p>
        </p:txBody>
      </p:sp>
      <p:sp>
        <p:nvSpPr>
          <p:cNvPr id="19" name="Shape 15"/>
          <p:cNvSpPr/>
          <p:nvPr/>
        </p:nvSpPr>
        <p:spPr>
          <a:xfrm>
            <a:off x="4251960" y="1965960"/>
            <a:ext cx="3383280" cy="822960"/>
          </a:xfrm>
          <a:prstGeom prst="roundRect">
            <a:avLst>
              <a:gd name="adj" fmla="val 8889"/>
            </a:avLst>
          </a:prstGeom>
          <a:solidFill>
            <a:srgbClr val="FFFFFF"/>
          </a:solidFill>
          <a:ln w="9525">
            <a:solidFill>
              <a:srgbClr val="DCE6F0"/>
            </a:solidFill>
            <a:prstDash val="solid"/>
          </a:ln>
        </p:spPr>
      </p:sp>
      <p:sp>
        <p:nvSpPr>
          <p:cNvPr id="20" name="Text 16"/>
          <p:cNvSpPr/>
          <p:nvPr/>
        </p:nvSpPr>
        <p:spPr>
          <a:xfrm>
            <a:off x="4434840" y="2057400"/>
            <a:ext cx="548640" cy="457200"/>
          </a:xfrm>
          <a:prstGeom prst="rect">
            <a:avLst/>
          </a:prstGeom>
          <a:noFill/>
          <a:ln/>
        </p:spPr>
        <p:txBody>
          <a:bodyPr wrap="square" rtlCol="0" anchor="ctr"/>
          <a:lstStyle/>
          <a:p>
            <a:pPr indent="0" marL="0">
              <a:buNone/>
            </a:pPr>
            <a:r>
              <a:rPr lang="en-US" sz="2000" dirty="0">
                <a:solidFill>
                  <a:srgbClr val="D1495B">
                    <a:alpha val="45000"/>
                  </a:srgbClr>
                </a:solidFill>
                <a:latin typeface="Cambria" pitchFamily="34" charset="0"/>
                <a:ea typeface="Cambria" pitchFamily="34" charset="-122"/>
                <a:cs typeface="Cambria" pitchFamily="34" charset="-120"/>
              </a:rPr>
              <a:t>4</a:t>
            </a:r>
            <a:endParaRPr lang="en-US" sz="2000" dirty="0"/>
          </a:p>
        </p:txBody>
      </p:sp>
      <p:sp>
        <p:nvSpPr>
          <p:cNvPr id="21" name="Text 17"/>
          <p:cNvSpPr/>
          <p:nvPr/>
        </p:nvSpPr>
        <p:spPr>
          <a:xfrm>
            <a:off x="4983480" y="2057400"/>
            <a:ext cx="2560320" cy="365760"/>
          </a:xfrm>
          <a:prstGeom prst="rect">
            <a:avLst/>
          </a:prstGeom>
          <a:noFill/>
          <a:ln/>
        </p:spPr>
        <p:txBody>
          <a:bodyPr wrap="square" rtlCol="0" anchor="ctr"/>
          <a:lstStyle/>
          <a:p>
            <a:pPr indent="0" marL="0">
              <a:buNone/>
            </a:pPr>
            <a:r>
              <a:rPr lang="en-US" sz="1200" b="1" dirty="0">
                <a:solidFill>
                  <a:srgbClr val="1A2433"/>
                </a:solidFill>
                <a:latin typeface="Calibri" pitchFamily="34" charset="0"/>
                <a:ea typeface="Calibri" pitchFamily="34" charset="-122"/>
                <a:cs typeface="Calibri" pitchFamily="34" charset="-120"/>
              </a:rPr>
              <a:t>Calibrated</a:t>
            </a:r>
            <a:endParaRPr lang="en-US" sz="1200" dirty="0"/>
          </a:p>
        </p:txBody>
      </p:sp>
      <p:sp>
        <p:nvSpPr>
          <p:cNvPr id="22" name="Text 18"/>
          <p:cNvSpPr/>
          <p:nvPr/>
        </p:nvSpPr>
        <p:spPr>
          <a:xfrm>
            <a:off x="4983480" y="2404872"/>
            <a:ext cx="2560320" cy="320040"/>
          </a:xfrm>
          <a:prstGeom prst="rect">
            <a:avLst/>
          </a:prstGeom>
          <a:noFill/>
          <a:ln/>
        </p:spPr>
        <p:txBody>
          <a:bodyPr wrap="square" rtlCol="0" anchor="ctr"/>
          <a:lstStyle/>
          <a:p>
            <a:pPr indent="0" marL="0">
              <a:buNone/>
            </a:pPr>
            <a:r>
              <a:rPr lang="en-US" sz="1000" dirty="0">
                <a:solidFill>
                  <a:srgbClr val="5C6B7A"/>
                </a:solidFill>
                <a:latin typeface="Calibri" pitchFamily="34" charset="0"/>
                <a:ea typeface="Calibri" pitchFamily="34" charset="-122"/>
                <a:cs typeface="Calibri" pitchFamily="34" charset="-120"/>
              </a:rPr>
              <a:t>ECE 0.023</a:t>
            </a:r>
            <a:endParaRPr lang="en-US" sz="1000" dirty="0"/>
          </a:p>
        </p:txBody>
      </p:sp>
      <p:sp>
        <p:nvSpPr>
          <p:cNvPr id="23" name="Text 19"/>
          <p:cNvSpPr/>
          <p:nvPr/>
        </p:nvSpPr>
        <p:spPr>
          <a:xfrm>
            <a:off x="685800" y="3200400"/>
            <a:ext cx="6675120" cy="1097280"/>
          </a:xfrm>
          <a:prstGeom prst="rect">
            <a:avLst/>
          </a:prstGeom>
          <a:noFill/>
          <a:ln/>
        </p:spPr>
        <p:txBody>
          <a:bodyPr wrap="square" rtlCol="0" anchor="ctr"/>
          <a:lstStyle/>
          <a:p>
            <a:pPr indent="0" marL="0">
              <a:buNone/>
            </a:pPr>
            <a:r>
              <a:rPr lang="en-US" sz="4800" dirty="0">
                <a:solidFill>
                  <a:srgbClr val="1A2433"/>
                </a:solidFill>
                <a:latin typeface="Cambria" pitchFamily="34" charset="0"/>
                <a:ea typeface="Cambria" pitchFamily="34" charset="-122"/>
                <a:cs typeface="Cambria" pitchFamily="34" charset="-120"/>
              </a:rPr>
              <a:t>Thank you.</a:t>
            </a:r>
            <a:endParaRPr lang="en-US" sz="4800" dirty="0"/>
          </a:p>
        </p:txBody>
      </p:sp>
      <p:sp>
        <p:nvSpPr>
          <p:cNvPr id="24" name="Text 20"/>
          <p:cNvSpPr/>
          <p:nvPr/>
        </p:nvSpPr>
        <p:spPr>
          <a:xfrm>
            <a:off x="685800" y="4343400"/>
            <a:ext cx="6675120" cy="365760"/>
          </a:xfrm>
          <a:prstGeom prst="rect">
            <a:avLst/>
          </a:prstGeom>
          <a:noFill/>
          <a:ln/>
        </p:spPr>
        <p:txBody>
          <a:bodyPr wrap="square" rtlCol="0" anchor="ctr"/>
          <a:lstStyle/>
          <a:p>
            <a:pPr indent="0" marL="0">
              <a:buNone/>
            </a:pPr>
            <a:r>
              <a:rPr lang="en-US" sz="1300" dirty="0">
                <a:solidFill>
                  <a:srgbClr val="5C6B7A"/>
                </a:solidFill>
                <a:latin typeface="Calibri" pitchFamily="34" charset="0"/>
                <a:ea typeface="Calibri" pitchFamily="34" charset="-122"/>
                <a:cs typeface="Calibri" pitchFamily="34" charset="-120"/>
              </a:rPr>
              <a:t>Questions welcome · code &amp; audit files: </a:t>
            </a:r>
            <a:pPr indent="0" marL="0">
              <a:buNone/>
            </a:pPr>
            <a:r>
              <a:rPr lang="en-US" sz="1300" u="sng" dirty="0">
                <a:solidFill>
                  <a:srgbClr val="1A243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github.com/NoorAbdullah02/MINI_DDSM</a:t>
            </a:r>
            <a:endParaRPr lang="en-US" sz="1300" dirty="0"/>
          </a:p>
        </p:txBody>
      </p:sp>
      <p:sp>
        <p:nvSpPr>
          <p:cNvPr id="25" name="Shape 21"/>
          <p:cNvSpPr/>
          <p:nvPr/>
        </p:nvSpPr>
        <p:spPr>
          <a:xfrm>
            <a:off x="9692640" y="1005840"/>
            <a:ext cx="1828800" cy="2514600"/>
          </a:xfrm>
          <a:prstGeom prst="roundRect">
            <a:avLst>
              <a:gd name="adj" fmla="val 5000"/>
            </a:avLst>
          </a:prstGeom>
          <a:solidFill>
            <a:srgbClr val="FFFFFF"/>
          </a:solidFill>
          <a:ln w="9525">
            <a:solidFill>
              <a:srgbClr val="DCE6F0"/>
            </a:solidFill>
            <a:prstDash val="solid"/>
          </a:ln>
        </p:spPr>
      </p:sp>
      <p:sp>
        <p:nvSpPr>
          <p:cNvPr id="26" name="Text 22"/>
          <p:cNvSpPr/>
          <p:nvPr/>
        </p:nvSpPr>
        <p:spPr>
          <a:xfrm>
            <a:off x="9692640" y="1143000"/>
            <a:ext cx="1828800" cy="228600"/>
          </a:xfrm>
          <a:prstGeom prst="rect">
            <a:avLst/>
          </a:prstGeom>
          <a:noFill/>
          <a:ln/>
        </p:spPr>
        <p:txBody>
          <a:bodyPr wrap="square" rtlCol="0" anchor="ctr"/>
          <a:lstStyle/>
          <a:p>
            <a:pPr algn="ctr" indent="0" marL="0">
              <a:buNone/>
            </a:pPr>
            <a:r>
              <a:rPr lang="en-US" sz="900" b="1" spc="100" kern="0" dirty="0">
                <a:solidFill>
                  <a:srgbClr val="D1495B"/>
                </a:solidFill>
                <a:latin typeface="Calibri" pitchFamily="34" charset="0"/>
                <a:ea typeface="Calibri" pitchFamily="34" charset="-122"/>
                <a:cs typeface="Calibri" pitchFamily="34" charset="-120"/>
              </a:rPr>
              <a:t>TRY IT LIVE</a:t>
            </a:r>
            <a:endParaRPr lang="en-US" sz="900" dirty="0"/>
          </a:p>
        </p:txBody>
      </p:sp>
      <p:pic>
        <p:nvPicPr>
          <p:cNvPr id="27" name="Image 1" descr="preencoded.png">    </p:cNvPr>
          <p:cNvPicPr>
            <a:picLocks noChangeAspect="1"/>
          </p:cNvPicPr>
          <p:nvPr/>
        </p:nvPicPr>
        <p:blipFill>
          <a:blip r:embed="rId3"/>
          <a:stretch>
            <a:fillRect/>
          </a:stretch>
        </p:blipFill>
        <p:spPr>
          <a:xfrm>
            <a:off x="9966960" y="1417320"/>
            <a:ext cx="1280160" cy="1280160"/>
          </a:xfrm>
          <a:prstGeom prst="rect">
            <a:avLst/>
          </a:prstGeom>
        </p:spPr>
      </p:pic>
      <p:sp>
        <p:nvSpPr>
          <p:cNvPr id="28" name="Text 23"/>
          <p:cNvSpPr/>
          <p:nvPr/>
        </p:nvSpPr>
        <p:spPr>
          <a:xfrm>
            <a:off x="9784080" y="2788920"/>
            <a:ext cx="1645920" cy="457200"/>
          </a:xfrm>
          <a:prstGeom prst="rect">
            <a:avLst/>
          </a:prstGeom>
          <a:noFill/>
          <a:ln/>
        </p:spPr>
        <p:txBody>
          <a:bodyPr wrap="square" rtlCol="0" anchor="ctr"/>
          <a:lstStyle/>
          <a:p>
            <a:pPr algn="ctr" indent="0" marL="0">
              <a:buNone/>
            </a:pPr>
            <a:r>
              <a:rPr lang="en-US" sz="850" dirty="0">
                <a:solidFill>
                  <a:srgbClr val="5C6B7A"/>
                </a:solidFill>
                <a:latin typeface="Calibri" pitchFamily="34" charset="0"/>
                <a:ea typeface="Calibri" pitchFamily="34" charset="-122"/>
                <a:cs typeface="Calibri" pitchFamily="34" charset="-120"/>
              </a:rPr>
              <a:t>Scan to run the model on your phone</a:t>
            </a:r>
            <a:endParaRPr lang="en-US" sz="850" dirty="0"/>
          </a:p>
        </p:txBody>
      </p:sp>
      <p:sp>
        <p:nvSpPr>
          <p:cNvPr id="29" name="Text 24"/>
          <p:cNvSpPr/>
          <p:nvPr/>
        </p:nvSpPr>
        <p:spPr>
          <a:xfrm>
            <a:off x="9692640" y="3246120"/>
            <a:ext cx="1828800" cy="228600"/>
          </a:xfrm>
          <a:prstGeom prst="rect">
            <a:avLst/>
          </a:prstGeom>
          <a:noFill/>
          <a:ln/>
        </p:spPr>
        <p:txBody>
          <a:bodyPr wrap="square" rtlCol="0" anchor="ctr"/>
          <a:lstStyle/>
          <a:p>
            <a:pPr algn="ctr" indent="0" marL="0">
              <a:buNone/>
            </a:pPr>
            <a:r>
              <a:rPr lang="en-US" sz="700" dirty="0">
                <a:solidFill>
                  <a:srgbClr val="0B2545"/>
                </a:solidFill>
                <a:latin typeface="Courier New" pitchFamily="34" charset="0"/>
                <a:ea typeface="Courier New" pitchFamily="34" charset="-122"/>
                <a:cs typeface="Courier New" pitchFamily="34" charset="-120"/>
              </a:rPr>
              <a:t>mini-ddsm-csde2026.vercel.app</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8DA9C4"/>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Text 1"/>
          <p:cNvSpPr/>
          <p:nvPr/>
        </p:nvSpPr>
        <p:spPr>
          <a:xfrm>
            <a:off x="7589520" y="274320"/>
            <a:ext cx="4572000" cy="6400800"/>
          </a:xfrm>
          <a:prstGeom prst="rect">
            <a:avLst/>
          </a:prstGeom>
          <a:noFill/>
          <a:ln/>
        </p:spPr>
        <p:txBody>
          <a:bodyPr wrap="square" rtlCol="0" anchor="ctr"/>
          <a:lstStyle/>
          <a:p>
            <a:pPr algn="r" indent="0" marL="0">
              <a:buNone/>
            </a:pPr>
            <a:r>
              <a:rPr lang="en-US" sz="42000" i="1" dirty="0">
                <a:solidFill>
                  <a:srgbClr val="3E7CB1">
                    <a:alpha val="5000"/>
                  </a:srgbClr>
                </a:solidFill>
                <a:latin typeface="Cambria" pitchFamily="34" charset="0"/>
                <a:ea typeface="Cambria" pitchFamily="34" charset="-122"/>
                <a:cs typeface="Cambria" pitchFamily="34" charset="-120"/>
              </a:rPr>
              <a:t>?</a:t>
            </a:r>
            <a:endParaRPr lang="en-US" sz="42000" dirty="0"/>
          </a:p>
        </p:txBody>
      </p:sp>
      <p:sp>
        <p:nvSpPr>
          <p:cNvPr id="5" name="Shape 2"/>
          <p:cNvSpPr/>
          <p:nvPr/>
        </p:nvSpPr>
        <p:spPr>
          <a:xfrm>
            <a:off x="685800" y="658368"/>
            <a:ext cx="457200" cy="0"/>
          </a:xfrm>
          <a:prstGeom prst="line">
            <a:avLst/>
          </a:prstGeom>
          <a:noFill/>
          <a:ln w="19050">
            <a:solidFill>
              <a:srgbClr val="D1495B"/>
            </a:solidFill>
            <a:prstDash val="solid"/>
          </a:ln>
        </p:spPr>
      </p:sp>
      <p:sp>
        <p:nvSpPr>
          <p:cNvPr id="6" name="Text 3"/>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D1495B"/>
                </a:solidFill>
                <a:latin typeface="Calibri" pitchFamily="34" charset="0"/>
                <a:ea typeface="Calibri" pitchFamily="34" charset="-122"/>
                <a:cs typeface="Calibri" pitchFamily="34" charset="-120"/>
              </a:rPr>
              <a:t>Q &amp; A</a:t>
            </a:r>
            <a:endParaRPr lang="en-US" sz="1200" dirty="0"/>
          </a:p>
        </p:txBody>
      </p:sp>
      <p:sp>
        <p:nvSpPr>
          <p:cNvPr id="7" name="Text 4"/>
          <p:cNvSpPr/>
          <p:nvPr/>
        </p:nvSpPr>
        <p:spPr>
          <a:xfrm>
            <a:off x="685800" y="1463040"/>
            <a:ext cx="9144000" cy="1463040"/>
          </a:xfrm>
          <a:prstGeom prst="rect">
            <a:avLst/>
          </a:prstGeom>
          <a:noFill/>
          <a:ln/>
        </p:spPr>
        <p:txBody>
          <a:bodyPr wrap="square" rtlCol="0" anchor="ctr"/>
          <a:lstStyle/>
          <a:p>
            <a:pPr indent="0" marL="0">
              <a:buNone/>
            </a:pPr>
            <a:r>
              <a:rPr lang="en-US" sz="5600" dirty="0">
                <a:solidFill>
                  <a:srgbClr val="1A2433"/>
                </a:solidFill>
                <a:latin typeface="Cambria" pitchFamily="34" charset="0"/>
                <a:ea typeface="Cambria" pitchFamily="34" charset="-122"/>
                <a:cs typeface="Cambria" pitchFamily="34" charset="-120"/>
              </a:rPr>
              <a:t>Any </a:t>
            </a:r>
            <a:pPr indent="0" marL="0">
              <a:buNone/>
            </a:pPr>
            <a:r>
              <a:rPr lang="en-US" sz="5600" i="1" dirty="0">
                <a:solidFill>
                  <a:srgbClr val="D1495B"/>
                </a:solidFill>
                <a:latin typeface="Cambria" pitchFamily="34" charset="0"/>
                <a:ea typeface="Cambria" pitchFamily="34" charset="-122"/>
                <a:cs typeface="Cambria" pitchFamily="34" charset="-120"/>
              </a:rPr>
              <a:t>questions</a:t>
            </a:r>
            <a:pPr indent="0" marL="0">
              <a:buNone/>
            </a:pPr>
            <a:r>
              <a:rPr lang="en-US" sz="5600" dirty="0">
                <a:solidFill>
                  <a:srgbClr val="1A2433"/>
                </a:solidFill>
                <a:latin typeface="Cambria" pitchFamily="34" charset="0"/>
                <a:ea typeface="Cambria" pitchFamily="34" charset="-122"/>
                <a:cs typeface="Cambria" pitchFamily="34" charset="-120"/>
              </a:rPr>
              <a:t>?</a:t>
            </a:r>
            <a:endParaRPr lang="en-US" sz="5600" dirty="0"/>
          </a:p>
        </p:txBody>
      </p:sp>
      <p:sp>
        <p:nvSpPr>
          <p:cNvPr id="8" name="Text 5"/>
          <p:cNvSpPr/>
          <p:nvPr/>
        </p:nvSpPr>
        <p:spPr>
          <a:xfrm>
            <a:off x="685800" y="2834640"/>
            <a:ext cx="8229600" cy="822960"/>
          </a:xfrm>
          <a:prstGeom prst="rect">
            <a:avLst/>
          </a:prstGeom>
          <a:noFill/>
          <a:ln/>
        </p:spPr>
        <p:txBody>
          <a:bodyPr wrap="square" rtlCol="0" anchor="ctr"/>
          <a:lstStyle/>
          <a:p>
            <a:pPr indent="0" marL="0">
              <a:lnSpc>
                <a:spcPct val="130000"/>
              </a:lnSpc>
              <a:buNone/>
            </a:pPr>
            <a:r>
              <a:rPr lang="en-US" sz="1500" dirty="0">
                <a:solidFill>
                  <a:srgbClr val="5C6B7A"/>
                </a:solidFill>
                <a:latin typeface="Calibri" pitchFamily="34" charset="0"/>
                <a:ea typeface="Calibri" pitchFamily="34" charset="-122"/>
                <a:cs typeface="Calibri" pitchFamily="34" charset="-120"/>
              </a:rPr>
              <a:t>Happy to dig into the patient-grouping protocol, the ensemble, the thresholds, or what we would do differently on a second dataset.</a:t>
            </a:r>
            <a:endParaRPr lang="en-US" sz="1500" dirty="0"/>
          </a:p>
        </p:txBody>
      </p:sp>
      <p:sp>
        <p:nvSpPr>
          <p:cNvPr id="9" name="Shape 6"/>
          <p:cNvSpPr/>
          <p:nvPr/>
        </p:nvSpPr>
        <p:spPr>
          <a:xfrm>
            <a:off x="685800" y="3931920"/>
            <a:ext cx="3291840" cy="914400"/>
          </a:xfrm>
          <a:prstGeom prst="roundRect">
            <a:avLst>
              <a:gd name="adj" fmla="val 8000"/>
            </a:avLst>
          </a:prstGeom>
          <a:solidFill>
            <a:srgbClr val="FFFFFF"/>
          </a:solidFill>
          <a:ln w="9525">
            <a:solidFill>
              <a:srgbClr val="DCE6F0"/>
            </a:solidFill>
            <a:prstDash val="solid"/>
          </a:ln>
        </p:spPr>
      </p:sp>
      <p:sp>
        <p:nvSpPr>
          <p:cNvPr id="10" name="Text 7"/>
          <p:cNvSpPr/>
          <p:nvPr/>
        </p:nvSpPr>
        <p:spPr>
          <a:xfrm>
            <a:off x="914400" y="4041648"/>
            <a:ext cx="2834640" cy="274320"/>
          </a:xfrm>
          <a:prstGeom prst="rect">
            <a:avLst/>
          </a:prstGeom>
          <a:noFill/>
          <a:ln/>
        </p:spPr>
        <p:txBody>
          <a:bodyPr wrap="square" rtlCol="0" anchor="ctr"/>
          <a:lstStyle/>
          <a:p>
            <a:pPr indent="0" marL="0">
              <a:buNone/>
            </a:pPr>
            <a:r>
              <a:rPr lang="en-US" sz="1000" b="1" spc="100" kern="0" dirty="0">
                <a:solidFill>
                  <a:srgbClr val="3E7CB1"/>
                </a:solidFill>
                <a:latin typeface="Calibri" pitchFamily="34" charset="0"/>
                <a:ea typeface="Calibri" pitchFamily="34" charset="-122"/>
                <a:cs typeface="Calibri" pitchFamily="34" charset="-120"/>
              </a:rPr>
              <a:t>Sheikh Noor Abdullah</a:t>
            </a:r>
            <a:endParaRPr lang="en-US" sz="1000" dirty="0"/>
          </a:p>
        </p:txBody>
      </p:sp>
      <p:sp>
        <p:nvSpPr>
          <p:cNvPr id="11" name="Text 8"/>
          <p:cNvSpPr/>
          <p:nvPr/>
        </p:nvSpPr>
        <p:spPr>
          <a:xfrm>
            <a:off x="822960" y="4315968"/>
            <a:ext cx="3017520" cy="411480"/>
          </a:xfrm>
          <a:prstGeom prst="rect">
            <a:avLst/>
          </a:prstGeom>
          <a:noFill/>
          <a:ln/>
        </p:spPr>
        <p:txBody>
          <a:bodyPr wrap="square" rtlCol="0" anchor="ctr"/>
          <a:lstStyle/>
          <a:p>
            <a:pPr indent="0" marL="0">
              <a:buNone/>
            </a:pPr>
            <a:r>
              <a:rPr lang="en-US" sz="1000" dirty="0">
                <a:solidFill>
                  <a:srgbClr val="0B2545"/>
                </a:solidFill>
                <a:latin typeface="Courier New" pitchFamily="34" charset="0"/>
                <a:ea typeface="Courier New" pitchFamily="34" charset="-122"/>
                <a:cs typeface="Courier New" pitchFamily="34" charset="-120"/>
              </a:rPr>
              <a:t>sheikhnoorabdullah02@gmail.com</a:t>
            </a:r>
            <a:endParaRPr lang="en-US" sz="1000" dirty="0"/>
          </a:p>
        </p:txBody>
      </p:sp>
      <p:sp>
        <p:nvSpPr>
          <p:cNvPr id="12" name="Shape 9"/>
          <p:cNvSpPr/>
          <p:nvPr/>
        </p:nvSpPr>
        <p:spPr>
          <a:xfrm>
            <a:off x="4251960" y="3931920"/>
            <a:ext cx="3291840" cy="914400"/>
          </a:xfrm>
          <a:prstGeom prst="roundRect">
            <a:avLst>
              <a:gd name="adj" fmla="val 8000"/>
            </a:avLst>
          </a:prstGeom>
          <a:solidFill>
            <a:srgbClr val="FFFFFF"/>
          </a:solidFill>
          <a:ln w="9525">
            <a:solidFill>
              <a:srgbClr val="DCE6F0"/>
            </a:solidFill>
            <a:prstDash val="solid"/>
          </a:ln>
        </p:spPr>
      </p:sp>
      <p:sp>
        <p:nvSpPr>
          <p:cNvPr id="13" name="Text 10"/>
          <p:cNvSpPr/>
          <p:nvPr/>
        </p:nvSpPr>
        <p:spPr>
          <a:xfrm>
            <a:off x="4480560" y="4041648"/>
            <a:ext cx="2834640" cy="274320"/>
          </a:xfrm>
          <a:prstGeom prst="rect">
            <a:avLst/>
          </a:prstGeom>
          <a:noFill/>
          <a:ln/>
        </p:spPr>
        <p:txBody>
          <a:bodyPr wrap="square" rtlCol="0" anchor="ctr"/>
          <a:lstStyle/>
          <a:p>
            <a:pPr indent="0" marL="0">
              <a:buNone/>
            </a:pPr>
            <a:r>
              <a:rPr lang="en-US" sz="1000" b="1" spc="100" kern="0" dirty="0">
                <a:solidFill>
                  <a:srgbClr val="3E7CB1"/>
                </a:solidFill>
                <a:latin typeface="Calibri" pitchFamily="34" charset="0"/>
                <a:ea typeface="Calibri" pitchFamily="34" charset="-122"/>
                <a:cs typeface="Calibri" pitchFamily="34" charset="-120"/>
              </a:rPr>
              <a:t>Code &amp; audit files</a:t>
            </a:r>
            <a:endParaRPr lang="en-US" sz="1000" dirty="0"/>
          </a:p>
        </p:txBody>
      </p:sp>
      <p:sp>
        <p:nvSpPr>
          <p:cNvPr id="14" name="Text 11"/>
          <p:cNvSpPr/>
          <p:nvPr/>
        </p:nvSpPr>
        <p:spPr>
          <a:xfrm>
            <a:off x="4389120" y="4315968"/>
            <a:ext cx="3017520" cy="411480"/>
          </a:xfrm>
          <a:prstGeom prst="rect">
            <a:avLst/>
          </a:prstGeom>
          <a:noFill/>
          <a:ln/>
        </p:spPr>
        <p:txBody>
          <a:bodyPr wrap="square" rtlCol="0" anchor="ctr"/>
          <a:lstStyle/>
          <a:p>
            <a:pPr indent="0" marL="0">
              <a:buNone/>
            </a:pPr>
            <a:r>
              <a:rPr lang="en-US" sz="1000" dirty="0">
                <a:solidFill>
                  <a:srgbClr val="0B2545"/>
                </a:solidFill>
                <a:latin typeface="Courier New" pitchFamily="34" charset="0"/>
                <a:ea typeface="Courier New" pitchFamily="34" charset="-122"/>
                <a:cs typeface="Courier New" pitchFamily="34" charset="-120"/>
              </a:rPr>
              <a:t>github.com/NoorAbdullah02/MINI_DDSM</a:t>
            </a:r>
            <a:endParaRPr lang="en-US" sz="1000" dirty="0"/>
          </a:p>
        </p:txBody>
      </p:sp>
      <p:sp>
        <p:nvSpPr>
          <p:cNvPr id="15" name="Shape 12"/>
          <p:cNvSpPr/>
          <p:nvPr/>
        </p:nvSpPr>
        <p:spPr>
          <a:xfrm>
            <a:off x="7818120" y="3931920"/>
            <a:ext cx="3291840" cy="914400"/>
          </a:xfrm>
          <a:prstGeom prst="roundRect">
            <a:avLst>
              <a:gd name="adj" fmla="val 8000"/>
            </a:avLst>
          </a:prstGeom>
          <a:solidFill>
            <a:srgbClr val="FFFFFF"/>
          </a:solidFill>
          <a:ln w="9525">
            <a:solidFill>
              <a:srgbClr val="DCE6F0"/>
            </a:solidFill>
            <a:prstDash val="solid"/>
          </a:ln>
        </p:spPr>
      </p:sp>
      <p:sp>
        <p:nvSpPr>
          <p:cNvPr id="16" name="Text 13"/>
          <p:cNvSpPr/>
          <p:nvPr/>
        </p:nvSpPr>
        <p:spPr>
          <a:xfrm>
            <a:off x="8046720" y="4041648"/>
            <a:ext cx="2834640" cy="274320"/>
          </a:xfrm>
          <a:prstGeom prst="rect">
            <a:avLst/>
          </a:prstGeom>
          <a:noFill/>
          <a:ln/>
        </p:spPr>
        <p:txBody>
          <a:bodyPr wrap="square" rtlCol="0" anchor="ctr"/>
          <a:lstStyle/>
          <a:p>
            <a:pPr indent="0" marL="0">
              <a:buNone/>
            </a:pPr>
            <a:r>
              <a:rPr lang="en-US" sz="1000" b="1" spc="100" kern="0" dirty="0">
                <a:solidFill>
                  <a:srgbClr val="3E7CB1"/>
                </a:solidFill>
                <a:latin typeface="Calibri" pitchFamily="34" charset="0"/>
                <a:ea typeface="Calibri" pitchFamily="34" charset="-122"/>
                <a:cs typeface="Calibri" pitchFamily="34" charset="-120"/>
              </a:rPr>
              <a:t>Try it live</a:t>
            </a:r>
            <a:endParaRPr lang="en-US" sz="1000" dirty="0"/>
          </a:p>
        </p:txBody>
      </p:sp>
      <p:sp>
        <p:nvSpPr>
          <p:cNvPr id="17" name="Text 14"/>
          <p:cNvSpPr/>
          <p:nvPr/>
        </p:nvSpPr>
        <p:spPr>
          <a:xfrm>
            <a:off x="7955280" y="4315968"/>
            <a:ext cx="3017520" cy="411480"/>
          </a:xfrm>
          <a:prstGeom prst="rect">
            <a:avLst/>
          </a:prstGeom>
          <a:noFill/>
          <a:ln/>
        </p:spPr>
        <p:txBody>
          <a:bodyPr wrap="square" rtlCol="0" anchor="ctr"/>
          <a:lstStyle/>
          <a:p>
            <a:pPr indent="0" marL="0">
              <a:buNone/>
            </a:pPr>
            <a:r>
              <a:rPr lang="en-US" sz="1000" dirty="0">
                <a:solidFill>
                  <a:srgbClr val="0B2545"/>
                </a:solidFill>
                <a:latin typeface="Courier New" pitchFamily="34" charset="0"/>
                <a:ea typeface="Courier New" pitchFamily="34" charset="-122"/>
                <a:cs typeface="Courier New" pitchFamily="34" charset="-120"/>
              </a:rPr>
              <a:t>mini-ddsm-csde2026.vercel.app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Multi-Backbone Ensemble Learning for Robust Breast Cancer Classification on the Mini-DDSM Mammography Dataset</dc:title>
  <dc:subject>11th IEEE Asia-Pacific Conference on Computer Science and Data Engineering</dc:subject>
  <dc:creator>Sheikh Noor Abdullah</dc:creator>
  <cp:lastModifiedBy>Sheikh Noor Abdullah</cp:lastModifiedBy>
  <cp:revision>1</cp:revision>
  <dcterms:created xsi:type="dcterms:W3CDTF">2026-10-27T11:17:49Z</dcterms:created>
  <dcterms:modified xsi:type="dcterms:W3CDTF">2026-10-27T11:17:49Z</dcterms:modified>
</cp:coreProperties>
</file>