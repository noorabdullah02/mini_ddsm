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cases (millions)</c:v>
                </c:pt>
              </c:strCache>
            </c:strRef>
          </c:tx>
          <c:spPr>
            <a:solidFill>
              <a:srgbClr val="3D48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48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487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3A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GLOBOCAN 2020</c:v>
                  </c:pt>
                  <c:pt idx="1">
                    <c:v>GLOBOCAN 2022</c:v>
                  </c:pt>
                  <c:pt idx="2">
                    <c:v>GLOBOCAN 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</c:v>
                </c:pt>
                <c:pt idx="1">
                  <c:v>2.3</c:v>
                </c:pt>
                <c:pt idx="2">
                  <c:v>2.43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Equal-average ensemble</c:v>
                </c:pt>
              </c:strCache>
            </c:strRef>
          </c:tx>
          <c:spPr>
            <a:solidFill>
              <a:srgbClr val="C23A6B"/>
            </a:solidFill>
            <a:ln w="31750" cap="flat">
              <a:solidFill>
                <a:srgbClr val="C23A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3A6B"/>
              </a:solidFill>
              <a:ln w="9525" cap="flat">
                <a:solidFill>
                  <a:srgbClr val="C23A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0.00</c:v>
                  </c:pt>
                  <c:pt idx="1">
                    <c:v>0.08</c:v>
                  </c:pt>
                  <c:pt idx="2">
                    <c:v>0.16</c:v>
                  </c:pt>
                  <c:pt idx="3">
                    <c:v>0.26</c:v>
                  </c:pt>
                  <c:pt idx="4">
                    <c:v>0.34</c:v>
                  </c:pt>
                  <c:pt idx="5">
                    <c:v>0.42</c:v>
                  </c:pt>
                  <c:pt idx="6">
                    <c:v>0.50</c:v>
                  </c:pt>
                  <c:pt idx="7">
                    <c:v>0.58</c:v>
                  </c:pt>
                  <c:pt idx="8">
                    <c:v>0.66</c:v>
                  </c:pt>
                  <c:pt idx="9">
                    <c:v>0.76</c:v>
                  </c:pt>
                  <c:pt idx="10">
                    <c:v>0.84</c:v>
                  </c:pt>
                  <c:pt idx="11">
                    <c:v>0.92</c:v>
                  </c:pt>
                  <c:pt idx="12">
                    <c:v>1.00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0.6355</c:v>
                </c:pt>
                <c:pt idx="2">
                  <c:v>0.7746</c:v>
                </c:pt>
                <c:pt idx="3">
                  <c:v>0.8647</c:v>
                </c:pt>
                <c:pt idx="4">
                  <c:v>0.9069</c:v>
                </c:pt>
                <c:pt idx="5">
                  <c:v>0.9422</c:v>
                </c:pt>
                <c:pt idx="6">
                  <c:v>0.9588</c:v>
                </c:pt>
                <c:pt idx="7">
                  <c:v>0.9763</c:v>
                </c:pt>
                <c:pt idx="8">
                  <c:v>0.9852</c:v>
                </c:pt>
                <c:pt idx="9">
                  <c:v>0.9952</c:v>
                </c:pt>
                <c:pt idx="10">
                  <c:v>0.9978</c:v>
                </c:pt>
                <c:pt idx="11">
                  <c:v>0.9993</c:v>
                </c:pt>
                <c:pt idx="1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EfficientNet-B4</c:v>
                </c:pt>
              </c:strCache>
            </c:strRef>
          </c:tx>
          <c:spPr>
            <a:solidFill>
              <a:srgbClr val="B8913F"/>
            </a:solidFill>
            <a:ln w="31750" cap="flat">
              <a:solidFill>
                <a:srgbClr val="B891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913F"/>
              </a:solidFill>
              <a:ln w="9525" cap="flat">
                <a:solidFill>
                  <a:srgbClr val="B891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0.00</c:v>
                  </c:pt>
                  <c:pt idx="1">
                    <c:v>0.08</c:v>
                  </c:pt>
                  <c:pt idx="2">
                    <c:v>0.16</c:v>
                  </c:pt>
                  <c:pt idx="3">
                    <c:v>0.26</c:v>
                  </c:pt>
                  <c:pt idx="4">
                    <c:v>0.34</c:v>
                  </c:pt>
                  <c:pt idx="5">
                    <c:v>0.42</c:v>
                  </c:pt>
                  <c:pt idx="6">
                    <c:v>0.50</c:v>
                  </c:pt>
                  <c:pt idx="7">
                    <c:v>0.58</c:v>
                  </c:pt>
                  <c:pt idx="8">
                    <c:v>0.66</c:v>
                  </c:pt>
                  <c:pt idx="9">
                    <c:v>0.76</c:v>
                  </c:pt>
                  <c:pt idx="10">
                    <c:v>0.84</c:v>
                  </c:pt>
                  <c:pt idx="11">
                    <c:v>0.92</c:v>
                  </c:pt>
                  <c:pt idx="12">
                    <c:v>1.00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0.607</c:v>
                </c:pt>
                <c:pt idx="2">
                  <c:v>0.7557</c:v>
                </c:pt>
                <c:pt idx="3">
                  <c:v>0.8476</c:v>
                </c:pt>
                <c:pt idx="4">
                  <c:v>0.8943</c:v>
                </c:pt>
                <c:pt idx="5">
                  <c:v>0.9296</c:v>
                </c:pt>
                <c:pt idx="6">
                  <c:v>0.9514</c:v>
                </c:pt>
                <c:pt idx="7">
                  <c:v>0.9707</c:v>
                </c:pt>
                <c:pt idx="8">
                  <c:v>0.9841</c:v>
                </c:pt>
                <c:pt idx="9">
                  <c:v>0.9926</c:v>
                </c:pt>
                <c:pt idx="10">
                  <c:v>0.9952</c:v>
                </c:pt>
                <c:pt idx="11">
                  <c:v>0.9981</c:v>
                </c:pt>
                <c:pt idx="12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ConvNeXtV2-Tiny</c:v>
                </c:pt>
              </c:strCache>
            </c:strRef>
          </c:tx>
          <c:spPr>
            <a:solidFill>
              <a:srgbClr val="4B5BD6"/>
            </a:solidFill>
            <a:ln w="31750" cap="flat">
              <a:solidFill>
                <a:srgbClr val="4B5B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B5BD6"/>
              </a:solidFill>
              <a:ln w="9525" cap="flat">
                <a:solidFill>
                  <a:srgbClr val="4B5B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0.00</c:v>
                  </c:pt>
                  <c:pt idx="1">
                    <c:v>0.08</c:v>
                  </c:pt>
                  <c:pt idx="2">
                    <c:v>0.16</c:v>
                  </c:pt>
                  <c:pt idx="3">
                    <c:v>0.26</c:v>
                  </c:pt>
                  <c:pt idx="4">
                    <c:v>0.34</c:v>
                  </c:pt>
                  <c:pt idx="5">
                    <c:v>0.42</c:v>
                  </c:pt>
                  <c:pt idx="6">
                    <c:v>0.50</c:v>
                  </c:pt>
                  <c:pt idx="7">
                    <c:v>0.58</c:v>
                  </c:pt>
                  <c:pt idx="8">
                    <c:v>0.66</c:v>
                  </c:pt>
                  <c:pt idx="9">
                    <c:v>0.76</c:v>
                  </c:pt>
                  <c:pt idx="10">
                    <c:v>0.84</c:v>
                  </c:pt>
                  <c:pt idx="11">
                    <c:v>0.92</c:v>
                  </c:pt>
                  <c:pt idx="12">
                    <c:v>1.00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0.5395</c:v>
                </c:pt>
                <c:pt idx="2">
                  <c:v>0.7063</c:v>
                </c:pt>
                <c:pt idx="3">
                  <c:v>0.8061</c:v>
                </c:pt>
                <c:pt idx="4">
                  <c:v>0.8613</c:v>
                </c:pt>
                <c:pt idx="5">
                  <c:v>0.8999</c:v>
                </c:pt>
                <c:pt idx="6">
                  <c:v>0.9299</c:v>
                </c:pt>
                <c:pt idx="7">
                  <c:v>0.9559</c:v>
                </c:pt>
                <c:pt idx="8">
                  <c:v>0.977</c:v>
                </c:pt>
                <c:pt idx="9">
                  <c:v>0.9904</c:v>
                </c:pt>
                <c:pt idx="10">
                  <c:v>0.9952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False-positive rate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True-positive rate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NoorAbdullah02/MINI_DDSM" TargetMode="Externa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50292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F7F0DE"/>
          </a:solidFill>
          <a:ln w="9525">
            <a:solidFill>
              <a:srgbClr val="B891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02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Paper #3958 · Cox's Bazar, Bangladesh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82009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Multi-Backbone Ensemble Learning for </a:t>
            </a:r>
            <a:pPr indent="0" marL="0">
              <a:lnSpc>
                <a:spcPct val="105000"/>
              </a:lnSpc>
              <a:buNone/>
            </a:pPr>
            <a:r>
              <a:rPr lang="en-US" sz="3800" i="1" dirty="0">
                <a:solidFill>
                  <a:srgbClr val="C2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Breast Cancer Classification on Mini-DDSM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 Noor Abdullah   ·   Nafis Shahriar   ·   Mehejabin Tabassum Lamia   ·   Mysha Ibnat Mourin   ·   Farah Ulfat Urmi   ·   A.B.M. Kabir Hossain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Engineering · Bangladesh Army University of Engineering &amp; Technology (BAUET)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42976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708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828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42976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3708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2,417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34640" y="4828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groups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42976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43708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4828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groups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2.43 million women were diagnosed with breast cancer in 2024.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and malignant findings look alike and readers are overloaded. AI can help — if its accuracy is real.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0" y="1005840"/>
          <a:ext cx="3749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patient on both sides of the split → inflated scores.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5272888" cy="3017520"/>
          </a:xfrm>
          <a:prstGeom prst="roundRect">
            <a:avLst>
              <a:gd name="adj" fmla="val 3030"/>
            </a:avLst>
          </a:prstGeom>
          <a:solidFill>
            <a:srgbClr val="FBE9EF"/>
          </a:solidFill>
          <a:ln w="9525">
            <a:solidFill>
              <a:srgbClr val="C2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5176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Image-level split  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60120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10" name="Shape 8"/>
          <p:cNvSpPr/>
          <p:nvPr/>
        </p:nvSpPr>
        <p:spPr>
          <a:xfrm>
            <a:off x="1344168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B5BD6"/>
          </a:solidFill>
          <a:ln/>
        </p:spPr>
      </p:sp>
      <p:sp>
        <p:nvSpPr>
          <p:cNvPr id="11" name="Shape 9"/>
          <p:cNvSpPr/>
          <p:nvPr/>
        </p:nvSpPr>
        <p:spPr>
          <a:xfrm>
            <a:off x="1728216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2112264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8F83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B5BD6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4168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B8913F"/>
          </a:solidFill>
          <a:ln/>
        </p:spPr>
      </p:sp>
      <p:sp>
        <p:nvSpPr>
          <p:cNvPr id="15" name="Shape 13"/>
          <p:cNvSpPr/>
          <p:nvPr/>
        </p:nvSpPr>
        <p:spPr>
          <a:xfrm>
            <a:off x="1728216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16" name="Shape 14"/>
          <p:cNvSpPr/>
          <p:nvPr/>
        </p:nvSpPr>
        <p:spPr>
          <a:xfrm>
            <a:off x="2112264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8F83"/>
          </a:solidFill>
          <a:ln/>
        </p:spPr>
      </p:sp>
      <p:sp>
        <p:nvSpPr>
          <p:cNvPr id="17" name="Text 15"/>
          <p:cNvSpPr/>
          <p:nvPr/>
        </p:nvSpPr>
        <p:spPr>
          <a:xfrm>
            <a:off x="3505124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05124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8F83"/>
          </a:solidFill>
          <a:ln/>
        </p:spPr>
      </p:sp>
      <p:sp>
        <p:nvSpPr>
          <p:cNvPr id="19" name="Shape 17"/>
          <p:cNvSpPr/>
          <p:nvPr/>
        </p:nvSpPr>
        <p:spPr>
          <a:xfrm>
            <a:off x="3889172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20" name="Shape 18"/>
          <p:cNvSpPr/>
          <p:nvPr/>
        </p:nvSpPr>
        <p:spPr>
          <a:xfrm>
            <a:off x="4273220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B5B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657268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05124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23" name="Shape 21"/>
          <p:cNvSpPr/>
          <p:nvPr/>
        </p:nvSpPr>
        <p:spPr>
          <a:xfrm>
            <a:off x="3889172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B5BD6"/>
          </a:solidFill>
          <a:ln/>
        </p:spPr>
      </p:sp>
      <p:sp>
        <p:nvSpPr>
          <p:cNvPr id="24" name="Shape 22"/>
          <p:cNvSpPr/>
          <p:nvPr/>
        </p:nvSpPr>
        <p:spPr>
          <a:xfrm>
            <a:off x="4273220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8F83"/>
          </a:solidFill>
          <a:ln/>
        </p:spPr>
      </p:sp>
      <p:sp>
        <p:nvSpPr>
          <p:cNvPr id="25" name="Shape 23"/>
          <p:cNvSpPr/>
          <p:nvPr/>
        </p:nvSpPr>
        <p:spPr>
          <a:xfrm>
            <a:off x="4657268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0292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 P2, P3 leak into the test set.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70168" y="2468880"/>
            <a:ext cx="5272888" cy="3017520"/>
          </a:xfrm>
          <a:prstGeom prst="roundRect">
            <a:avLst>
              <a:gd name="adj" fmla="val 3030"/>
            </a:avLst>
          </a:prstGeom>
          <a:solidFill>
            <a:srgbClr val="E3F3F0"/>
          </a:solidFill>
          <a:ln w="9525">
            <a:solidFill>
              <a:srgbClr val="2F8F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4488" y="265176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Patient-grouped split  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44488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44488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31" name="Shape 29"/>
          <p:cNvSpPr/>
          <p:nvPr/>
        </p:nvSpPr>
        <p:spPr>
          <a:xfrm>
            <a:off x="7028536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32" name="Shape 30"/>
          <p:cNvSpPr/>
          <p:nvPr/>
        </p:nvSpPr>
        <p:spPr>
          <a:xfrm>
            <a:off x="7412584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33" name="Shape 31"/>
          <p:cNvSpPr/>
          <p:nvPr/>
        </p:nvSpPr>
        <p:spPr>
          <a:xfrm>
            <a:off x="7796632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23A6B"/>
          </a:solidFill>
          <a:ln/>
        </p:spPr>
      </p:sp>
      <p:sp>
        <p:nvSpPr>
          <p:cNvPr id="34" name="Shape 32"/>
          <p:cNvSpPr/>
          <p:nvPr/>
        </p:nvSpPr>
        <p:spPr>
          <a:xfrm>
            <a:off x="6644488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B5BD6"/>
          </a:solidFill>
          <a:ln/>
        </p:spPr>
      </p:sp>
      <p:sp>
        <p:nvSpPr>
          <p:cNvPr id="35" name="Shape 33"/>
          <p:cNvSpPr/>
          <p:nvPr/>
        </p:nvSpPr>
        <p:spPr>
          <a:xfrm>
            <a:off x="7028536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B5BD6"/>
          </a:solidFill>
          <a:ln/>
        </p:spPr>
      </p:sp>
      <p:sp>
        <p:nvSpPr>
          <p:cNvPr id="36" name="Shape 34"/>
          <p:cNvSpPr/>
          <p:nvPr/>
        </p:nvSpPr>
        <p:spPr>
          <a:xfrm>
            <a:off x="7412584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B5BD6"/>
          </a:solidFill>
          <a:ln/>
        </p:spPr>
      </p:sp>
      <p:sp>
        <p:nvSpPr>
          <p:cNvPr id="37" name="Shape 35"/>
          <p:cNvSpPr/>
          <p:nvPr/>
        </p:nvSpPr>
        <p:spPr>
          <a:xfrm>
            <a:off x="7796632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B5BD6"/>
          </a:solidFill>
          <a:ln/>
        </p:spPr>
      </p:sp>
      <p:sp>
        <p:nvSpPr>
          <p:cNvPr id="38" name="Text 36"/>
          <p:cNvSpPr/>
          <p:nvPr/>
        </p:nvSpPr>
        <p:spPr>
          <a:xfrm>
            <a:off x="9189491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89491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8F83"/>
          </a:solidFill>
          <a:ln/>
        </p:spPr>
      </p:sp>
      <p:sp>
        <p:nvSpPr>
          <p:cNvPr id="40" name="Shape 38"/>
          <p:cNvSpPr/>
          <p:nvPr/>
        </p:nvSpPr>
        <p:spPr>
          <a:xfrm>
            <a:off x="9573539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8F83"/>
          </a:solidFill>
          <a:ln/>
        </p:spPr>
      </p:sp>
      <p:sp>
        <p:nvSpPr>
          <p:cNvPr id="41" name="Shape 39"/>
          <p:cNvSpPr/>
          <p:nvPr/>
        </p:nvSpPr>
        <p:spPr>
          <a:xfrm>
            <a:off x="9957587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8F83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41635" y="3337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8F83"/>
          </a:solidFill>
          <a:ln/>
        </p:spPr>
      </p:sp>
      <p:sp>
        <p:nvSpPr>
          <p:cNvPr id="43" name="Shape 41"/>
          <p:cNvSpPr/>
          <p:nvPr/>
        </p:nvSpPr>
        <p:spPr>
          <a:xfrm>
            <a:off x="9189491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B8913F"/>
          </a:solidFill>
          <a:ln/>
        </p:spPr>
      </p:sp>
      <p:sp>
        <p:nvSpPr>
          <p:cNvPr id="44" name="Shape 42"/>
          <p:cNvSpPr/>
          <p:nvPr/>
        </p:nvSpPr>
        <p:spPr>
          <a:xfrm>
            <a:off x="9573539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B8913F"/>
          </a:solidFill>
          <a:ln/>
        </p:spPr>
      </p:sp>
      <p:sp>
        <p:nvSpPr>
          <p:cNvPr id="45" name="Shape 43"/>
          <p:cNvSpPr/>
          <p:nvPr/>
        </p:nvSpPr>
        <p:spPr>
          <a:xfrm>
            <a:off x="9957587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B8913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41635" y="3721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B8913F"/>
          </a:solidFill>
          <a:ln/>
        </p:spPr>
      </p:sp>
      <p:sp>
        <p:nvSpPr>
          <p:cNvPr id="47" name="Text 45"/>
          <p:cNvSpPr/>
          <p:nvPr/>
        </p:nvSpPr>
        <p:spPr>
          <a:xfrm>
            <a:off x="6644488" y="50292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appears in both sets.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1 · DATA AUDIT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identifier audited before a single fold is built.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348477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30275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9,684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363163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619195"/>
            <a:ext cx="30275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2,728 Normal · 3,360 Benign · 3,596 Cancer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3458" y="2514600"/>
            <a:ext cx="348477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2058" y="2651760"/>
            <a:ext cx="30275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2,417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82058" y="3363163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groups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82058" y="3619195"/>
            <a:ext cx="30275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 Normal · 836 Benign · 899 Cancer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21117" y="2514600"/>
            <a:ext cx="348477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9717" y="2651760"/>
            <a:ext cx="30275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49717" y="3363163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Cross-class ID collisions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49717" y="3619195"/>
            <a:ext cx="30275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A_1500, A_1511, A_1632 — 24 records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4114800"/>
            <a:ext cx="348477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51960"/>
            <a:ext cx="30275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4400" y="4963363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Eight-image blocks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219395"/>
            <a:ext cx="30275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intact as one conservative group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53458" y="4114800"/>
            <a:ext cx="348477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2058" y="4251960"/>
            <a:ext cx="30275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82058" y="4963363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pairs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82058" y="5219395"/>
            <a:ext cx="30275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SHA-256; none crosses a group boundary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21117" y="4114800"/>
            <a:ext cx="348477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9717" y="4251960"/>
            <a:ext cx="30275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F8F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249717" y="4963363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groups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49717" y="5219395"/>
            <a:ext cx="30275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programmatically on all 9 splits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2 · 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pipeline. Fixed 50/50 ensemble. No test-set tuning.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468880"/>
            <a:ext cx="1082009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3 · PROTOCOL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Nested, patient-grouped, repeated three times.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2560320"/>
            <a:ext cx="4480560" cy="1920240"/>
          </a:xfrm>
          <a:prstGeom prst="roundRect">
            <a:avLst>
              <a:gd name="adj" fmla="val 4762"/>
            </a:avLst>
          </a:prstGeom>
          <a:solidFill>
            <a:srgbClr val="EBEDFC"/>
          </a:solidFill>
          <a:ln w="9525">
            <a:solidFill>
              <a:srgbClr val="4B5B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TRAINING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192024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train 88%
</a:t>
            </a:r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3108960"/>
            <a:ext cx="1828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12%
</a:t>
            </a:r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ckpt · threshold · Platt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31089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897880" y="2560320"/>
            <a:ext cx="4480560" cy="1920240"/>
          </a:xfrm>
          <a:prstGeom prst="roundRect">
            <a:avLst>
              <a:gd name="adj" fmla="val 4762"/>
            </a:avLst>
          </a:prstGeom>
          <a:solidFill>
            <a:srgbClr val="FBE9EF"/>
          </a:solidFill>
          <a:ln w="9525">
            <a:solidFill>
              <a:srgbClr val="C2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TEST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3108960"/>
            <a:ext cx="393192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 until the end
</a:t>
            </a:r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TTA · patient-level metrics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846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StratifiedGroupKFold ×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6200" y="484632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4846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42 · 123 ·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484632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4846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patient bootstraps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ROC-AUC 0.891 ± 0.008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FBE9EF"/>
          </a:solidFill>
          <a:ln w="9525">
            <a:solidFill>
              <a:srgbClr val="C2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569464"/>
            <a:ext cx="128016" cy="128016"/>
          </a:xfrm>
          <a:prstGeom prst="ellipse">
            <a:avLst/>
          </a:prstGeom>
          <a:solidFill>
            <a:srgbClr val="C23A6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774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Equal-average ensemble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17720" y="237744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999232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191256"/>
            <a:ext cx="128016" cy="128016"/>
          </a:xfrm>
          <a:prstGeom prst="ellipse">
            <a:avLst/>
          </a:prstGeom>
          <a:solidFill>
            <a:srgbClr val="B8913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9923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299923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621024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813048"/>
            <a:ext cx="128016" cy="128016"/>
          </a:xfrm>
          <a:prstGeom prst="ellipse">
            <a:avLst/>
          </a:prstGeom>
          <a:solidFill>
            <a:srgbClr val="3D487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62102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Fold-selected single best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362102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242816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434840"/>
            <a:ext cx="128016" cy="128016"/>
          </a:xfrm>
          <a:prstGeom prst="ellipse">
            <a:avLst/>
          </a:prstGeom>
          <a:solidFill>
            <a:srgbClr val="4B5BD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24281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ConvNeXtV2-Tiny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17720" y="424281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983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0.830 ± 0.012 · 95% t-interval 0.872–0.910</a:t>
            </a:r>
            <a:endParaRPr lang="en-US" sz="10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675120" y="1005840"/>
          <a:ext cx="4846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on 5 of 6 metrics — without learning any weights.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14600"/>
          <a:ext cx="10820095" cy="3291840"/>
        </p:xfrm>
        <a:graphic>
          <a:graphicData uri="http://schemas.openxmlformats.org/drawingml/2006/table">
            <a:tbl>
              <a:tblPr/>
              <a:tblGrid>
                <a:gridCol w="3017520"/>
                <a:gridCol w="1950644"/>
                <a:gridCol w="1950644"/>
                <a:gridCol w="1950644"/>
                <a:gridCol w="1950644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ConvNeXtV2-Tiny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B7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Single-best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2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Equal-average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0.8572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0.8775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5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0.8912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0.8198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0.7821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0.8078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5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0.8071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0.7777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0.7931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5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0.8120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5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0.6515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0.5517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0.5832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0.6188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0.8992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0.9115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0.9174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5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0.9264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0.7938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0.7900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3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0.8071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5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0.8335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POINT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Youden threshold: sensitivity 0.62 → 0.79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527288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9748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15747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0.619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749040"/>
            <a:ext cx="15747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34869" y="3200400"/>
            <a:ext cx="15747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34869" y="3749040"/>
            <a:ext cx="15747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09618" y="3200400"/>
            <a:ext cx="15747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09618" y="3749040"/>
            <a:ext cx="15747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4297680"/>
            <a:ext cx="472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cancers per seed: </a:t>
            </a:r>
            <a:pPr indent="0" marL="0">
              <a:buNone/>
            </a:pPr>
            <a:r>
              <a:rPr lang="en-US" sz="1200" b="1" dirty="0">
                <a:solidFill>
                  <a:srgbClr val="9E2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327 · 343 · 358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70168" y="2514600"/>
            <a:ext cx="5272888" cy="3017520"/>
          </a:xfrm>
          <a:prstGeom prst="roundRect">
            <a:avLst>
              <a:gd name="adj" fmla="val 3030"/>
            </a:avLst>
          </a:prstGeom>
          <a:solidFill>
            <a:srgbClr val="FBE9EF"/>
          </a:solidFill>
          <a:ln w="9525">
            <a:solidFill>
              <a:srgbClr val="C2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4488" y="269748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Train-side Youden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44488" y="3200400"/>
            <a:ext cx="15747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44488" y="3749040"/>
            <a:ext cx="15747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19237" y="3200400"/>
            <a:ext cx="15747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19237" y="3749040"/>
            <a:ext cx="15747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793986" y="3200400"/>
            <a:ext cx="15747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793986" y="3749040"/>
            <a:ext cx="15747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44488" y="4297680"/>
            <a:ext cx="472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cancers per seed: </a:t>
            </a:r>
            <a:pPr indent="0" marL="0">
              <a:buNone/>
            </a:pPr>
            <a:r>
              <a:rPr lang="en-US" sz="1200" b="1" dirty="0">
                <a:solidFill>
                  <a:srgbClr val="9E2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181 · 187 · 205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AUC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 probabilities and positive net benefit.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256032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F8F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0.136 → 0.124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408883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(Platt)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3938" y="256032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2538" y="2697480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F8F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0.075 → 0.023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2538" y="3408883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2077" y="256032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0677" y="2697480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0.05–0.80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10677" y="3408883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range with net benefit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3891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fitted only on inner-validation predictions — outer labels stay reserved for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network looks — qualitatively.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514600"/>
            <a:ext cx="2567864" cy="25678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173904"/>
            <a:ext cx="2567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36544" y="2514600"/>
            <a:ext cx="2567864" cy="25678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36544" y="5173904"/>
            <a:ext cx="2567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87288" y="2514600"/>
            <a:ext cx="2567864" cy="25678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87288" y="5173904"/>
            <a:ext cx="2567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38031" y="2514600"/>
            <a:ext cx="2567864" cy="25678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38031" y="5173904"/>
            <a:ext cx="2567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 · FUTURE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study does not claim.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2560320"/>
            <a:ext cx="53186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70048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internal to Mini-DDSM.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78728" y="2560320"/>
            <a:ext cx="53186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670048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folds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07328" y="3017520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folds would describe split variability more finely.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794760"/>
            <a:ext cx="53186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04488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groups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251960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Eight-image IDs kept intact; may merge distinct subjects.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8728" y="3794760"/>
            <a:ext cx="53186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7328" y="3904488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Grad-CAM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07328" y="4251960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 metric against radiologist annotations.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521208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CBIS-DDSM and INbreast · richer metadata · radiologist review.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3A6B">
                    <a:alpha val="4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first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leaked patient groups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0058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3A6B">
                    <a:alpha val="4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8348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ensemble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0.891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19659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3A6B">
                    <a:alpha val="4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matter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2404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0.79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19659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3A6B">
                    <a:alpha val="4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404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0.023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20040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· code &amp; audit files: </a:t>
            </a:r>
            <a:pPr indent="0" marL="0">
              <a:buNone/>
            </a:pPr>
            <a:r>
              <a:rPr lang="en-US" sz="1300" u="sng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github.com/NoorAbdullah02/MINI_DDSM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92640" y="1005840"/>
            <a:ext cx="18288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1143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9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417320"/>
            <a:ext cx="1280160" cy="12801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784080" y="2788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run the model on your phone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784080" y="3246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mini-ddsm-csde2026.vercel.app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CSDE 2026 · Mini-DDSM patient-grouped ensemble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27432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0" i="1" dirty="0">
                <a:solidFill>
                  <a:srgbClr val="4B5BD6">
                    <a:alpha val="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20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457200" cy="0"/>
          </a:xfrm>
          <a:prstGeom prst="line">
            <a:avLst/>
          </a:prstGeom>
          <a:noFill/>
          <a:ln w="19050">
            <a:solidFill>
              <a:srgbClr val="C2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</a:t>
            </a:r>
            <a:pPr indent="0" marL="0">
              <a:buNone/>
            </a:pPr>
            <a:r>
              <a:rPr lang="en-US" sz="5600" i="1" dirty="0">
                <a:solidFill>
                  <a:srgbClr val="C2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pPr indent="0" marL="0">
              <a:buNone/>
            </a:pPr>
            <a:r>
              <a:rPr lang="en-US" sz="5600" dirty="0">
                <a:solidFill>
                  <a:srgbClr val="1F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dig into the patient-grouping protocol, the ensemble, the thresholds, or what we would do differently on a second dataset.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9319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41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 Noor Abdullah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3159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sheikhnoorabdullah02@gmail.com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39319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041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audit files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43159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github.com/NoorAbdullah02/MINI_DDSM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18120" y="39319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4041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3159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mini-ddsm-csde2026.vercel.app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Multi-Backbone Ensemble Learning for Robust Breast Cancer Classification on the Mini-DDSM Mammography Dataset</dc:title>
  <dc:subject>11th IEEE Asia-Pacific Conference on Computer Science and Data Engineering</dc:subject>
  <dc:creator>Sheikh Noor Abdullah</dc:creator>
  <cp:lastModifiedBy>Sheikh Noor Abdullah</cp:lastModifiedBy>
  <cp:revision>1</cp:revision>
  <dcterms:created xsi:type="dcterms:W3CDTF">2026-10-26T10:27:05Z</dcterms:created>
  <dcterms:modified xsi:type="dcterms:W3CDTF">2026-10-26T10:27:05Z</dcterms:modified>
</cp:coreProperties>
</file>