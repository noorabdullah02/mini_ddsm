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CDBEED9-8963-39DC-1D21-7CFDBE88B9FE}">
          <p14:sldIdLst>
            <p14:sldId id="256"/>
            <p14:sldId id="257"/>
          </p14:sldIdLst>
        </p14:section>
        <p14:section name="Presentation" id="{F5E00BFF-950A-8404-BAC6-39EC89D22EAF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Closing" id="{D6D610A3-25F2-72A9-6033-9B164588D0D1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234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2433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A2433"/>
                </a:solidFill>
                <a:latin typeface="+mn-lt"/>
              </a:rPr>
              <a:t>Sample chart: replace with your results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Proposed</c:v>
                </c:pt>
              </c:strCache>
            </c:strRef>
          </c:tx>
          <c:spPr>
            <a:solidFill>
              <a:srgbClr val="0B254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43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Metric A</c:v>
                </c:pt>
                <c:pt idx="1">
                  <c:v>Metric B</c:v>
                </c:pt>
                <c:pt idx="2">
                  <c:v>Metric C</c:v>
                </c:pt>
                <c:pt idx="3">
                  <c:v>Metric 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</c:v>
                </c:pt>
                <c:pt idx="1">
                  <c:v>88</c:v>
                </c:pt>
                <c:pt idx="2">
                  <c:v>90</c:v>
                </c:pt>
                <c:pt idx="3">
                  <c:v>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F1-4479-BCCC-B3F7228B83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F2A9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43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Metric A</c:v>
                </c:pt>
                <c:pt idx="1">
                  <c:v>Metric B</c:v>
                </c:pt>
                <c:pt idx="2">
                  <c:v>Metric C</c:v>
                </c:pt>
                <c:pt idx="3">
                  <c:v>Metric 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84</c:v>
                </c:pt>
                <c:pt idx="1">
                  <c:v>80</c:v>
                </c:pt>
                <c:pt idx="2">
                  <c:v>83</c:v>
                </c:pt>
                <c:pt idx="3">
                  <c:v>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CF1-4479-BCCC-B3F7228B83C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4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C9D3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4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200">
              <a:solidFill>
                <a:srgbClr val="1A24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0532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35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2286000" y="502920"/>
            <a:ext cx="92354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</a:rPr>
              <a:t>11th IEEE Asia-Pacific Conference on Computer Science and Data Engineering (IEEE CSDE 2026)</a:t>
            </a:r>
            <a:endParaRPr lang="en-US" sz="2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240280"/>
            <a:ext cx="29260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600" b="1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Paper ID: XXXX</a:t>
            </a:r>
            <a:endParaRPr lang="en-US" sz="1600" dirty="0"/>
          </a:p>
        </p:txBody>
      </p:sp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40080" y="2880360"/>
            <a:ext cx="1088136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Paper Title Goes Here</a:t>
            </a:r>
            <a:endParaRPr lang="en-US" sz="34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40080" y="4526280"/>
            <a:ext cx="108813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200" b="1" dirty="0">
                <a:solidFill>
                  <a:schemeClr val="accent2"/>
                </a:solidFill>
              </a:defRPr>
            </a:lvl1pPr>
          </a:lstStyle>
          <a:p>
            <a:pPr marL="0" indent="0" algn="l">
              <a:buNone/>
            </a:pPr>
            <a:r>
              <a:rPr lang="en-US" sz="2200" b="1" dirty="0">
                <a:solidFill>
                  <a:schemeClr val="accent2"/>
                </a:solidFill>
              </a:rPr>
              <a:t>Author Name(s)</a:t>
            </a:r>
            <a:endParaRPr lang="en-US" sz="2200" dirty="0"/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640080" y="4983480"/>
            <a:ext cx="1088136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Department, Institution, Country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95097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Slide Title</a:t>
            </a: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_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240280"/>
            <a:ext cx="108813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r>
              <a:rPr lang="en-US" sz="6000" b="1" dirty="0">
                <a:solidFill>
                  <a:schemeClr val="bg1"/>
                </a:solidFill>
              </a:rPr>
              <a:t>Thank You</a:t>
            </a: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611880"/>
            <a:ext cx="108813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r>
              <a:rPr lang="en-US" sz="2600" b="1" dirty="0">
                <a:solidFill>
                  <a:schemeClr val="accent1"/>
                </a:solidFill>
              </a:rPr>
              <a:t>Questions &amp; Discussion</a:t>
            </a:r>
            <a:endParaRPr lang="en-US" sz="2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4343400"/>
            <a:ext cx="108813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author@email.com  |  Paper ID: XXXX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35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ference logo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" y="502920"/>
            <a:ext cx="1371600" cy="1371600"/>
          </a:xfrm>
          <a:prstGeom prst="rect">
            <a:avLst/>
          </a:prstGeom>
        </p:spPr>
      </p:pic>
      <p:sp>
        <p:nvSpPr>
          <p:cNvPr id="3" name="Paper ID chip"/>
          <p:cNvSpPr/>
          <p:nvPr/>
        </p:nvSpPr>
        <p:spPr>
          <a:xfrm>
            <a:off x="640080" y="2240280"/>
            <a:ext cx="2926080" cy="45720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4" name="Date icon" descr="Calendar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961888"/>
            <a:ext cx="292608" cy="292608"/>
          </a:xfrm>
          <a:prstGeom prst="rect">
            <a:avLst/>
          </a:prstGeom>
        </p:spPr>
      </p:pic>
      <p:sp>
        <p:nvSpPr>
          <p:cNvPr id="5" name="Conference date"/>
          <p:cNvSpPr txBox="1"/>
          <p:nvPr/>
        </p:nvSpPr>
        <p:spPr>
          <a:xfrm>
            <a:off x="1051560" y="589788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1–3 November 2026</a:t>
            </a:r>
            <a:endParaRPr lang="en-US" sz="1800" dirty="0"/>
          </a:p>
        </p:txBody>
      </p:sp>
      <p:pic>
        <p:nvPicPr>
          <p:cNvPr id="6" name="Venue icon" descr="Location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5961888"/>
            <a:ext cx="292608" cy="292608"/>
          </a:xfrm>
          <a:prstGeom prst="rect">
            <a:avLst/>
          </a:prstGeom>
        </p:spPr>
      </p:pic>
      <p:sp>
        <p:nvSpPr>
          <p:cNvPr id="7" name="Conference venue"/>
          <p:cNvSpPr txBox="1"/>
          <p:nvPr/>
        </p:nvSpPr>
        <p:spPr>
          <a:xfrm>
            <a:off x="4983480" y="589788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Cox’s Bazar, Bangladesh</a:t>
            </a:r>
            <a:endParaRPr lang="en-US" sz="1800" dirty="0"/>
          </a:p>
        </p:txBody>
      </p:sp>
      <p:sp>
        <p:nvSpPr>
          <p:cNvPr id="8" name="Text 0"/>
          <p:cNvSpPr>
            <a:spLocks noGrp="1"/>
          </p:cNvSpPr>
          <p:nvPr>
            <p:ph type="body" idx="100" hasCustomPrompt="1"/>
          </p:nvPr>
        </p:nvSpPr>
        <p:spPr>
          <a:xfrm>
            <a:off x="2286000" y="502920"/>
            <a:ext cx="9235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</a:rPr>
              <a:t>11th IEEE Asia-Pacific Conference on Computer Science and Data Engineering (IEEE CSDE 2026)</a:t>
            </a:r>
            <a:endParaRPr lang="en-US" sz="2200" dirty="0"/>
          </a:p>
        </p:txBody>
      </p:sp>
      <p:sp>
        <p:nvSpPr>
          <p:cNvPr id="9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240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Paper ID: XXXX</a:t>
            </a:r>
            <a:endParaRPr lang="en-US" sz="1600" dirty="0"/>
          </a:p>
        </p:txBody>
      </p:sp>
      <p:sp>
        <p:nvSpPr>
          <p:cNvPr id="10" name="Text 0"/>
          <p:cNvSpPr>
            <a:spLocks noGrp="1"/>
          </p:cNvSpPr>
          <p:nvPr>
            <p:ph type="title" idx="102" hasCustomPrompt="1"/>
          </p:nvPr>
        </p:nvSpPr>
        <p:spPr>
          <a:xfrm>
            <a:off x="640080" y="2880360"/>
            <a:ext cx="10881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Paper Title Goes Here</a:t>
            </a:r>
            <a:endParaRPr lang="en-US" sz="3400" dirty="0"/>
          </a:p>
        </p:txBody>
      </p:sp>
      <p:sp>
        <p:nvSpPr>
          <p:cNvPr id="11" name="Text 0"/>
          <p:cNvSpPr>
            <a:spLocks noGrp="1"/>
          </p:cNvSpPr>
          <p:nvPr>
            <p:ph type="body" idx="103" hasCustomPrompt="1"/>
          </p:nvPr>
        </p:nvSpPr>
        <p:spPr>
          <a:xfrm>
            <a:off x="640080" y="4526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accent2"/>
                </a:solidFill>
              </a:rPr>
              <a:t>Author Name(s)</a:t>
            </a:r>
            <a:endParaRPr lang="en-US" sz="2200" dirty="0"/>
          </a:p>
        </p:txBody>
      </p:sp>
      <p:sp>
        <p:nvSpPr>
          <p:cNvPr id="12" name="Text 0"/>
          <p:cNvSpPr>
            <a:spLocks noGrp="1"/>
          </p:cNvSpPr>
          <p:nvPr>
            <p:ph type="body" idx="104" hasCustomPrompt="1"/>
          </p:nvPr>
        </p:nvSpPr>
        <p:spPr>
          <a:xfrm>
            <a:off x="640080" y="49834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Department, Institution, Country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text"/>
          <p:cNvSpPr txBox="1"/>
          <p:nvPr/>
        </p:nvSpPr>
        <p:spPr>
          <a:xfrm>
            <a:off x="640080" y="6355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IEEE CSDE 2026  |  1–3 November 2026  |  Cox’s Bazar, Bangladesh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Agenda / Outline</a:t>
            </a:r>
            <a:endParaRPr lang="en-US" sz="3600" dirty="0"/>
          </a:p>
        </p:txBody>
      </p:sp>
      <p:sp>
        <p:nvSpPr>
          <p:cNvPr id="5" name="Agenda card 1"/>
          <p:cNvSpPr/>
          <p:nvPr/>
        </p:nvSpPr>
        <p:spPr>
          <a:xfrm>
            <a:off x="640080" y="1645920"/>
            <a:ext cx="338328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6" name="Number 01"/>
          <p:cNvSpPr/>
          <p:nvPr/>
        </p:nvSpPr>
        <p:spPr>
          <a:xfrm>
            <a:off x="914400" y="19202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Number label 01"/>
          <p:cNvSpPr txBox="1"/>
          <p:nvPr/>
        </p:nvSpPr>
        <p:spPr>
          <a:xfrm>
            <a:off x="91440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Agenda item 1"/>
          <p:cNvSpPr txBox="1"/>
          <p:nvPr/>
        </p:nvSpPr>
        <p:spPr>
          <a:xfrm>
            <a:off x="914400" y="26517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Introduction</a:t>
            </a:r>
            <a:endParaRPr lang="en-US" sz="2000" dirty="0"/>
          </a:p>
        </p:txBody>
      </p:sp>
      <p:sp>
        <p:nvSpPr>
          <p:cNvPr id="9" name="Agenda card 2"/>
          <p:cNvSpPr/>
          <p:nvPr/>
        </p:nvSpPr>
        <p:spPr>
          <a:xfrm>
            <a:off x="4389120" y="1645920"/>
            <a:ext cx="338328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0" name="Number 02"/>
          <p:cNvSpPr/>
          <p:nvPr/>
        </p:nvSpPr>
        <p:spPr>
          <a:xfrm>
            <a:off x="4663440" y="19202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Number label 02"/>
          <p:cNvSpPr txBox="1"/>
          <p:nvPr/>
        </p:nvSpPr>
        <p:spPr>
          <a:xfrm>
            <a:off x="466344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Agenda item 2"/>
          <p:cNvSpPr txBox="1"/>
          <p:nvPr/>
        </p:nvSpPr>
        <p:spPr>
          <a:xfrm>
            <a:off x="4663440" y="26517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Research Objectives</a:t>
            </a:r>
            <a:endParaRPr lang="en-US" sz="2000" dirty="0"/>
          </a:p>
        </p:txBody>
      </p:sp>
      <p:sp>
        <p:nvSpPr>
          <p:cNvPr id="13" name="Agenda card 3"/>
          <p:cNvSpPr/>
          <p:nvPr/>
        </p:nvSpPr>
        <p:spPr>
          <a:xfrm>
            <a:off x="8138160" y="1645920"/>
            <a:ext cx="338328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4" name="Number 03"/>
          <p:cNvSpPr/>
          <p:nvPr/>
        </p:nvSpPr>
        <p:spPr>
          <a:xfrm>
            <a:off x="8412480" y="19202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Number label 03"/>
          <p:cNvSpPr txBox="1"/>
          <p:nvPr/>
        </p:nvSpPr>
        <p:spPr>
          <a:xfrm>
            <a:off x="841248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03</a:t>
            </a:r>
            <a:endParaRPr lang="en-US" sz="1800" dirty="0"/>
          </a:p>
        </p:txBody>
      </p:sp>
      <p:sp>
        <p:nvSpPr>
          <p:cNvPr id="16" name="Agenda item 3"/>
          <p:cNvSpPr txBox="1"/>
          <p:nvPr/>
        </p:nvSpPr>
        <p:spPr>
          <a:xfrm>
            <a:off x="8412480" y="26517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Methodology</a:t>
            </a:r>
            <a:endParaRPr lang="en-US" sz="2000" dirty="0"/>
          </a:p>
        </p:txBody>
      </p:sp>
      <p:sp>
        <p:nvSpPr>
          <p:cNvPr id="17" name="Agenda card 4"/>
          <p:cNvSpPr/>
          <p:nvPr/>
        </p:nvSpPr>
        <p:spPr>
          <a:xfrm>
            <a:off x="640080" y="3749040"/>
            <a:ext cx="338328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8" name="Number 04"/>
          <p:cNvSpPr/>
          <p:nvPr/>
        </p:nvSpPr>
        <p:spPr>
          <a:xfrm>
            <a:off x="914400" y="4023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Number label 04"/>
          <p:cNvSpPr txBox="1"/>
          <p:nvPr/>
        </p:nvSpPr>
        <p:spPr>
          <a:xfrm>
            <a:off x="914400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04</a:t>
            </a:r>
            <a:endParaRPr lang="en-US" sz="1800" dirty="0"/>
          </a:p>
        </p:txBody>
      </p:sp>
      <p:sp>
        <p:nvSpPr>
          <p:cNvPr id="20" name="Agenda item 4"/>
          <p:cNvSpPr txBox="1"/>
          <p:nvPr/>
        </p:nvSpPr>
        <p:spPr>
          <a:xfrm>
            <a:off x="914400" y="47548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Results Analysis and Discussion</a:t>
            </a:r>
            <a:endParaRPr lang="en-US" sz="2000" dirty="0"/>
          </a:p>
        </p:txBody>
      </p:sp>
      <p:sp>
        <p:nvSpPr>
          <p:cNvPr id="21" name="Agenda card 5"/>
          <p:cNvSpPr/>
          <p:nvPr/>
        </p:nvSpPr>
        <p:spPr>
          <a:xfrm>
            <a:off x="4389120" y="3749040"/>
            <a:ext cx="338328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22" name="Number 05"/>
          <p:cNvSpPr/>
          <p:nvPr/>
        </p:nvSpPr>
        <p:spPr>
          <a:xfrm>
            <a:off x="4663440" y="4023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Number label 05"/>
          <p:cNvSpPr txBox="1"/>
          <p:nvPr/>
        </p:nvSpPr>
        <p:spPr>
          <a:xfrm>
            <a:off x="4663440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05</a:t>
            </a:r>
            <a:endParaRPr lang="en-US" sz="1800" dirty="0"/>
          </a:p>
        </p:txBody>
      </p:sp>
      <p:sp>
        <p:nvSpPr>
          <p:cNvPr id="24" name="Agenda item 5"/>
          <p:cNvSpPr txBox="1"/>
          <p:nvPr/>
        </p:nvSpPr>
        <p:spPr>
          <a:xfrm>
            <a:off x="4663440" y="47548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Conclusion and Future Work</a:t>
            </a:r>
            <a:endParaRPr lang="en-US" sz="2000" dirty="0"/>
          </a:p>
        </p:txBody>
      </p:sp>
      <p:sp>
        <p:nvSpPr>
          <p:cNvPr id="25" name="Agenda card 6"/>
          <p:cNvSpPr/>
          <p:nvPr/>
        </p:nvSpPr>
        <p:spPr>
          <a:xfrm>
            <a:off x="8138160" y="3749040"/>
            <a:ext cx="338328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26" name="Number 06"/>
          <p:cNvSpPr/>
          <p:nvPr/>
        </p:nvSpPr>
        <p:spPr>
          <a:xfrm>
            <a:off x="8412480" y="4023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Number label 06"/>
          <p:cNvSpPr txBox="1"/>
          <p:nvPr/>
        </p:nvSpPr>
        <p:spPr>
          <a:xfrm>
            <a:off x="8412480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06</a:t>
            </a:r>
            <a:endParaRPr lang="en-US" sz="1800" dirty="0"/>
          </a:p>
        </p:txBody>
      </p:sp>
      <p:sp>
        <p:nvSpPr>
          <p:cNvPr id="28" name="Agenda item 6"/>
          <p:cNvSpPr txBox="1"/>
          <p:nvPr/>
        </p:nvSpPr>
        <p:spPr>
          <a:xfrm>
            <a:off x="8412480" y="47548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References</a:t>
            </a:r>
            <a:endParaRPr lang="en-US" sz="20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35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grpSp>
        <p:nvGrpSpPr>
          <p:cNvPr id="31" name="Group 30"/>
          <p:cNvGrpSpPr/>
          <p:nvPr/>
        </p:nvGrpSpPr>
        <p:grpSpPr>
          <a:xfrm>
            <a:off x="10578518" y="114300"/>
            <a:ext cx="1508760" cy="502920"/>
            <a:chOff x="10578518" y="114300"/>
            <a:chExt cx="1508760" cy="502920"/>
          </a:xfrm>
        </p:grpSpPr>
        <p:sp>
          <p:nvSpPr>
            <p:cNvPr id="2" name="Header conference tag"/>
            <p:cNvSpPr/>
            <p:nvPr/>
          </p:nvSpPr>
          <p:spPr>
            <a:xfrm>
              <a:off x="10578518" y="114300"/>
              <a:ext cx="1508760" cy="502920"/>
            </a:xfrm>
            <a:prstGeom prst="roundRect">
              <a:avLst>
                <a:gd name="adj" fmla="val 45455"/>
              </a:avLst>
            </a:prstGeom>
            <a:solidFill>
              <a:schemeClr val="tx2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 smtClean="0">
                  <a:solidFill>
                    <a:schemeClr val="bg1"/>
                  </a:solidFill>
                </a:rPr>
                <a:t>                CSDE </a:t>
              </a:r>
              <a:r>
                <a:rPr lang="en-US" sz="1300" b="1" dirty="0">
                  <a:solidFill>
                    <a:schemeClr val="bg1"/>
                  </a:solidFill>
                </a:rPr>
                <a:t>2026</a:t>
              </a:r>
              <a:endParaRPr lang="en-US" sz="1300" dirty="0"/>
            </a:p>
          </p:txBody>
        </p:sp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V="1">
              <a:off x="10714908" y="137160"/>
              <a:ext cx="457200" cy="457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text"/>
          <p:cNvSpPr txBox="1"/>
          <p:nvPr/>
        </p:nvSpPr>
        <p:spPr>
          <a:xfrm>
            <a:off x="640080" y="6355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IEEE CSDE 2026  |  1–3 November 2026  |  Cox’s Bazar, Bangladesh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Introduction</a:t>
            </a:r>
            <a:endParaRPr lang="en-US" sz="3600" dirty="0"/>
          </a:p>
        </p:txBody>
      </p:sp>
      <p:sp>
        <p:nvSpPr>
          <p:cNvPr id="5" name="Background circle"/>
          <p:cNvSpPr/>
          <p:nvPr/>
        </p:nvSpPr>
        <p:spPr>
          <a:xfrm>
            <a:off x="640080" y="16916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" y="1863090"/>
            <a:ext cx="342900" cy="342900"/>
          </a:xfrm>
          <a:prstGeom prst="rect">
            <a:avLst/>
          </a:prstGeom>
        </p:spPr>
      </p:pic>
      <p:sp>
        <p:nvSpPr>
          <p:cNvPr id="7" name="Background heading"/>
          <p:cNvSpPr txBox="1"/>
          <p:nvPr/>
        </p:nvSpPr>
        <p:spPr>
          <a:xfrm>
            <a:off x="1600200" y="160020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Background</a:t>
            </a:r>
            <a:endParaRPr lang="en-US" sz="2000" dirty="0"/>
          </a:p>
        </p:txBody>
      </p:sp>
      <p:sp>
        <p:nvSpPr>
          <p:cNvPr id="8" name="Background text"/>
          <p:cNvSpPr txBox="1"/>
          <p:nvPr/>
        </p:nvSpPr>
        <p:spPr>
          <a:xfrm>
            <a:off x="1600200" y="205740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Describe the research area and why it matters.</a:t>
            </a:r>
            <a:endParaRPr lang="en-US" sz="1600" dirty="0"/>
          </a:p>
        </p:txBody>
      </p:sp>
      <p:sp>
        <p:nvSpPr>
          <p:cNvPr id="9" name="Problem Statement circle"/>
          <p:cNvSpPr/>
          <p:nvPr/>
        </p:nvSpPr>
        <p:spPr>
          <a:xfrm>
            <a:off x="640080" y="30632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Problem Statemen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30" y="3234690"/>
            <a:ext cx="342900" cy="342900"/>
          </a:xfrm>
          <a:prstGeom prst="rect">
            <a:avLst/>
          </a:prstGeom>
        </p:spPr>
      </p:pic>
      <p:sp>
        <p:nvSpPr>
          <p:cNvPr id="11" name="Problem Statement heading"/>
          <p:cNvSpPr txBox="1"/>
          <p:nvPr/>
        </p:nvSpPr>
        <p:spPr>
          <a:xfrm>
            <a:off x="1600200" y="297180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Problem Statement</a:t>
            </a:r>
            <a:endParaRPr lang="en-US" sz="2000" dirty="0"/>
          </a:p>
        </p:txBody>
      </p:sp>
      <p:sp>
        <p:nvSpPr>
          <p:cNvPr id="12" name="Problem Statement text"/>
          <p:cNvSpPr txBox="1"/>
          <p:nvPr/>
        </p:nvSpPr>
        <p:spPr>
          <a:xfrm>
            <a:off x="1600200" y="342900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State the specific problem or gap your work addresses.</a:t>
            </a:r>
            <a:endParaRPr lang="en-US" sz="1600" dirty="0"/>
          </a:p>
        </p:txBody>
      </p:sp>
      <p:sp>
        <p:nvSpPr>
          <p:cNvPr id="13" name="Motivation and Contribution circle"/>
          <p:cNvSpPr/>
          <p:nvPr/>
        </p:nvSpPr>
        <p:spPr>
          <a:xfrm>
            <a:off x="640080" y="44348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2" descr="Motivation and Contribut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530" y="4606290"/>
            <a:ext cx="342900" cy="342900"/>
          </a:xfrm>
          <a:prstGeom prst="rect">
            <a:avLst/>
          </a:prstGeom>
        </p:spPr>
      </p:pic>
      <p:sp>
        <p:nvSpPr>
          <p:cNvPr id="15" name="Motivation and Contribution heading"/>
          <p:cNvSpPr txBox="1"/>
          <p:nvPr/>
        </p:nvSpPr>
        <p:spPr>
          <a:xfrm>
            <a:off x="1600200" y="434340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Motivation and Contribution</a:t>
            </a:r>
            <a:endParaRPr lang="en-US" sz="2000" dirty="0"/>
          </a:p>
        </p:txBody>
      </p:sp>
      <p:sp>
        <p:nvSpPr>
          <p:cNvPr id="16" name="Motivation and Contribution text"/>
          <p:cNvSpPr txBox="1"/>
          <p:nvPr/>
        </p:nvSpPr>
        <p:spPr>
          <a:xfrm>
            <a:off x="1600200" y="480060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Summarise what is new in your approach.</a:t>
            </a:r>
            <a:endParaRPr lang="en-US" sz="1600" dirty="0"/>
          </a:p>
        </p:txBody>
      </p:sp>
      <p:sp>
        <p:nvSpPr>
          <p:cNvPr id="17" name="Key statistic card"/>
          <p:cNvSpPr/>
          <p:nvPr/>
        </p:nvSpPr>
        <p:spPr>
          <a:xfrm>
            <a:off x="7863840" y="1600200"/>
            <a:ext cx="3657600" cy="4023360"/>
          </a:xfrm>
          <a:prstGeom prst="roundRect">
            <a:avLst>
              <a:gd name="adj" fmla="val 3000"/>
            </a:avLst>
          </a:prstGeom>
          <a:solidFill>
            <a:schemeClr val="tx2"/>
          </a:solidFill>
          <a:ln/>
        </p:spPr>
      </p:sp>
      <p:sp>
        <p:nvSpPr>
          <p:cNvPr id="18" name="Key statistic value"/>
          <p:cNvSpPr txBox="1"/>
          <p:nvPr/>
        </p:nvSpPr>
        <p:spPr>
          <a:xfrm>
            <a:off x="8183880" y="18288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XX%</a:t>
            </a:r>
            <a:endParaRPr lang="en-US" sz="6600" dirty="0"/>
          </a:p>
        </p:txBody>
      </p:sp>
      <p:sp>
        <p:nvSpPr>
          <p:cNvPr id="19" name="Key statistic label"/>
          <p:cNvSpPr txBox="1"/>
          <p:nvPr/>
        </p:nvSpPr>
        <p:spPr>
          <a:xfrm>
            <a:off x="8183880" y="32004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A key statistic or motivating fact that frames the problem.</a:t>
            </a:r>
            <a:endParaRPr lang="en-US" sz="1800" dirty="0"/>
          </a:p>
        </p:txBody>
      </p:sp>
      <p:sp>
        <p:nvSpPr>
          <p:cNvPr id="20" name="Key statistic source"/>
          <p:cNvSpPr txBox="1"/>
          <p:nvPr/>
        </p:nvSpPr>
        <p:spPr>
          <a:xfrm>
            <a:off x="8183880" y="4937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Source: [Ref. 1]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35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10578518" y="114300"/>
            <a:ext cx="1508760" cy="502920"/>
            <a:chOff x="10578518" y="114300"/>
            <a:chExt cx="1508760" cy="502920"/>
          </a:xfrm>
        </p:grpSpPr>
        <p:sp>
          <p:nvSpPr>
            <p:cNvPr id="23" name="Header conference tag"/>
            <p:cNvSpPr/>
            <p:nvPr/>
          </p:nvSpPr>
          <p:spPr>
            <a:xfrm>
              <a:off x="10578518" y="114300"/>
              <a:ext cx="1508760" cy="502920"/>
            </a:xfrm>
            <a:prstGeom prst="roundRect">
              <a:avLst>
                <a:gd name="adj" fmla="val 45455"/>
              </a:avLst>
            </a:prstGeom>
            <a:solidFill>
              <a:schemeClr val="tx2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 smtClean="0">
                  <a:solidFill>
                    <a:schemeClr val="bg1"/>
                  </a:solidFill>
                </a:rPr>
                <a:t>                CSDE </a:t>
              </a:r>
              <a:r>
                <a:rPr lang="en-US" sz="1300" b="1" dirty="0">
                  <a:solidFill>
                    <a:schemeClr val="bg1"/>
                  </a:solidFill>
                </a:rPr>
                <a:t>2026</a:t>
              </a:r>
              <a:endParaRPr lang="en-US" sz="1300" dirty="0"/>
            </a:p>
          </p:txBody>
        </p:sp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V="1">
              <a:off x="10714908" y="137160"/>
              <a:ext cx="457200" cy="457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text"/>
          <p:cNvSpPr txBox="1"/>
          <p:nvPr/>
        </p:nvSpPr>
        <p:spPr>
          <a:xfrm>
            <a:off x="640080" y="6355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IEEE CSDE 2026  |  1–3 November 2026  |  Cox’s Bazar, Bangladesh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Research Objectives</a:t>
            </a:r>
            <a:endParaRPr lang="en-US" sz="3600" dirty="0"/>
          </a:p>
        </p:txBody>
      </p:sp>
      <p:sp>
        <p:nvSpPr>
          <p:cNvPr id="5" name="Objective 1 card"/>
          <p:cNvSpPr/>
          <p:nvPr/>
        </p:nvSpPr>
        <p:spPr>
          <a:xfrm>
            <a:off x="640080" y="1600200"/>
            <a:ext cx="338328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6" name="Objective 1 number"/>
          <p:cNvSpPr txBox="1"/>
          <p:nvPr/>
        </p:nvSpPr>
        <p:spPr>
          <a:xfrm>
            <a:off x="914400" y="17830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01</a:t>
            </a:r>
            <a:endParaRPr lang="en-US" sz="4400" dirty="0"/>
          </a:p>
        </p:txBody>
      </p:sp>
      <p:sp>
        <p:nvSpPr>
          <p:cNvPr id="7" name="Objective 1 heading"/>
          <p:cNvSpPr txBox="1"/>
          <p:nvPr/>
        </p:nvSpPr>
        <p:spPr>
          <a:xfrm>
            <a:off x="914400" y="26517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Objective 1</a:t>
            </a:r>
            <a:endParaRPr lang="en-US" sz="2000" dirty="0"/>
          </a:p>
        </p:txBody>
      </p:sp>
      <p:sp>
        <p:nvSpPr>
          <p:cNvPr id="8" name="Objective 1 text"/>
          <p:cNvSpPr txBox="1"/>
          <p:nvPr/>
        </p:nvSpPr>
        <p:spPr>
          <a:xfrm>
            <a:off x="914400" y="31089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Describe the objective in one or two concise sentences.</a:t>
            </a:r>
            <a:endParaRPr lang="en-US" sz="1600" dirty="0"/>
          </a:p>
        </p:txBody>
      </p:sp>
      <p:sp>
        <p:nvSpPr>
          <p:cNvPr id="9" name="Objective 2 card"/>
          <p:cNvSpPr/>
          <p:nvPr/>
        </p:nvSpPr>
        <p:spPr>
          <a:xfrm>
            <a:off x="4389120" y="1600200"/>
            <a:ext cx="338328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0" name="Objective 2 number"/>
          <p:cNvSpPr txBox="1"/>
          <p:nvPr/>
        </p:nvSpPr>
        <p:spPr>
          <a:xfrm>
            <a:off x="4663440" y="17830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02</a:t>
            </a:r>
            <a:endParaRPr lang="en-US" sz="4400" dirty="0"/>
          </a:p>
        </p:txBody>
      </p:sp>
      <p:sp>
        <p:nvSpPr>
          <p:cNvPr id="11" name="Objective 2 heading"/>
          <p:cNvSpPr txBox="1"/>
          <p:nvPr/>
        </p:nvSpPr>
        <p:spPr>
          <a:xfrm>
            <a:off x="4663440" y="26517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Objective 2</a:t>
            </a:r>
            <a:endParaRPr lang="en-US" sz="2000" dirty="0"/>
          </a:p>
        </p:txBody>
      </p:sp>
      <p:sp>
        <p:nvSpPr>
          <p:cNvPr id="12" name="Objective 2 text"/>
          <p:cNvSpPr txBox="1"/>
          <p:nvPr/>
        </p:nvSpPr>
        <p:spPr>
          <a:xfrm>
            <a:off x="4663440" y="31089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Describe the objective in one or two concise sentences.</a:t>
            </a:r>
            <a:endParaRPr lang="en-US" sz="1600" dirty="0"/>
          </a:p>
        </p:txBody>
      </p:sp>
      <p:sp>
        <p:nvSpPr>
          <p:cNvPr id="13" name="Objective 3 card"/>
          <p:cNvSpPr/>
          <p:nvPr/>
        </p:nvSpPr>
        <p:spPr>
          <a:xfrm>
            <a:off x="8138160" y="1600200"/>
            <a:ext cx="338328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4" name="Objective 3 number"/>
          <p:cNvSpPr txBox="1"/>
          <p:nvPr/>
        </p:nvSpPr>
        <p:spPr>
          <a:xfrm>
            <a:off x="8412480" y="17830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03</a:t>
            </a:r>
            <a:endParaRPr lang="en-US" sz="4400" dirty="0"/>
          </a:p>
        </p:txBody>
      </p:sp>
      <p:sp>
        <p:nvSpPr>
          <p:cNvPr id="15" name="Objective 3 heading"/>
          <p:cNvSpPr txBox="1"/>
          <p:nvPr/>
        </p:nvSpPr>
        <p:spPr>
          <a:xfrm>
            <a:off x="8412480" y="26517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Objective 3</a:t>
            </a:r>
            <a:endParaRPr lang="en-US" sz="2000" dirty="0"/>
          </a:p>
        </p:txBody>
      </p:sp>
      <p:sp>
        <p:nvSpPr>
          <p:cNvPr id="16" name="Objective 3 text"/>
          <p:cNvSpPr txBox="1"/>
          <p:nvPr/>
        </p:nvSpPr>
        <p:spPr>
          <a:xfrm>
            <a:off x="8412480" y="31089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Describe the objective in one or two concise sentences.</a:t>
            </a:r>
            <a:endParaRPr lang="en-US" sz="1600" dirty="0"/>
          </a:p>
        </p:txBody>
      </p:sp>
      <p:sp>
        <p:nvSpPr>
          <p:cNvPr id="17" name="Research question band"/>
          <p:cNvSpPr/>
          <p:nvPr/>
        </p:nvSpPr>
        <p:spPr>
          <a:xfrm>
            <a:off x="640080" y="4572000"/>
            <a:ext cx="1088136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8" name="Research question label"/>
          <p:cNvSpPr txBox="1"/>
          <p:nvPr/>
        </p:nvSpPr>
        <p:spPr>
          <a:xfrm>
            <a:off x="100584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RESEARCH QUESTION</a:t>
            </a:r>
            <a:endParaRPr lang="en-US" sz="1400" dirty="0"/>
          </a:p>
        </p:txBody>
      </p:sp>
      <p:sp>
        <p:nvSpPr>
          <p:cNvPr id="19" name="Research question text"/>
          <p:cNvSpPr txBox="1"/>
          <p:nvPr/>
        </p:nvSpPr>
        <p:spPr>
          <a:xfrm>
            <a:off x="1005840" y="50749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State the central research question or hypothesis of your study.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35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grpSp>
        <p:nvGrpSpPr>
          <p:cNvPr id="21" name="Group 20"/>
          <p:cNvGrpSpPr/>
          <p:nvPr/>
        </p:nvGrpSpPr>
        <p:grpSpPr>
          <a:xfrm>
            <a:off x="10578518" y="114300"/>
            <a:ext cx="1508760" cy="502920"/>
            <a:chOff x="10578518" y="114300"/>
            <a:chExt cx="1508760" cy="502920"/>
          </a:xfrm>
        </p:grpSpPr>
        <p:sp>
          <p:nvSpPr>
            <p:cNvPr id="22" name="Header conference tag"/>
            <p:cNvSpPr/>
            <p:nvPr/>
          </p:nvSpPr>
          <p:spPr>
            <a:xfrm>
              <a:off x="10578518" y="114300"/>
              <a:ext cx="1508760" cy="502920"/>
            </a:xfrm>
            <a:prstGeom prst="roundRect">
              <a:avLst>
                <a:gd name="adj" fmla="val 45455"/>
              </a:avLst>
            </a:prstGeom>
            <a:solidFill>
              <a:schemeClr val="tx2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 smtClean="0">
                  <a:solidFill>
                    <a:schemeClr val="bg1"/>
                  </a:solidFill>
                </a:rPr>
                <a:t>                CSDE </a:t>
              </a:r>
              <a:r>
                <a:rPr lang="en-US" sz="1300" b="1" dirty="0">
                  <a:solidFill>
                    <a:schemeClr val="bg1"/>
                  </a:solidFill>
                </a:rPr>
                <a:t>2026</a:t>
              </a:r>
              <a:endParaRPr lang="en-US" sz="1300" dirty="0"/>
            </a:p>
          </p:txBody>
        </p:sp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V="1">
              <a:off x="10714908" y="137160"/>
              <a:ext cx="457200" cy="457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text"/>
          <p:cNvSpPr txBox="1"/>
          <p:nvPr/>
        </p:nvSpPr>
        <p:spPr>
          <a:xfrm>
            <a:off x="640080" y="6355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IEEE CSDE 2026  |  1–3 November 2026  |  Cox’s Bazar, Bangladesh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Methodology</a:t>
            </a:r>
            <a:endParaRPr lang="en-US" sz="3600" dirty="0"/>
          </a:p>
        </p:txBody>
      </p:sp>
      <p:sp>
        <p:nvSpPr>
          <p:cNvPr id="5" name="Data Collection card"/>
          <p:cNvSpPr/>
          <p:nvPr/>
        </p:nvSpPr>
        <p:spPr>
          <a:xfrm>
            <a:off x="640080" y="1600200"/>
            <a:ext cx="2377440" cy="274320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/>
          <p:nvPr/>
        </p:nvSpPr>
        <p:spPr>
          <a:xfrm>
            <a:off x="914400" y="18288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Number label 1"/>
          <p:cNvSpPr txBox="1"/>
          <p:nvPr/>
        </p:nvSpPr>
        <p:spPr>
          <a:xfrm>
            <a:off x="914400" y="1828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Data Collection heading"/>
          <p:cNvSpPr txBox="1"/>
          <p:nvPr/>
        </p:nvSpPr>
        <p:spPr>
          <a:xfrm>
            <a:off x="91440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Data Collection</a:t>
            </a:r>
            <a:endParaRPr lang="en-US" sz="1800" dirty="0"/>
          </a:p>
        </p:txBody>
      </p:sp>
      <p:sp>
        <p:nvSpPr>
          <p:cNvPr id="9" name="Data Collection text"/>
          <p:cNvSpPr txBox="1"/>
          <p:nvPr/>
        </p:nvSpPr>
        <p:spPr>
          <a:xfrm>
            <a:off x="914400" y="31089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Brief description of this step.</a:t>
            </a:r>
            <a:endParaRPr lang="en-US" sz="1400" dirty="0"/>
          </a:p>
        </p:txBody>
      </p:sp>
      <p:sp>
        <p:nvSpPr>
          <p:cNvPr id="10" name="Arrow 1"/>
          <p:cNvSpPr/>
          <p:nvPr/>
        </p:nvSpPr>
        <p:spPr>
          <a:xfrm>
            <a:off x="3090672" y="2743200"/>
            <a:ext cx="310896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1" name="Preprocessing card"/>
          <p:cNvSpPr/>
          <p:nvPr/>
        </p:nvSpPr>
        <p:spPr>
          <a:xfrm>
            <a:off x="3474720" y="1600200"/>
            <a:ext cx="2377440" cy="274320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Number 2"/>
          <p:cNvSpPr/>
          <p:nvPr/>
        </p:nvSpPr>
        <p:spPr>
          <a:xfrm>
            <a:off x="3749040" y="18288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Number label 2"/>
          <p:cNvSpPr txBox="1"/>
          <p:nvPr/>
        </p:nvSpPr>
        <p:spPr>
          <a:xfrm>
            <a:off x="3749040" y="1828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Preprocessing heading"/>
          <p:cNvSpPr txBox="1"/>
          <p:nvPr/>
        </p:nvSpPr>
        <p:spPr>
          <a:xfrm>
            <a:off x="374904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Preprocessing</a:t>
            </a:r>
            <a:endParaRPr lang="en-US" sz="1800" dirty="0"/>
          </a:p>
        </p:txBody>
      </p:sp>
      <p:sp>
        <p:nvSpPr>
          <p:cNvPr id="15" name="Preprocessing text"/>
          <p:cNvSpPr txBox="1"/>
          <p:nvPr/>
        </p:nvSpPr>
        <p:spPr>
          <a:xfrm>
            <a:off x="3749040" y="31089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Brief description of this step.</a:t>
            </a:r>
            <a:endParaRPr lang="en-US" sz="1400" dirty="0"/>
          </a:p>
        </p:txBody>
      </p:sp>
      <p:sp>
        <p:nvSpPr>
          <p:cNvPr id="16" name="Arrow 2"/>
          <p:cNvSpPr/>
          <p:nvPr/>
        </p:nvSpPr>
        <p:spPr>
          <a:xfrm>
            <a:off x="5925312" y="2743200"/>
            <a:ext cx="310896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7" name="Proposed Approach card"/>
          <p:cNvSpPr/>
          <p:nvPr/>
        </p:nvSpPr>
        <p:spPr>
          <a:xfrm>
            <a:off x="6309360" y="1600200"/>
            <a:ext cx="2377440" cy="274320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8" name="Number 3"/>
          <p:cNvSpPr/>
          <p:nvPr/>
        </p:nvSpPr>
        <p:spPr>
          <a:xfrm>
            <a:off x="6583680" y="18288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Number label 3"/>
          <p:cNvSpPr txBox="1"/>
          <p:nvPr/>
        </p:nvSpPr>
        <p:spPr>
          <a:xfrm>
            <a:off x="6583680" y="1828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Proposed Approach heading"/>
          <p:cNvSpPr txBox="1"/>
          <p:nvPr/>
        </p:nvSpPr>
        <p:spPr>
          <a:xfrm>
            <a:off x="658368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Proposed Approach</a:t>
            </a:r>
            <a:endParaRPr lang="en-US" sz="1800" dirty="0"/>
          </a:p>
        </p:txBody>
      </p:sp>
      <p:sp>
        <p:nvSpPr>
          <p:cNvPr id="21" name="Proposed Approach text"/>
          <p:cNvSpPr txBox="1"/>
          <p:nvPr/>
        </p:nvSpPr>
        <p:spPr>
          <a:xfrm>
            <a:off x="6583680" y="31089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Brief description of this step.</a:t>
            </a:r>
            <a:endParaRPr lang="en-US" sz="1400" dirty="0"/>
          </a:p>
        </p:txBody>
      </p:sp>
      <p:sp>
        <p:nvSpPr>
          <p:cNvPr id="22" name="Arrow 3"/>
          <p:cNvSpPr/>
          <p:nvPr/>
        </p:nvSpPr>
        <p:spPr>
          <a:xfrm>
            <a:off x="8759952" y="2743200"/>
            <a:ext cx="310896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3" name="Evaluation card"/>
          <p:cNvSpPr/>
          <p:nvPr/>
        </p:nvSpPr>
        <p:spPr>
          <a:xfrm>
            <a:off x="9144000" y="1600200"/>
            <a:ext cx="2377440" cy="274320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24" name="Number 4"/>
          <p:cNvSpPr/>
          <p:nvPr/>
        </p:nvSpPr>
        <p:spPr>
          <a:xfrm>
            <a:off x="9418320" y="18288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Number label 4"/>
          <p:cNvSpPr txBox="1"/>
          <p:nvPr/>
        </p:nvSpPr>
        <p:spPr>
          <a:xfrm>
            <a:off x="9418320" y="1828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4</a:t>
            </a:r>
            <a:endParaRPr lang="en-US" sz="2000" dirty="0"/>
          </a:p>
        </p:txBody>
      </p:sp>
      <p:sp>
        <p:nvSpPr>
          <p:cNvPr id="26" name="Evaluation heading"/>
          <p:cNvSpPr txBox="1"/>
          <p:nvPr/>
        </p:nvSpPr>
        <p:spPr>
          <a:xfrm>
            <a:off x="941832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Evaluation</a:t>
            </a:r>
            <a:endParaRPr lang="en-US" sz="1800" dirty="0"/>
          </a:p>
        </p:txBody>
      </p:sp>
      <p:sp>
        <p:nvSpPr>
          <p:cNvPr id="27" name="Evaluation text"/>
          <p:cNvSpPr txBox="1"/>
          <p:nvPr/>
        </p:nvSpPr>
        <p:spPr>
          <a:xfrm>
            <a:off x="9418320" y="31089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Brief description of this step.</a:t>
            </a:r>
            <a:endParaRPr lang="en-US" sz="1400" dirty="0"/>
          </a:p>
        </p:txBody>
      </p:sp>
      <p:sp>
        <p:nvSpPr>
          <p:cNvPr id="28" name="Setup band"/>
          <p:cNvSpPr/>
          <p:nvPr/>
        </p:nvSpPr>
        <p:spPr>
          <a:xfrm>
            <a:off x="640080" y="4617720"/>
            <a:ext cx="10881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9" name="Dataset and tools"/>
          <p:cNvSpPr txBox="1"/>
          <p:nvPr/>
        </p:nvSpPr>
        <p:spPr>
          <a:xfrm>
            <a:off x="1005840" y="47548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Dataset and Tools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Name the dataset, software and hardware used.</a:t>
            </a:r>
            <a:endParaRPr lang="en-US" sz="1600" dirty="0"/>
          </a:p>
        </p:txBody>
      </p:sp>
      <p:sp>
        <p:nvSpPr>
          <p:cNvPr id="30" name="Evaluation metrics"/>
          <p:cNvSpPr txBox="1"/>
          <p:nvPr/>
        </p:nvSpPr>
        <p:spPr>
          <a:xfrm>
            <a:off x="6400800" y="47548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Evaluation Metrics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List the metrics and validation protocol.</a:t>
            </a:r>
            <a:endParaRPr lang="en-US" sz="16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35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grpSp>
        <p:nvGrpSpPr>
          <p:cNvPr id="32" name="Group 31"/>
          <p:cNvGrpSpPr/>
          <p:nvPr/>
        </p:nvGrpSpPr>
        <p:grpSpPr>
          <a:xfrm>
            <a:off x="10578518" y="114300"/>
            <a:ext cx="1508760" cy="502920"/>
            <a:chOff x="10578518" y="114300"/>
            <a:chExt cx="1508760" cy="502920"/>
          </a:xfrm>
        </p:grpSpPr>
        <p:sp>
          <p:nvSpPr>
            <p:cNvPr id="33" name="Header conference tag"/>
            <p:cNvSpPr/>
            <p:nvPr/>
          </p:nvSpPr>
          <p:spPr>
            <a:xfrm>
              <a:off x="10578518" y="114300"/>
              <a:ext cx="1508760" cy="502920"/>
            </a:xfrm>
            <a:prstGeom prst="roundRect">
              <a:avLst>
                <a:gd name="adj" fmla="val 45455"/>
              </a:avLst>
            </a:prstGeom>
            <a:solidFill>
              <a:schemeClr val="tx2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 smtClean="0">
                  <a:solidFill>
                    <a:schemeClr val="bg1"/>
                  </a:solidFill>
                </a:rPr>
                <a:t>                CSDE </a:t>
              </a:r>
              <a:r>
                <a:rPr lang="en-US" sz="1300" b="1" dirty="0">
                  <a:solidFill>
                    <a:schemeClr val="bg1"/>
                  </a:solidFill>
                </a:rPr>
                <a:t>2026</a:t>
              </a:r>
              <a:endParaRPr lang="en-US" sz="1300" dirty="0"/>
            </a:p>
          </p:txBody>
        </p:sp>
        <p:pic>
          <p:nvPicPr>
            <p:cNvPr id="34" name="Picture 3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V="1">
              <a:off x="10714908" y="137160"/>
              <a:ext cx="457200" cy="457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text"/>
          <p:cNvSpPr txBox="1"/>
          <p:nvPr/>
        </p:nvSpPr>
        <p:spPr>
          <a:xfrm>
            <a:off x="640080" y="6355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IEEE CSDE 2026  |  1–3 November 2026  |  Cox’s Bazar, Bangladesh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Results Analysis and Discussion</a:t>
            </a:r>
            <a:endParaRPr lang="en-US" sz="3600" dirty="0"/>
          </a:p>
        </p:txBody>
      </p:sp>
      <p:sp>
        <p:nvSpPr>
          <p:cNvPr id="5" name="Chart card"/>
          <p:cNvSpPr/>
          <p:nvPr/>
        </p:nvSpPr>
        <p:spPr>
          <a:xfrm>
            <a:off x="640080" y="1554480"/>
            <a:ext cx="6675120" cy="452628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graphicFrame>
        <p:nvGraphicFramePr>
          <p:cNvPr id="6" name="Chart 0"/>
          <p:cNvGraphicFramePr/>
          <p:nvPr/>
        </p:nvGraphicFramePr>
        <p:xfrm>
          <a:off x="822960" y="1645920"/>
          <a:ext cx="630936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Key findings heading"/>
          <p:cNvSpPr txBox="1"/>
          <p:nvPr/>
        </p:nvSpPr>
        <p:spPr>
          <a:xfrm>
            <a:off x="7680960" y="15544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Key Findings</a:t>
            </a:r>
            <a:endParaRPr lang="en-US" sz="2000" dirty="0"/>
          </a:p>
        </p:txBody>
      </p:sp>
      <p:sp>
        <p:nvSpPr>
          <p:cNvPr id="8" name="Key findings text"/>
          <p:cNvSpPr txBox="1"/>
          <p:nvPr/>
        </p:nvSpPr>
        <p:spPr>
          <a:xfrm>
            <a:off x="7680960" y="201168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Main finding supported by the results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Comparison against baseline methods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Statistical significance or robustness</a:t>
            </a:r>
            <a:endParaRPr lang="en-US" sz="1600" dirty="0"/>
          </a:p>
        </p:txBody>
      </p:sp>
      <p:sp>
        <p:nvSpPr>
          <p:cNvPr id="9" name="Discussion heading"/>
          <p:cNvSpPr txBox="1"/>
          <p:nvPr/>
        </p:nvSpPr>
        <p:spPr>
          <a:xfrm>
            <a:off x="7680960" y="40233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Discussion</a:t>
            </a:r>
            <a:endParaRPr lang="en-US" sz="2000" dirty="0"/>
          </a:p>
        </p:txBody>
      </p:sp>
      <p:sp>
        <p:nvSpPr>
          <p:cNvPr id="10" name="Discussion text"/>
          <p:cNvSpPr txBox="1"/>
          <p:nvPr/>
        </p:nvSpPr>
        <p:spPr>
          <a:xfrm>
            <a:off x="7680960" y="448056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Interpretation and implications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Limitations of the study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35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0578518" y="114300"/>
            <a:ext cx="1508760" cy="502920"/>
            <a:chOff x="10578518" y="114300"/>
            <a:chExt cx="1508760" cy="502920"/>
          </a:xfrm>
        </p:grpSpPr>
        <p:sp>
          <p:nvSpPr>
            <p:cNvPr id="13" name="Header conference tag"/>
            <p:cNvSpPr/>
            <p:nvPr/>
          </p:nvSpPr>
          <p:spPr>
            <a:xfrm>
              <a:off x="10578518" y="114300"/>
              <a:ext cx="1508760" cy="502920"/>
            </a:xfrm>
            <a:prstGeom prst="roundRect">
              <a:avLst>
                <a:gd name="adj" fmla="val 45455"/>
              </a:avLst>
            </a:prstGeom>
            <a:solidFill>
              <a:schemeClr val="tx2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 smtClean="0">
                  <a:solidFill>
                    <a:schemeClr val="bg1"/>
                  </a:solidFill>
                </a:rPr>
                <a:t>                CSDE </a:t>
              </a:r>
              <a:r>
                <a:rPr lang="en-US" sz="1300" b="1" dirty="0">
                  <a:solidFill>
                    <a:schemeClr val="bg1"/>
                  </a:solidFill>
                </a:rPr>
                <a:t>2026</a:t>
              </a:r>
              <a:endParaRPr lang="en-US" sz="1300" dirty="0"/>
            </a:p>
          </p:txBody>
        </p:sp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V="1">
              <a:off x="10714908" y="137160"/>
              <a:ext cx="457200" cy="457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text"/>
          <p:cNvSpPr txBox="1"/>
          <p:nvPr/>
        </p:nvSpPr>
        <p:spPr>
          <a:xfrm>
            <a:off x="640080" y="6355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IEEE CSDE 2026  |  1–3 November 2026  |  Cox’s Bazar, Bangladesh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Conclusion and Future Work</a:t>
            </a:r>
            <a:endParaRPr lang="en-US" sz="3600" dirty="0"/>
          </a:p>
        </p:txBody>
      </p:sp>
      <p:sp>
        <p:nvSpPr>
          <p:cNvPr id="5" name="Conclusion card"/>
          <p:cNvSpPr/>
          <p:nvPr/>
        </p:nvSpPr>
        <p:spPr>
          <a:xfrm>
            <a:off x="640080" y="1600200"/>
            <a:ext cx="5257800" cy="38404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6" name="Conclusion circle"/>
          <p:cNvSpPr/>
          <p:nvPr/>
        </p:nvSpPr>
        <p:spPr>
          <a:xfrm>
            <a:off x="1005840" y="1920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Conclus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103120"/>
            <a:ext cx="365760" cy="365760"/>
          </a:xfrm>
          <a:prstGeom prst="rect">
            <a:avLst/>
          </a:prstGeom>
        </p:spPr>
      </p:pic>
      <p:sp>
        <p:nvSpPr>
          <p:cNvPr id="8" name="Conclusion heading"/>
          <p:cNvSpPr txBox="1"/>
          <p:nvPr/>
        </p:nvSpPr>
        <p:spPr>
          <a:xfrm>
            <a:off x="1920240" y="19202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Conclusion</a:t>
            </a:r>
            <a:endParaRPr lang="en-US" sz="2600" dirty="0"/>
          </a:p>
        </p:txBody>
      </p:sp>
      <p:sp>
        <p:nvSpPr>
          <p:cNvPr id="9" name="Conclusion text"/>
          <p:cNvSpPr txBox="1"/>
          <p:nvPr/>
        </p:nvSpPr>
        <p:spPr>
          <a:xfrm>
            <a:off x="1005840" y="292608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Summarise the main contribution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Highlight the key quantitative result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State the practical significance</a:t>
            </a:r>
            <a:endParaRPr lang="en-US" sz="1800" dirty="0"/>
          </a:p>
        </p:txBody>
      </p:sp>
      <p:sp>
        <p:nvSpPr>
          <p:cNvPr id="10" name="Future work card"/>
          <p:cNvSpPr/>
          <p:nvPr/>
        </p:nvSpPr>
        <p:spPr>
          <a:xfrm>
            <a:off x="6263640" y="1600200"/>
            <a:ext cx="5257800" cy="384048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/>
        </p:spPr>
      </p:sp>
      <p:sp>
        <p:nvSpPr>
          <p:cNvPr id="11" name="Future work circle"/>
          <p:cNvSpPr/>
          <p:nvPr/>
        </p:nvSpPr>
        <p:spPr>
          <a:xfrm>
            <a:off x="6629400" y="1920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Future wo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2103120"/>
            <a:ext cx="365760" cy="365760"/>
          </a:xfrm>
          <a:prstGeom prst="rect">
            <a:avLst/>
          </a:prstGeom>
        </p:spPr>
      </p:pic>
      <p:sp>
        <p:nvSpPr>
          <p:cNvPr id="13" name="Future work heading"/>
          <p:cNvSpPr txBox="1"/>
          <p:nvPr/>
        </p:nvSpPr>
        <p:spPr>
          <a:xfrm>
            <a:off x="7543800" y="19202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</a:rPr>
              <a:t>Future Work</a:t>
            </a:r>
            <a:endParaRPr lang="en-US" sz="2600" dirty="0"/>
          </a:p>
        </p:txBody>
      </p:sp>
      <p:sp>
        <p:nvSpPr>
          <p:cNvPr id="14" name="Future work text"/>
          <p:cNvSpPr txBox="1"/>
          <p:nvPr/>
        </p:nvSpPr>
        <p:spPr>
          <a:xfrm>
            <a:off x="6629400" y="292608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Extend to larger or different datasets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Address the limitations identified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Explore deployment or new applications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35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grpSp>
        <p:nvGrpSpPr>
          <p:cNvPr id="16" name="Group 15"/>
          <p:cNvGrpSpPr/>
          <p:nvPr/>
        </p:nvGrpSpPr>
        <p:grpSpPr>
          <a:xfrm>
            <a:off x="10578518" y="114300"/>
            <a:ext cx="1508760" cy="502920"/>
            <a:chOff x="10578518" y="114300"/>
            <a:chExt cx="1508760" cy="502920"/>
          </a:xfrm>
        </p:grpSpPr>
        <p:sp>
          <p:nvSpPr>
            <p:cNvPr id="17" name="Header conference tag"/>
            <p:cNvSpPr/>
            <p:nvPr/>
          </p:nvSpPr>
          <p:spPr>
            <a:xfrm>
              <a:off x="10578518" y="114300"/>
              <a:ext cx="1508760" cy="502920"/>
            </a:xfrm>
            <a:prstGeom prst="roundRect">
              <a:avLst>
                <a:gd name="adj" fmla="val 45455"/>
              </a:avLst>
            </a:prstGeom>
            <a:solidFill>
              <a:schemeClr val="tx2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 smtClean="0">
                  <a:solidFill>
                    <a:schemeClr val="bg1"/>
                  </a:solidFill>
                </a:rPr>
                <a:t>                CSDE </a:t>
              </a:r>
              <a:r>
                <a:rPr lang="en-US" sz="1300" b="1" dirty="0">
                  <a:solidFill>
                    <a:schemeClr val="bg1"/>
                  </a:solidFill>
                </a:rPr>
                <a:t>2026</a:t>
              </a:r>
              <a:endParaRPr lang="en-US" sz="1300" dirty="0"/>
            </a:p>
          </p:txBody>
        </p:sp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V="1">
              <a:off x="10714908" y="137160"/>
              <a:ext cx="457200" cy="457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text"/>
          <p:cNvSpPr txBox="1"/>
          <p:nvPr/>
        </p:nvSpPr>
        <p:spPr>
          <a:xfrm>
            <a:off x="640080" y="6355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IEEE CSDE 2026  |  1–3 November 2026  |  Cox’s Bazar, Bangladesh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References</a:t>
            </a:r>
            <a:endParaRPr lang="en-US" sz="3600" dirty="0"/>
          </a:p>
        </p:txBody>
      </p:sp>
      <p:sp>
        <p:nvSpPr>
          <p:cNvPr id="5" name="References card"/>
          <p:cNvSpPr/>
          <p:nvPr/>
        </p:nvSpPr>
        <p:spPr>
          <a:xfrm>
            <a:off x="640080" y="1600200"/>
            <a:ext cx="10881360" cy="393192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6" name="Reference list"/>
          <p:cNvSpPr txBox="1"/>
          <p:nvPr/>
        </p:nvSpPr>
        <p:spPr>
          <a:xfrm>
            <a:off x="1005840" y="1874520"/>
            <a:ext cx="10149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[1] A. Author, B. Author, and C. Author, “Title of the paper,” Journal Name, vol. X, no. X, pp. XX–XX, Year.</a:t>
            </a:r>
            <a:endParaRPr lang="en-US" sz="16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[2] D. Author and E. Author, “Title of the conference paper,” in Proc. IEEE Conf. Name, City, Country, Year, pp. XX–XX.</a:t>
            </a:r>
            <a:endParaRPr lang="en-US" sz="16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[3] F. Author, Title of the Book, Edition. City, Country: Publisher, Year.</a:t>
            </a:r>
            <a:endParaRPr lang="en-US" sz="16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[4] G. Author, “Title of the paper,” IEEE Trans. Name, vol. X, no. X, pp. XX–XX, Year.</a:t>
            </a:r>
            <a:endParaRPr lang="en-US" sz="16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[5] H. Author, “Title of the online source,” Website. URL (accessed Month DD, Year).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35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0578518" y="114300"/>
            <a:ext cx="1508760" cy="502920"/>
            <a:chOff x="10578518" y="114300"/>
            <a:chExt cx="1508760" cy="502920"/>
          </a:xfrm>
        </p:grpSpPr>
        <p:sp>
          <p:nvSpPr>
            <p:cNvPr id="9" name="Header conference tag"/>
            <p:cNvSpPr/>
            <p:nvPr/>
          </p:nvSpPr>
          <p:spPr>
            <a:xfrm>
              <a:off x="10578518" y="114300"/>
              <a:ext cx="1508760" cy="502920"/>
            </a:xfrm>
            <a:prstGeom prst="roundRect">
              <a:avLst>
                <a:gd name="adj" fmla="val 45455"/>
              </a:avLst>
            </a:prstGeom>
            <a:solidFill>
              <a:schemeClr val="tx2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 smtClean="0">
                  <a:solidFill>
                    <a:schemeClr val="bg1"/>
                  </a:solidFill>
                </a:rPr>
                <a:t>                CSDE </a:t>
              </a:r>
              <a:r>
                <a:rPr lang="en-US" sz="1300" b="1" dirty="0">
                  <a:solidFill>
                    <a:schemeClr val="bg1"/>
                  </a:solidFill>
                </a:rPr>
                <a:t>2026</a:t>
              </a:r>
              <a:endParaRPr lang="en-US" sz="1300" dirty="0"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V="1">
              <a:off x="10714908" y="137160"/>
              <a:ext cx="457200" cy="457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tx1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ference logo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" y="502920"/>
            <a:ext cx="1371600" cy="1371600"/>
          </a:xfrm>
          <a:prstGeom prst="rect">
            <a:avLst/>
          </a:prstGeom>
        </p:spPr>
      </p:pic>
      <p:pic>
        <p:nvPicPr>
          <p:cNvPr id="3" name="Date icon" descr="Calendar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961888"/>
            <a:ext cx="292608" cy="292608"/>
          </a:xfrm>
          <a:prstGeom prst="rect">
            <a:avLst/>
          </a:prstGeom>
        </p:spPr>
      </p:pic>
      <p:sp>
        <p:nvSpPr>
          <p:cNvPr id="4" name="Conference date"/>
          <p:cNvSpPr txBox="1"/>
          <p:nvPr/>
        </p:nvSpPr>
        <p:spPr>
          <a:xfrm>
            <a:off x="1051560" y="589788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</a:rPr>
              <a:t>1–3 November 2026</a:t>
            </a:r>
            <a:endParaRPr lang="en-US" sz="18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5" name="Venue icon" descr="Location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5961888"/>
            <a:ext cx="292608" cy="292608"/>
          </a:xfrm>
          <a:prstGeom prst="rect">
            <a:avLst/>
          </a:prstGeom>
        </p:spPr>
      </p:pic>
      <p:sp>
        <p:nvSpPr>
          <p:cNvPr id="6" name="Conference venue"/>
          <p:cNvSpPr txBox="1"/>
          <p:nvPr/>
        </p:nvSpPr>
        <p:spPr>
          <a:xfrm>
            <a:off x="4983480" y="589788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</a:rPr>
              <a:t>Cox’s Bazar, Bangladesh</a:t>
            </a:r>
            <a:endParaRPr lang="en-US" sz="18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24028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chemeClr val="tx1"/>
                </a:solidFill>
              </a:rPr>
              <a:t>Thank You</a:t>
            </a:r>
            <a:endParaRPr lang="en-US" sz="6000" dirty="0">
              <a:solidFill>
                <a:schemeClr val="tx1"/>
              </a:solidFill>
            </a:endParaRPr>
          </a:p>
        </p:txBody>
      </p:sp>
      <p:sp>
        <p:nvSpPr>
          <p:cNvPr id="8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6118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accent2"/>
                </a:solidFill>
              </a:rPr>
              <a:t>Questions &amp; Discussion</a:t>
            </a:r>
            <a:endParaRPr lang="en-US" sz="2600" dirty="0">
              <a:solidFill>
                <a:schemeClr val="accent2"/>
              </a:solidFill>
            </a:endParaRPr>
          </a:p>
        </p:txBody>
      </p:sp>
      <p:sp>
        <p:nvSpPr>
          <p:cNvPr id="9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4343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chemeClr val="tx1"/>
                </a:solidFill>
              </a:rPr>
              <a:t>author@email.com  |  Paper ID: XXXX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DE 2026">
  <a:themeElements>
    <a:clrScheme name="CSDE 2026">
      <a:dk1>
        <a:srgbClr val="1A2433"/>
      </a:dk1>
      <a:lt1>
        <a:srgbClr val="FFFFFF"/>
      </a:lt1>
      <a:dk2>
        <a:srgbClr val="0B2545"/>
      </a:dk2>
      <a:lt2>
        <a:srgbClr val="EAF0F7"/>
      </a:lt2>
      <a:accent1>
        <a:srgbClr val="F2A900"/>
      </a:accent1>
      <a:accent2>
        <a:srgbClr val="1C7293"/>
      </a:accent2>
      <a:accent3>
        <a:srgbClr val="3E7CB1"/>
      </a:accent3>
      <a:accent4>
        <a:srgbClr val="8DA9C4"/>
      </a:accent4>
      <a:accent5>
        <a:srgbClr val="D1495B"/>
      </a:accent5>
      <a:accent6>
        <a:srgbClr val="5C6B7A"/>
      </a:accent6>
      <a:hlink>
        <a:srgbClr val="1C7293"/>
      </a:hlink>
      <a:folHlink>
        <a:srgbClr val="5C6B7A"/>
      </a:folHlink>
    </a:clrScheme>
    <a:fontScheme name="CSDE 2026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587</Words>
  <Application>Microsoft Office PowerPoint</Application>
  <PresentationFormat>Widescreen</PresentationFormat>
  <Paragraphs>118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CSDE 2026</vt:lpstr>
      <vt:lpstr>Paper Title Goes Here</vt:lpstr>
      <vt:lpstr>Agenda / Outline</vt:lpstr>
      <vt:lpstr>Introduction</vt:lpstr>
      <vt:lpstr>Research Objectives</vt:lpstr>
      <vt:lpstr>Methodology</vt:lpstr>
      <vt:lpstr>Results Analysis and Discussion</vt:lpstr>
      <vt:lpstr>Conclusion and Future Work</vt:lpstr>
      <vt:lpstr>References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CSDE 2026 Presentation Template</dc:title>
  <dc:subject>PptxGenJS Presentation</dc:subject>
  <dc:creator>PptxGenJS</dc:creator>
  <cp:lastModifiedBy>Jahid Tanvir</cp:lastModifiedBy>
  <cp:revision>2</cp:revision>
  <dcterms:created xsi:type="dcterms:W3CDTF">2026-10-12T06:22:03Z</dcterms:created>
  <dcterms:modified xsi:type="dcterms:W3CDTF">2026-10-12T06:26:33Z</dcterms:modified>
</cp:coreProperties>
</file>